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x="18288000" cy="10287000"/>
  <p:notesSz cx="6858000" cy="9144000"/>
  <p:embeddedFontLst>
    <p:embeddedFont>
      <p:font typeface="Times New Roman Condensed" charset="1" panose="02030506070405020303"/>
      <p:regular r:id="rId29"/>
    </p:embeddedFont>
    <p:embeddedFont>
      <p:font typeface="Gotham" charset="1" panose="00000000000000000000"/>
      <p:regular r:id="rId30"/>
    </p:embeddedFont>
    <p:embeddedFont>
      <p:font typeface="Gotham Bold" charset="1" panose="00000000000000000000"/>
      <p:regular r:id="rId31"/>
    </p:embeddedFont>
    <p:embeddedFont>
      <p:font typeface="Gotham Italics" charset="1" panose="00000000000000000000"/>
      <p:regular r:id="rId32"/>
    </p:embeddedFont>
    <p:embeddedFont>
      <p:font typeface="Gotham Bold Italics" charset="1" panose="02000000000000000000"/>
      <p:regular r:id="rId33"/>
    </p:embeddedFont>
    <p:embeddedFont>
      <p:font typeface="Times New Roman Condensed Italics" charset="1" panose="02030506070405090303"/>
      <p:regular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Relationship Id="rId6" Target="../media/image10.png" Type="http://schemas.openxmlformats.org/officeDocument/2006/relationships/image"/><Relationship Id="rId7" Target="../media/image11.png" Type="http://schemas.openxmlformats.org/officeDocument/2006/relationships/image"/><Relationship Id="rId8" Target="../media/image3.png" Type="http://schemas.openxmlformats.org/officeDocument/2006/relationships/image"/><Relationship Id="rId9" Target="../media/image4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664336" y="-2377820"/>
            <a:ext cx="19285436" cy="15042640"/>
          </a:xfrm>
          <a:custGeom>
            <a:avLst/>
            <a:gdLst/>
            <a:ahLst/>
            <a:cxnLst/>
            <a:rect r="r" b="b" t="t" l="l"/>
            <a:pathLst>
              <a:path h="15042640" w="19285436">
                <a:moveTo>
                  <a:pt x="0" y="0"/>
                </a:moveTo>
                <a:lnTo>
                  <a:pt x="19285437" y="0"/>
                </a:lnTo>
                <a:lnTo>
                  <a:pt x="19285437" y="15042640"/>
                </a:lnTo>
                <a:lnTo>
                  <a:pt x="0" y="150426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89338" y="2557486"/>
            <a:ext cx="14136634" cy="2586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22"/>
              </a:lnSpc>
            </a:pPr>
            <a:r>
              <a:rPr lang="en-US" sz="19403" spc="-737">
                <a:solidFill>
                  <a:srgbClr val="0E4714"/>
                </a:solidFill>
                <a:latin typeface="Times New Roman Condensed"/>
                <a:ea typeface="Times New Roman Condensed"/>
                <a:cs typeface="Times New Roman Condensed"/>
                <a:sym typeface="Times New Roman Condensed"/>
              </a:rPr>
              <a:t>CREDGE AI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89338" y="5133975"/>
            <a:ext cx="12206114" cy="1266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800" spc="-42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An End-to-End Multi Agent AI System for Personal </a:t>
            </a:r>
            <a:r>
              <a:rPr lang="en-US" sz="2800" spc="-42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Finance: Synthetic Data Generation, Budget Optimization, and Investment Advisory</a:t>
            </a:r>
          </a:p>
          <a:p>
            <a:pPr algn="l">
              <a:lnSpc>
                <a:spcPts val="3360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529880" y="1777223"/>
            <a:ext cx="718917" cy="669492"/>
          </a:xfrm>
          <a:custGeom>
            <a:avLst/>
            <a:gdLst/>
            <a:ahLst/>
            <a:cxnLst/>
            <a:rect r="r" b="b" t="t" l="l"/>
            <a:pathLst>
              <a:path h="669492" w="718917">
                <a:moveTo>
                  <a:pt x="0" y="0"/>
                </a:moveTo>
                <a:lnTo>
                  <a:pt x="718917" y="0"/>
                </a:lnTo>
                <a:lnTo>
                  <a:pt x="718917" y="669492"/>
                </a:lnTo>
                <a:lnTo>
                  <a:pt x="0" y="6694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89338" y="7142998"/>
            <a:ext cx="2427908" cy="2369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13"/>
              </a:lnSpc>
              <a:spcBef>
                <a:spcPct val="0"/>
              </a:spcBef>
            </a:pPr>
            <a:r>
              <a:rPr lang="en-US" b="true" sz="2724">
                <a:solidFill>
                  <a:srgbClr val="0E4714"/>
                </a:solidFill>
                <a:latin typeface="Gotham Bold"/>
                <a:ea typeface="Gotham Bold"/>
                <a:cs typeface="Gotham Bold"/>
                <a:sym typeface="Gotham Bold"/>
              </a:rPr>
              <a:t>Presented By:</a:t>
            </a:r>
          </a:p>
          <a:p>
            <a:pPr algn="l">
              <a:lnSpc>
                <a:spcPts val="3813"/>
              </a:lnSpc>
              <a:spcBef>
                <a:spcPct val="0"/>
              </a:spcBef>
            </a:pPr>
            <a:r>
              <a:rPr lang="en-US" sz="2724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Aman Jaglan</a:t>
            </a:r>
          </a:p>
          <a:p>
            <a:pPr algn="l">
              <a:lnSpc>
                <a:spcPts val="3813"/>
              </a:lnSpc>
              <a:spcBef>
                <a:spcPct val="0"/>
              </a:spcBef>
            </a:pPr>
            <a:r>
              <a:rPr lang="en-US" sz="2724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Nemi Makadia</a:t>
            </a:r>
          </a:p>
          <a:p>
            <a:pPr algn="l">
              <a:lnSpc>
                <a:spcPts val="3813"/>
              </a:lnSpc>
              <a:spcBef>
                <a:spcPct val="0"/>
              </a:spcBef>
            </a:pPr>
            <a:r>
              <a:rPr lang="en-US" sz="2724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Smit Pancholi</a:t>
            </a:r>
          </a:p>
          <a:p>
            <a:pPr algn="l">
              <a:lnSpc>
                <a:spcPts val="3813"/>
              </a:lnSpc>
              <a:spcBef>
                <a:spcPct val="0"/>
              </a:spcBef>
            </a:pPr>
            <a:r>
              <a:rPr lang="en-US" sz="2724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Yash Doshi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80682" y="1684278"/>
            <a:ext cx="10268669" cy="3140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799" spc="-53" b="true">
                <a:solidFill>
                  <a:srgbClr val="0E4714"/>
                </a:solidFill>
                <a:latin typeface="Gotham Bold"/>
                <a:ea typeface="Gotham Bold"/>
                <a:cs typeface="Gotham Bold"/>
                <a:sym typeface="Gotham Bold"/>
              </a:rPr>
              <a:t>Problem</a:t>
            </a:r>
          </a:p>
          <a:p>
            <a:pPr algn="l" marL="604519" indent="-302260" lvl="1">
              <a:lnSpc>
                <a:spcPts val="3079"/>
              </a:lnSpc>
              <a:buFont typeface="Arial"/>
              <a:buChar char="•"/>
            </a:pPr>
            <a:r>
              <a:rPr lang="en-US" sz="2799" spc="-53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Managing personal finances is complex and sensitive. Real transaction data are scarce due to privacy, making it hard to train models​. </a:t>
            </a:r>
          </a:p>
          <a:p>
            <a:pPr algn="l" marL="604519" indent="-302260" lvl="1">
              <a:lnSpc>
                <a:spcPts val="3079"/>
              </a:lnSpc>
              <a:buFont typeface="Arial"/>
              <a:buChar char="•"/>
            </a:pPr>
            <a:r>
              <a:rPr lang="en-US" sz="2799" spc="-53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At the same time, individuals need smarter tools to understand spending and investments, beyond basic rules or siloed apps.</a:t>
            </a:r>
          </a:p>
          <a:p>
            <a:pPr algn="l">
              <a:lnSpc>
                <a:spcPts val="3079"/>
              </a:lnSpc>
            </a:pP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703642" y="-513273"/>
            <a:ext cx="28550447" cy="11313545"/>
          </a:xfrm>
          <a:custGeom>
            <a:avLst/>
            <a:gdLst/>
            <a:ahLst/>
            <a:cxnLst/>
            <a:rect r="r" b="b" t="t" l="l"/>
            <a:pathLst>
              <a:path h="11313545" w="28550447">
                <a:moveTo>
                  <a:pt x="0" y="0"/>
                </a:moveTo>
                <a:lnTo>
                  <a:pt x="28550447" y="0"/>
                </a:lnTo>
                <a:lnTo>
                  <a:pt x="28550447" y="11313546"/>
                </a:lnTo>
                <a:lnTo>
                  <a:pt x="0" y="113135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9969" r="0" b="-59256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755612" y="462048"/>
            <a:ext cx="3759405" cy="566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42"/>
              </a:lnSpc>
            </a:pPr>
            <a:r>
              <a:rPr lang="en-US" sz="3785" b="true">
                <a:solidFill>
                  <a:srgbClr val="0E4714"/>
                </a:solidFill>
                <a:latin typeface="Gotham Bold"/>
                <a:ea typeface="Gotham Bold"/>
                <a:cs typeface="Gotham Bold"/>
                <a:sym typeface="Gotham Bold"/>
              </a:rPr>
              <a:t>Credge AI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380682" y="181181"/>
            <a:ext cx="1296035" cy="1206933"/>
          </a:xfrm>
          <a:custGeom>
            <a:avLst/>
            <a:gdLst/>
            <a:ahLst/>
            <a:cxnLst/>
            <a:rect r="r" b="b" t="t" l="l"/>
            <a:pathLst>
              <a:path h="1206933" w="1296035">
                <a:moveTo>
                  <a:pt x="0" y="0"/>
                </a:moveTo>
                <a:lnTo>
                  <a:pt x="1296036" y="0"/>
                </a:lnTo>
                <a:lnTo>
                  <a:pt x="1296036" y="1206933"/>
                </a:lnTo>
                <a:lnTo>
                  <a:pt x="0" y="12069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80682" y="5344703"/>
            <a:ext cx="10268669" cy="3531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799" spc="-53" b="true">
                <a:solidFill>
                  <a:srgbClr val="0E4714"/>
                </a:solidFill>
                <a:latin typeface="Gotham Bold"/>
                <a:ea typeface="Gotham Bold"/>
                <a:cs typeface="Gotham Bold"/>
                <a:sym typeface="Gotham Bold"/>
              </a:rPr>
              <a:t>Solution Overview</a:t>
            </a:r>
          </a:p>
          <a:p>
            <a:pPr algn="l" marL="604519" indent="-302260" lvl="1">
              <a:lnSpc>
                <a:spcPts val="3079"/>
              </a:lnSpc>
              <a:buFont typeface="Arial"/>
              <a:buChar char="•"/>
            </a:pPr>
            <a:r>
              <a:rPr lang="en-US" sz="2799" spc="-53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This project proposes an integrated AI-driven personal finance system spanning Synthetic Data Generation, Budget Classification &amp; Optimization, and an LLM-Powered Investment Advisor​. </a:t>
            </a:r>
          </a:p>
          <a:p>
            <a:pPr algn="l" marL="604519" indent="-302260" lvl="1">
              <a:lnSpc>
                <a:spcPts val="3079"/>
              </a:lnSpc>
              <a:buFont typeface="Arial"/>
              <a:buChar char="•"/>
            </a:pPr>
            <a:r>
              <a:rPr lang="en-US" sz="2799" spc="-53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T</a:t>
            </a:r>
            <a:r>
              <a:rPr lang="en-US" sz="2799" spc="-53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he goal is to bridge data gaps and provide a seamless, AI-enhanced budgeting and investment guidance platform.</a:t>
            </a:r>
          </a:p>
          <a:p>
            <a:pPr algn="l">
              <a:lnSpc>
                <a:spcPts val="3079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08219" y="-513273"/>
            <a:ext cx="28550447" cy="11313545"/>
          </a:xfrm>
          <a:custGeom>
            <a:avLst/>
            <a:gdLst/>
            <a:ahLst/>
            <a:cxnLst/>
            <a:rect r="r" b="b" t="t" l="l"/>
            <a:pathLst>
              <a:path h="11313545" w="28550447">
                <a:moveTo>
                  <a:pt x="0" y="0"/>
                </a:moveTo>
                <a:lnTo>
                  <a:pt x="28550447" y="0"/>
                </a:lnTo>
                <a:lnTo>
                  <a:pt x="28550447" y="11313546"/>
                </a:lnTo>
                <a:lnTo>
                  <a:pt x="0" y="113135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9969" r="0" b="-5925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87741" y="1395851"/>
            <a:ext cx="11269282" cy="2196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42"/>
              </a:lnSpc>
            </a:pPr>
            <a:r>
              <a:rPr lang="en-US" sz="8784" spc="-219">
                <a:solidFill>
                  <a:srgbClr val="0E4714"/>
                </a:solidFill>
                <a:latin typeface="Times New Roman Condensed"/>
                <a:ea typeface="Times New Roman Condensed"/>
                <a:cs typeface="Times New Roman Condensed"/>
                <a:sym typeface="Times New Roman Condensed"/>
              </a:rPr>
              <a:t>MOTIVATION &amp; GOALS</a:t>
            </a:r>
          </a:p>
          <a:p>
            <a:pPr algn="l">
              <a:lnSpc>
                <a:spcPts val="7642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903807"/>
            <a:ext cx="11269282" cy="5201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6030" indent="-218015" lvl="1">
              <a:lnSpc>
                <a:spcPts val="3776"/>
              </a:lnSpc>
              <a:buFont typeface="Arial"/>
              <a:buChar char="•"/>
            </a:pPr>
            <a:r>
              <a:rPr lang="en-US" sz="2019" spc="-30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Privacy-Preserving Data: Need realistic synt</a:t>
            </a:r>
            <a:r>
              <a:rPr lang="en-US" sz="2019" spc="-30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hetic financial data to develop models without exposing personal info.</a:t>
            </a:r>
          </a:p>
          <a:p>
            <a:pPr algn="l">
              <a:lnSpc>
                <a:spcPts val="3776"/>
              </a:lnSpc>
            </a:pPr>
          </a:p>
          <a:p>
            <a:pPr algn="l" marL="436030" indent="-218015" lvl="1">
              <a:lnSpc>
                <a:spcPts val="3776"/>
              </a:lnSpc>
              <a:buFont typeface="Arial"/>
              <a:buChar char="•"/>
            </a:pPr>
            <a:r>
              <a:rPr lang="en-US" sz="2019" spc="-30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Smart Budgeting: Improve on generic guidelines by providing personalized, AI-driven s</a:t>
            </a:r>
            <a:r>
              <a:rPr lang="en-US" sz="2019" spc="-30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pending adjustments.</a:t>
            </a:r>
          </a:p>
          <a:p>
            <a:pPr algn="l">
              <a:lnSpc>
                <a:spcPts val="3776"/>
              </a:lnSpc>
            </a:pPr>
          </a:p>
          <a:p>
            <a:pPr algn="l" marL="436030" indent="-218015" lvl="1">
              <a:lnSpc>
                <a:spcPts val="3776"/>
              </a:lnSpc>
              <a:buFont typeface="Arial"/>
              <a:buChar char="•"/>
            </a:pPr>
            <a:r>
              <a:rPr lang="en-US" sz="2019" spc="-30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Informed Investing: Help users make investment decis</a:t>
            </a:r>
            <a:r>
              <a:rPr lang="en-US" sz="2019" spc="-30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ions by analyzing holistic signals (market sentiment, fundamentals, etc.).</a:t>
            </a:r>
          </a:p>
          <a:p>
            <a:pPr algn="l">
              <a:lnSpc>
                <a:spcPts val="3776"/>
              </a:lnSpc>
            </a:pPr>
          </a:p>
          <a:p>
            <a:pPr algn="l" marL="436030" indent="-218015" lvl="1">
              <a:lnSpc>
                <a:spcPts val="3776"/>
              </a:lnSpc>
              <a:buFont typeface="Arial"/>
              <a:buChar char="•"/>
            </a:pPr>
            <a:r>
              <a:rPr lang="en-US" sz="2019" spc="-30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Goal: Boost financial literacy and decision-making through an end-to-end system that guides from budgeting to investing.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380682" y="1239783"/>
            <a:ext cx="1096459" cy="1021077"/>
          </a:xfrm>
          <a:custGeom>
            <a:avLst/>
            <a:gdLst/>
            <a:ahLst/>
            <a:cxnLst/>
            <a:rect r="r" b="b" t="t" l="l"/>
            <a:pathLst>
              <a:path h="1021077" w="1096459">
                <a:moveTo>
                  <a:pt x="0" y="0"/>
                </a:moveTo>
                <a:lnTo>
                  <a:pt x="1096459" y="0"/>
                </a:lnTo>
                <a:lnTo>
                  <a:pt x="1096459" y="1021077"/>
                </a:lnTo>
                <a:lnTo>
                  <a:pt x="0" y="102107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80822" y="1782091"/>
            <a:ext cx="10386396" cy="6265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sz="2799" spc="-41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Generates realistic transactions to mimic personal finance data (no real user data needed).</a:t>
            </a:r>
          </a:p>
          <a:p>
            <a:pPr algn="l">
              <a:lnSpc>
                <a:spcPts val="4199"/>
              </a:lnSpc>
            </a:pPr>
          </a:p>
          <a:p>
            <a:pPr algn="l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sz="2799" spc="-41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Five-stage pipeline (statistical, rule-based, GAN, LLM) to progressively enhance data realism.</a:t>
            </a:r>
          </a:p>
          <a:p>
            <a:pPr algn="l">
              <a:lnSpc>
                <a:spcPts val="4199"/>
              </a:lnSpc>
            </a:pPr>
          </a:p>
          <a:p>
            <a:pPr algn="l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sz="2799" spc="-41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Privacy &amp; Utility: Synthetic dataset reflects real-world spending patterns while preserving privacy.</a:t>
            </a:r>
          </a:p>
          <a:p>
            <a:pPr algn="l">
              <a:lnSpc>
                <a:spcPts val="4199"/>
              </a:lnSpc>
            </a:pPr>
          </a:p>
          <a:p>
            <a:pPr algn="l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sz="2799" spc="-41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Provides training data for downstream modules (classification &amp; advisor) in absence of real data.</a:t>
            </a:r>
          </a:p>
          <a:p>
            <a:pPr algn="l">
              <a:lnSpc>
                <a:spcPts val="4199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1888932" y="623170"/>
            <a:ext cx="13896012" cy="2195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38"/>
              </a:lnSpc>
            </a:pPr>
            <a:r>
              <a:rPr lang="en-US" sz="6826" spc="-170">
                <a:solidFill>
                  <a:srgbClr val="0E4714"/>
                </a:solidFill>
                <a:latin typeface="Times New Roman Condensed"/>
                <a:ea typeface="Times New Roman Condensed"/>
                <a:cs typeface="Times New Roman Condensed"/>
                <a:sym typeface="Times New Roman Condensed"/>
              </a:rPr>
              <a:t>SYNTHETIC DATA GENERATOR</a:t>
            </a:r>
          </a:p>
          <a:p>
            <a:pPr algn="l">
              <a:lnSpc>
                <a:spcPts val="9123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true" flipV="false" rot="0">
            <a:off x="9550459" y="-214080"/>
            <a:ext cx="28550447" cy="11313545"/>
          </a:xfrm>
          <a:custGeom>
            <a:avLst/>
            <a:gdLst/>
            <a:ahLst/>
            <a:cxnLst/>
            <a:rect r="r" b="b" t="t" l="l"/>
            <a:pathLst>
              <a:path h="11313545" w="28550447">
                <a:moveTo>
                  <a:pt x="28550447" y="0"/>
                </a:moveTo>
                <a:lnTo>
                  <a:pt x="0" y="0"/>
                </a:lnTo>
                <a:lnTo>
                  <a:pt x="0" y="11313545"/>
                </a:lnTo>
                <a:lnTo>
                  <a:pt x="28550447" y="11313545"/>
                </a:lnTo>
                <a:lnTo>
                  <a:pt x="2855044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9969" r="0" b="-59256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22526" y="546970"/>
            <a:ext cx="1012349" cy="942750"/>
          </a:xfrm>
          <a:custGeom>
            <a:avLst/>
            <a:gdLst/>
            <a:ahLst/>
            <a:cxnLst/>
            <a:rect r="r" b="b" t="t" l="l"/>
            <a:pathLst>
              <a:path h="942750" w="1012349">
                <a:moveTo>
                  <a:pt x="0" y="0"/>
                </a:moveTo>
                <a:lnTo>
                  <a:pt x="1012348" y="0"/>
                </a:lnTo>
                <a:lnTo>
                  <a:pt x="1012348" y="942750"/>
                </a:lnTo>
                <a:lnTo>
                  <a:pt x="0" y="9427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210852" y="-1063244"/>
            <a:ext cx="8434028" cy="6114306"/>
          </a:xfrm>
          <a:custGeom>
            <a:avLst/>
            <a:gdLst/>
            <a:ahLst/>
            <a:cxnLst/>
            <a:rect r="r" b="b" t="t" l="l"/>
            <a:pathLst>
              <a:path h="6114306" w="8434028">
                <a:moveTo>
                  <a:pt x="0" y="0"/>
                </a:moveTo>
                <a:lnTo>
                  <a:pt x="8434028" y="0"/>
                </a:lnTo>
                <a:lnTo>
                  <a:pt x="8434028" y="6114305"/>
                </a:lnTo>
                <a:lnTo>
                  <a:pt x="0" y="61143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93483" r="-128662" b="-5254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53236" y="561382"/>
            <a:ext cx="16537935" cy="790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46"/>
              </a:lnSpc>
            </a:pPr>
            <a:r>
              <a:rPr lang="en-US" sz="5685" spc="-142">
                <a:solidFill>
                  <a:srgbClr val="0E4714"/>
                </a:solidFill>
                <a:latin typeface="Times New Roman Condensed"/>
                <a:ea typeface="Times New Roman Condensed"/>
                <a:cs typeface="Times New Roman Condensed"/>
                <a:sym typeface="Times New Roman Condensed"/>
              </a:rPr>
              <a:t>SYNTHETIC DATA GENERATOR – MULTI-STAGE PROCESS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5905" y="1908183"/>
            <a:ext cx="18202095" cy="6789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2799" spc="-41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Stage 1: Bayesian Demographics – Sample synthetic h</a:t>
            </a:r>
            <a:r>
              <a:rPr lang="en-US" sz="2799" spc="-41" strike="noStrike" u="none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ou</a:t>
            </a:r>
            <a:r>
              <a:rPr lang="en-US" sz="2799" spc="-41" strike="noStrike" u="none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seholds f</a:t>
            </a:r>
            <a:r>
              <a:rPr lang="en-US" sz="2799" spc="-41" strike="noStrike" u="none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r</a:t>
            </a:r>
            <a:r>
              <a:rPr lang="en-US" sz="2799" spc="-41" strike="noStrike" u="none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om census stats.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</a:p>
          <a:p>
            <a:pPr algn="l" marL="604519" indent="-302260" lvl="1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2799" spc="-41" strike="noStrike" u="none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St</a:t>
            </a:r>
            <a:r>
              <a:rPr lang="en-US" sz="2799" spc="-41" strike="noStrike" u="none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ag</a:t>
            </a:r>
            <a:r>
              <a:rPr lang="en-US" sz="2799" spc="-41" strike="noStrike" u="none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e 2: Rule-Based Simulation – Simulate each household’s t</a:t>
            </a:r>
            <a:r>
              <a:rPr lang="en-US" sz="2799" spc="-41" strike="noStrike" u="none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ra</a:t>
            </a:r>
            <a:r>
              <a:rPr lang="en-US" sz="2799" spc="-41" strike="noStrike" u="none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nsactions (allocate monthly budget to categories, generate </a:t>
            </a:r>
            <a:r>
              <a:rPr lang="en-US" sz="2799" spc="-41" strike="noStrike" u="none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p</a:t>
            </a:r>
            <a:r>
              <a:rPr lang="en-US" sz="2799" spc="-41" strike="noStrike" u="none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urc</a:t>
            </a:r>
            <a:r>
              <a:rPr lang="en-US" sz="2799" spc="-41" strike="noStrike" u="none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h</a:t>
            </a:r>
            <a:r>
              <a:rPr lang="en-US" sz="2799" spc="-41" strike="noStrike" u="none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ases</a:t>
            </a:r>
            <a:r>
              <a:rPr lang="en-US" sz="2799" spc="-41" strike="noStrike" u="none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2799" spc="-41" strike="noStrike" u="none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wi</a:t>
            </a:r>
            <a:r>
              <a:rPr lang="en-US" sz="2799" spc="-41" strike="noStrike" u="none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t</a:t>
            </a:r>
            <a:r>
              <a:rPr lang="en-US" sz="2799" spc="-41" strike="noStrike" u="none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h plausible timing and merchants).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</a:p>
          <a:p>
            <a:pPr algn="l" marL="604519" indent="-302260" lvl="1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2799" spc="-41" strike="noStrike" u="none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Stage 3: GAN Refinement – Apply a Conditional Tabular GAN (CTGAN) to learn compl</a:t>
            </a:r>
            <a:r>
              <a:rPr lang="en-US" sz="2799" spc="-41" strike="noStrike" u="none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ex</a:t>
            </a:r>
            <a:r>
              <a:rPr lang="en-US" sz="2799" spc="-41" strike="noStrike" u="none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 patterns from S</a:t>
            </a:r>
            <a:r>
              <a:rPr lang="en-US" sz="2799" spc="-41" strike="noStrike" u="none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t</a:t>
            </a:r>
            <a:r>
              <a:rPr lang="en-US" sz="2799" spc="-41" strike="noStrike" u="none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age 2 data (captures correlations like spending habits).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</a:p>
          <a:p>
            <a:pPr algn="l" marL="604519" indent="-302260" lvl="1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2799" spc="-41" strike="noStrike" u="none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Stage 4: LLM Enrichment – Use a language model to validate and enrich transactions (e.g. ensure merchant names and descriptions make sense, correct anomalies).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</a:p>
          <a:p>
            <a:pPr algn="l" marL="604519" indent="-302260" lvl="1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2799" spc="-41" strike="noStrike" u="none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Stage 5: Iterative Feedback Loop – Repeat GAN training with LLM-validated data for 2–3 cycles, so the generator progressively improves and produces high-plausibility data.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85905" y="309480"/>
            <a:ext cx="942795" cy="877978"/>
          </a:xfrm>
          <a:custGeom>
            <a:avLst/>
            <a:gdLst/>
            <a:ahLst/>
            <a:cxnLst/>
            <a:rect r="r" b="b" t="t" l="l"/>
            <a:pathLst>
              <a:path h="877978" w="942795">
                <a:moveTo>
                  <a:pt x="0" y="0"/>
                </a:moveTo>
                <a:lnTo>
                  <a:pt x="942795" y="0"/>
                </a:lnTo>
                <a:lnTo>
                  <a:pt x="942795" y="877978"/>
                </a:lnTo>
                <a:lnTo>
                  <a:pt x="0" y="8779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73203" y="674294"/>
            <a:ext cx="16230600" cy="815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63"/>
              </a:lnSpc>
            </a:pPr>
            <a:r>
              <a:rPr lang="en-US" sz="5820" spc="-145">
                <a:solidFill>
                  <a:srgbClr val="0E4714"/>
                </a:solidFill>
                <a:latin typeface="Times New Roman Condensed"/>
                <a:ea typeface="Times New Roman Condensed"/>
                <a:cs typeface="Times New Roman Condensed"/>
                <a:sym typeface="Times New Roman Condensed"/>
              </a:rPr>
              <a:t>SYNTHETIC DATA GENERATOR – PIPELINE DIAGRAM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1919317" y="-1884868"/>
            <a:ext cx="8434028" cy="6114306"/>
          </a:xfrm>
          <a:custGeom>
            <a:avLst/>
            <a:gdLst/>
            <a:ahLst/>
            <a:cxnLst/>
            <a:rect r="r" b="b" t="t" l="l"/>
            <a:pathLst>
              <a:path h="6114306" w="8434028">
                <a:moveTo>
                  <a:pt x="0" y="0"/>
                </a:moveTo>
                <a:lnTo>
                  <a:pt x="8434028" y="0"/>
                </a:lnTo>
                <a:lnTo>
                  <a:pt x="8434028" y="6114305"/>
                </a:lnTo>
                <a:lnTo>
                  <a:pt x="0" y="61143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93483" r="-128662" b="-5254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76940" y="2446715"/>
            <a:ext cx="2949730" cy="1327105"/>
            <a:chOff x="0" y="0"/>
            <a:chExt cx="1806594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06594" cy="812800"/>
            </a:xfrm>
            <a:custGeom>
              <a:avLst/>
              <a:gdLst/>
              <a:ahLst/>
              <a:cxnLst/>
              <a:rect r="r" b="b" t="t" l="l"/>
              <a:pathLst>
                <a:path h="812800" w="1806594">
                  <a:moveTo>
                    <a:pt x="903297" y="0"/>
                  </a:moveTo>
                  <a:cubicBezTo>
                    <a:pt x="404420" y="0"/>
                    <a:pt x="0" y="181951"/>
                    <a:pt x="0" y="406400"/>
                  </a:cubicBezTo>
                  <a:cubicBezTo>
                    <a:pt x="0" y="630849"/>
                    <a:pt x="404420" y="812800"/>
                    <a:pt x="903297" y="812800"/>
                  </a:cubicBezTo>
                  <a:cubicBezTo>
                    <a:pt x="1402174" y="812800"/>
                    <a:pt x="1806594" y="630849"/>
                    <a:pt x="1806594" y="406400"/>
                  </a:cubicBezTo>
                  <a:cubicBezTo>
                    <a:pt x="1806594" y="181951"/>
                    <a:pt x="1402174" y="0"/>
                    <a:pt x="903297" y="0"/>
                  </a:cubicBezTo>
                  <a:close/>
                </a:path>
              </a:pathLst>
            </a:custGeom>
            <a:solidFill>
              <a:srgbClr val="0E4714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169368" y="19050"/>
              <a:ext cx="1467857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28"/>
                </a:lnSpc>
              </a:pPr>
              <a:r>
                <a:rPr lang="en-US" sz="2663">
                  <a:solidFill>
                    <a:srgbClr val="FFFFFF"/>
                  </a:solidFill>
                  <a:latin typeface="Gotham"/>
                  <a:ea typeface="Gotham"/>
                  <a:cs typeface="Gotham"/>
                  <a:sym typeface="Gotham"/>
                </a:rPr>
                <a:t>Demographic Data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219736" y="6488481"/>
            <a:ext cx="2906934" cy="1189926"/>
            <a:chOff x="0" y="0"/>
            <a:chExt cx="765612" cy="31339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65612" cy="313396"/>
            </a:xfrm>
            <a:custGeom>
              <a:avLst/>
              <a:gdLst/>
              <a:ahLst/>
              <a:cxnLst/>
              <a:rect r="r" b="b" t="t" l="l"/>
              <a:pathLst>
                <a:path h="313396" w="765612">
                  <a:moveTo>
                    <a:pt x="45275" y="0"/>
                  </a:moveTo>
                  <a:lnTo>
                    <a:pt x="720337" y="0"/>
                  </a:lnTo>
                  <a:cubicBezTo>
                    <a:pt x="745342" y="0"/>
                    <a:pt x="765612" y="20270"/>
                    <a:pt x="765612" y="45275"/>
                  </a:cubicBezTo>
                  <a:lnTo>
                    <a:pt x="765612" y="268121"/>
                  </a:lnTo>
                  <a:cubicBezTo>
                    <a:pt x="765612" y="293126"/>
                    <a:pt x="745342" y="313396"/>
                    <a:pt x="720337" y="313396"/>
                  </a:cubicBezTo>
                  <a:lnTo>
                    <a:pt x="45275" y="313396"/>
                  </a:lnTo>
                  <a:cubicBezTo>
                    <a:pt x="20270" y="313396"/>
                    <a:pt x="0" y="293126"/>
                    <a:pt x="0" y="268121"/>
                  </a:cubicBezTo>
                  <a:lnTo>
                    <a:pt x="0" y="45275"/>
                  </a:lnTo>
                  <a:cubicBezTo>
                    <a:pt x="0" y="20270"/>
                    <a:pt x="20270" y="0"/>
                    <a:pt x="45275" y="0"/>
                  </a:cubicBezTo>
                  <a:close/>
                </a:path>
              </a:pathLst>
            </a:custGeom>
            <a:solidFill>
              <a:srgbClr val="0E4714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765612" cy="3610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8"/>
                </a:lnSpc>
              </a:pPr>
              <a:r>
                <a:rPr lang="en-US" sz="1863">
                  <a:solidFill>
                    <a:srgbClr val="FFFFFF"/>
                  </a:solidFill>
                  <a:latin typeface="Gotham"/>
                  <a:ea typeface="Gotham"/>
                  <a:cs typeface="Gotham"/>
                  <a:sym typeface="Gotham"/>
                </a:rPr>
                <a:t>Bayesian Profile Generator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674120" y="6466085"/>
            <a:ext cx="2788908" cy="1234718"/>
            <a:chOff x="0" y="0"/>
            <a:chExt cx="734527" cy="32519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34527" cy="325193"/>
            </a:xfrm>
            <a:custGeom>
              <a:avLst/>
              <a:gdLst/>
              <a:ahLst/>
              <a:cxnLst/>
              <a:rect r="r" b="b" t="t" l="l"/>
              <a:pathLst>
                <a:path h="325193" w="734527">
                  <a:moveTo>
                    <a:pt x="47191" y="0"/>
                  </a:moveTo>
                  <a:lnTo>
                    <a:pt x="687336" y="0"/>
                  </a:lnTo>
                  <a:cubicBezTo>
                    <a:pt x="699852" y="0"/>
                    <a:pt x="711855" y="4972"/>
                    <a:pt x="720705" y="13822"/>
                  </a:cubicBezTo>
                  <a:cubicBezTo>
                    <a:pt x="729555" y="22672"/>
                    <a:pt x="734527" y="34676"/>
                    <a:pt x="734527" y="47191"/>
                  </a:cubicBezTo>
                  <a:lnTo>
                    <a:pt x="734527" y="278002"/>
                  </a:lnTo>
                  <a:cubicBezTo>
                    <a:pt x="734527" y="290518"/>
                    <a:pt x="729555" y="302521"/>
                    <a:pt x="720705" y="311371"/>
                  </a:cubicBezTo>
                  <a:cubicBezTo>
                    <a:pt x="711855" y="320221"/>
                    <a:pt x="699852" y="325193"/>
                    <a:pt x="687336" y="325193"/>
                  </a:cubicBezTo>
                  <a:lnTo>
                    <a:pt x="47191" y="325193"/>
                  </a:lnTo>
                  <a:cubicBezTo>
                    <a:pt x="34676" y="325193"/>
                    <a:pt x="22672" y="320221"/>
                    <a:pt x="13822" y="311371"/>
                  </a:cubicBezTo>
                  <a:cubicBezTo>
                    <a:pt x="4972" y="302521"/>
                    <a:pt x="0" y="290518"/>
                    <a:pt x="0" y="278002"/>
                  </a:cubicBezTo>
                  <a:lnTo>
                    <a:pt x="0" y="47191"/>
                  </a:lnTo>
                  <a:cubicBezTo>
                    <a:pt x="0" y="34676"/>
                    <a:pt x="4972" y="22672"/>
                    <a:pt x="13822" y="13822"/>
                  </a:cubicBezTo>
                  <a:cubicBezTo>
                    <a:pt x="22672" y="4972"/>
                    <a:pt x="34676" y="0"/>
                    <a:pt x="47191" y="0"/>
                  </a:cubicBezTo>
                  <a:close/>
                </a:path>
              </a:pathLst>
            </a:custGeom>
            <a:solidFill>
              <a:srgbClr val="0E4714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734527" cy="3728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8"/>
                </a:lnSpc>
              </a:pPr>
              <a:r>
                <a:rPr lang="en-US" sz="1863">
                  <a:solidFill>
                    <a:srgbClr val="FFFFFF"/>
                  </a:solidFill>
                  <a:latin typeface="Gotham"/>
                  <a:ea typeface="Gotham"/>
                  <a:cs typeface="Gotham"/>
                  <a:sym typeface="Gotham"/>
                </a:rPr>
                <a:t>Synthetic Customers profile</a:t>
              </a:r>
            </a:p>
          </p:txBody>
        </p:sp>
      </p:grpSp>
      <p:sp>
        <p:nvSpPr>
          <p:cNvPr name="AutoShape 13" id="13"/>
          <p:cNvSpPr/>
          <p:nvPr/>
        </p:nvSpPr>
        <p:spPr>
          <a:xfrm flipH="true">
            <a:off x="1072332" y="3773821"/>
            <a:ext cx="579473" cy="271466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>
            <a:off x="3126670" y="7083444"/>
            <a:ext cx="154745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5" id="15"/>
          <p:cNvGrpSpPr/>
          <p:nvPr/>
        </p:nvGrpSpPr>
        <p:grpSpPr>
          <a:xfrm rot="0">
            <a:off x="4527201" y="3539833"/>
            <a:ext cx="2788908" cy="1234718"/>
            <a:chOff x="0" y="0"/>
            <a:chExt cx="734527" cy="32519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34527" cy="325193"/>
            </a:xfrm>
            <a:custGeom>
              <a:avLst/>
              <a:gdLst/>
              <a:ahLst/>
              <a:cxnLst/>
              <a:rect r="r" b="b" t="t" l="l"/>
              <a:pathLst>
                <a:path h="325193" w="734527">
                  <a:moveTo>
                    <a:pt x="47191" y="0"/>
                  </a:moveTo>
                  <a:lnTo>
                    <a:pt x="687336" y="0"/>
                  </a:lnTo>
                  <a:cubicBezTo>
                    <a:pt x="699852" y="0"/>
                    <a:pt x="711855" y="4972"/>
                    <a:pt x="720705" y="13822"/>
                  </a:cubicBezTo>
                  <a:cubicBezTo>
                    <a:pt x="729555" y="22672"/>
                    <a:pt x="734527" y="34676"/>
                    <a:pt x="734527" y="47191"/>
                  </a:cubicBezTo>
                  <a:lnTo>
                    <a:pt x="734527" y="278002"/>
                  </a:lnTo>
                  <a:cubicBezTo>
                    <a:pt x="734527" y="290518"/>
                    <a:pt x="729555" y="302521"/>
                    <a:pt x="720705" y="311371"/>
                  </a:cubicBezTo>
                  <a:cubicBezTo>
                    <a:pt x="711855" y="320221"/>
                    <a:pt x="699852" y="325193"/>
                    <a:pt x="687336" y="325193"/>
                  </a:cubicBezTo>
                  <a:lnTo>
                    <a:pt x="47191" y="325193"/>
                  </a:lnTo>
                  <a:cubicBezTo>
                    <a:pt x="34676" y="325193"/>
                    <a:pt x="22672" y="320221"/>
                    <a:pt x="13822" y="311371"/>
                  </a:cubicBezTo>
                  <a:cubicBezTo>
                    <a:pt x="4972" y="302521"/>
                    <a:pt x="0" y="290518"/>
                    <a:pt x="0" y="278002"/>
                  </a:cubicBezTo>
                  <a:lnTo>
                    <a:pt x="0" y="47191"/>
                  </a:lnTo>
                  <a:cubicBezTo>
                    <a:pt x="0" y="34676"/>
                    <a:pt x="4972" y="22672"/>
                    <a:pt x="13822" y="13822"/>
                  </a:cubicBezTo>
                  <a:cubicBezTo>
                    <a:pt x="22672" y="4972"/>
                    <a:pt x="34676" y="0"/>
                    <a:pt x="47191" y="0"/>
                  </a:cubicBezTo>
                  <a:close/>
                </a:path>
              </a:pathLst>
            </a:custGeom>
            <a:solidFill>
              <a:srgbClr val="0E4714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734527" cy="3728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8"/>
                </a:lnSpc>
              </a:pPr>
              <a:r>
                <a:rPr lang="en-US" sz="1863">
                  <a:solidFill>
                    <a:srgbClr val="FFFFFF"/>
                  </a:solidFill>
                  <a:latin typeface="Gotham"/>
                  <a:ea typeface="Gotham"/>
                  <a:cs typeface="Gotham"/>
                  <a:sym typeface="Gotham"/>
                </a:rPr>
                <a:t>Merchants data DC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166290" y="5004973"/>
            <a:ext cx="2788908" cy="1234718"/>
            <a:chOff x="0" y="0"/>
            <a:chExt cx="734527" cy="32519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34527" cy="325193"/>
            </a:xfrm>
            <a:custGeom>
              <a:avLst/>
              <a:gdLst/>
              <a:ahLst/>
              <a:cxnLst/>
              <a:rect r="r" b="b" t="t" l="l"/>
              <a:pathLst>
                <a:path h="325193" w="734527">
                  <a:moveTo>
                    <a:pt x="47191" y="0"/>
                  </a:moveTo>
                  <a:lnTo>
                    <a:pt x="687336" y="0"/>
                  </a:lnTo>
                  <a:cubicBezTo>
                    <a:pt x="699852" y="0"/>
                    <a:pt x="711855" y="4972"/>
                    <a:pt x="720705" y="13822"/>
                  </a:cubicBezTo>
                  <a:cubicBezTo>
                    <a:pt x="729555" y="22672"/>
                    <a:pt x="734527" y="34676"/>
                    <a:pt x="734527" y="47191"/>
                  </a:cubicBezTo>
                  <a:lnTo>
                    <a:pt x="734527" y="278002"/>
                  </a:lnTo>
                  <a:cubicBezTo>
                    <a:pt x="734527" y="290518"/>
                    <a:pt x="729555" y="302521"/>
                    <a:pt x="720705" y="311371"/>
                  </a:cubicBezTo>
                  <a:cubicBezTo>
                    <a:pt x="711855" y="320221"/>
                    <a:pt x="699852" y="325193"/>
                    <a:pt x="687336" y="325193"/>
                  </a:cubicBezTo>
                  <a:lnTo>
                    <a:pt x="47191" y="325193"/>
                  </a:lnTo>
                  <a:cubicBezTo>
                    <a:pt x="34676" y="325193"/>
                    <a:pt x="22672" y="320221"/>
                    <a:pt x="13822" y="311371"/>
                  </a:cubicBezTo>
                  <a:cubicBezTo>
                    <a:pt x="4972" y="302521"/>
                    <a:pt x="0" y="290518"/>
                    <a:pt x="0" y="278002"/>
                  </a:cubicBezTo>
                  <a:lnTo>
                    <a:pt x="0" y="47191"/>
                  </a:lnTo>
                  <a:cubicBezTo>
                    <a:pt x="0" y="34676"/>
                    <a:pt x="4972" y="22672"/>
                    <a:pt x="13822" y="13822"/>
                  </a:cubicBezTo>
                  <a:cubicBezTo>
                    <a:pt x="22672" y="4972"/>
                    <a:pt x="34676" y="0"/>
                    <a:pt x="47191" y="0"/>
                  </a:cubicBezTo>
                  <a:close/>
                </a:path>
              </a:pathLst>
            </a:custGeom>
            <a:solidFill>
              <a:srgbClr val="0E4714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734527" cy="3728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8"/>
                </a:lnSpc>
              </a:pPr>
              <a:r>
                <a:rPr lang="en-US" sz="1863">
                  <a:solidFill>
                    <a:srgbClr val="FFFFFF"/>
                  </a:solidFill>
                  <a:latin typeface="Gotham"/>
                  <a:ea typeface="Gotham"/>
                  <a:cs typeface="Gotham"/>
                  <a:sym typeface="Gotham"/>
                </a:rPr>
                <a:t>Rule Based transaction simulation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078673" y="5004973"/>
            <a:ext cx="2788908" cy="1234718"/>
            <a:chOff x="0" y="0"/>
            <a:chExt cx="734527" cy="32519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34527" cy="325193"/>
            </a:xfrm>
            <a:custGeom>
              <a:avLst/>
              <a:gdLst/>
              <a:ahLst/>
              <a:cxnLst/>
              <a:rect r="r" b="b" t="t" l="l"/>
              <a:pathLst>
                <a:path h="325193" w="734527">
                  <a:moveTo>
                    <a:pt x="47191" y="0"/>
                  </a:moveTo>
                  <a:lnTo>
                    <a:pt x="687336" y="0"/>
                  </a:lnTo>
                  <a:cubicBezTo>
                    <a:pt x="699852" y="0"/>
                    <a:pt x="711855" y="4972"/>
                    <a:pt x="720705" y="13822"/>
                  </a:cubicBezTo>
                  <a:cubicBezTo>
                    <a:pt x="729555" y="22672"/>
                    <a:pt x="734527" y="34676"/>
                    <a:pt x="734527" y="47191"/>
                  </a:cubicBezTo>
                  <a:lnTo>
                    <a:pt x="734527" y="278002"/>
                  </a:lnTo>
                  <a:cubicBezTo>
                    <a:pt x="734527" y="290518"/>
                    <a:pt x="729555" y="302521"/>
                    <a:pt x="720705" y="311371"/>
                  </a:cubicBezTo>
                  <a:cubicBezTo>
                    <a:pt x="711855" y="320221"/>
                    <a:pt x="699852" y="325193"/>
                    <a:pt x="687336" y="325193"/>
                  </a:cubicBezTo>
                  <a:lnTo>
                    <a:pt x="47191" y="325193"/>
                  </a:lnTo>
                  <a:cubicBezTo>
                    <a:pt x="34676" y="325193"/>
                    <a:pt x="22672" y="320221"/>
                    <a:pt x="13822" y="311371"/>
                  </a:cubicBezTo>
                  <a:cubicBezTo>
                    <a:pt x="4972" y="302521"/>
                    <a:pt x="0" y="290518"/>
                    <a:pt x="0" y="278002"/>
                  </a:cubicBezTo>
                  <a:lnTo>
                    <a:pt x="0" y="47191"/>
                  </a:lnTo>
                  <a:cubicBezTo>
                    <a:pt x="0" y="34676"/>
                    <a:pt x="4972" y="22672"/>
                    <a:pt x="13822" y="13822"/>
                  </a:cubicBezTo>
                  <a:cubicBezTo>
                    <a:pt x="22672" y="4972"/>
                    <a:pt x="34676" y="0"/>
                    <a:pt x="47191" y="0"/>
                  </a:cubicBezTo>
                  <a:close/>
                </a:path>
              </a:pathLst>
            </a:custGeom>
            <a:solidFill>
              <a:srgbClr val="0E4714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734527" cy="3728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8"/>
                </a:lnSpc>
              </a:pPr>
              <a:r>
                <a:rPr lang="en-US" sz="1863">
                  <a:solidFill>
                    <a:srgbClr val="FFFFFF"/>
                  </a:solidFill>
                  <a:latin typeface="Gotham"/>
                  <a:ea typeface="Gotham"/>
                  <a:cs typeface="Gotham"/>
                  <a:sym typeface="Gotham"/>
                </a:rPr>
                <a:t>Conditional Gan refinement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2078673" y="7362881"/>
            <a:ext cx="2788908" cy="1234718"/>
            <a:chOff x="0" y="0"/>
            <a:chExt cx="734527" cy="32519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34527" cy="325193"/>
            </a:xfrm>
            <a:custGeom>
              <a:avLst/>
              <a:gdLst/>
              <a:ahLst/>
              <a:cxnLst/>
              <a:rect r="r" b="b" t="t" l="l"/>
              <a:pathLst>
                <a:path h="325193" w="734527">
                  <a:moveTo>
                    <a:pt x="47191" y="0"/>
                  </a:moveTo>
                  <a:lnTo>
                    <a:pt x="687336" y="0"/>
                  </a:lnTo>
                  <a:cubicBezTo>
                    <a:pt x="699852" y="0"/>
                    <a:pt x="711855" y="4972"/>
                    <a:pt x="720705" y="13822"/>
                  </a:cubicBezTo>
                  <a:cubicBezTo>
                    <a:pt x="729555" y="22672"/>
                    <a:pt x="734527" y="34676"/>
                    <a:pt x="734527" y="47191"/>
                  </a:cubicBezTo>
                  <a:lnTo>
                    <a:pt x="734527" y="278002"/>
                  </a:lnTo>
                  <a:cubicBezTo>
                    <a:pt x="734527" y="290518"/>
                    <a:pt x="729555" y="302521"/>
                    <a:pt x="720705" y="311371"/>
                  </a:cubicBezTo>
                  <a:cubicBezTo>
                    <a:pt x="711855" y="320221"/>
                    <a:pt x="699852" y="325193"/>
                    <a:pt x="687336" y="325193"/>
                  </a:cubicBezTo>
                  <a:lnTo>
                    <a:pt x="47191" y="325193"/>
                  </a:lnTo>
                  <a:cubicBezTo>
                    <a:pt x="34676" y="325193"/>
                    <a:pt x="22672" y="320221"/>
                    <a:pt x="13822" y="311371"/>
                  </a:cubicBezTo>
                  <a:cubicBezTo>
                    <a:pt x="4972" y="302521"/>
                    <a:pt x="0" y="290518"/>
                    <a:pt x="0" y="278002"/>
                  </a:cubicBezTo>
                  <a:lnTo>
                    <a:pt x="0" y="47191"/>
                  </a:lnTo>
                  <a:cubicBezTo>
                    <a:pt x="0" y="34676"/>
                    <a:pt x="4972" y="22672"/>
                    <a:pt x="13822" y="13822"/>
                  </a:cubicBezTo>
                  <a:cubicBezTo>
                    <a:pt x="22672" y="4972"/>
                    <a:pt x="34676" y="0"/>
                    <a:pt x="47191" y="0"/>
                  </a:cubicBezTo>
                  <a:close/>
                </a:path>
              </a:pathLst>
            </a:custGeom>
            <a:solidFill>
              <a:srgbClr val="0E4714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734527" cy="3728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8"/>
                </a:lnSpc>
              </a:pPr>
              <a:r>
                <a:rPr lang="en-US" sz="1863">
                  <a:solidFill>
                    <a:srgbClr val="FFFFFF"/>
                  </a:solidFill>
                  <a:latin typeface="Gotham"/>
                  <a:ea typeface="Gotham"/>
                  <a:cs typeface="Gotham"/>
                  <a:sym typeface="Gotham"/>
                </a:rPr>
                <a:t>Transaction data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5499092" y="7362881"/>
            <a:ext cx="2788908" cy="1234718"/>
            <a:chOff x="0" y="0"/>
            <a:chExt cx="734527" cy="325193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34527" cy="325193"/>
            </a:xfrm>
            <a:custGeom>
              <a:avLst/>
              <a:gdLst/>
              <a:ahLst/>
              <a:cxnLst/>
              <a:rect r="r" b="b" t="t" l="l"/>
              <a:pathLst>
                <a:path h="325193" w="734527">
                  <a:moveTo>
                    <a:pt x="47191" y="0"/>
                  </a:moveTo>
                  <a:lnTo>
                    <a:pt x="687336" y="0"/>
                  </a:lnTo>
                  <a:cubicBezTo>
                    <a:pt x="699852" y="0"/>
                    <a:pt x="711855" y="4972"/>
                    <a:pt x="720705" y="13822"/>
                  </a:cubicBezTo>
                  <a:cubicBezTo>
                    <a:pt x="729555" y="22672"/>
                    <a:pt x="734527" y="34676"/>
                    <a:pt x="734527" y="47191"/>
                  </a:cubicBezTo>
                  <a:lnTo>
                    <a:pt x="734527" y="278002"/>
                  </a:lnTo>
                  <a:cubicBezTo>
                    <a:pt x="734527" y="290518"/>
                    <a:pt x="729555" y="302521"/>
                    <a:pt x="720705" y="311371"/>
                  </a:cubicBezTo>
                  <a:cubicBezTo>
                    <a:pt x="711855" y="320221"/>
                    <a:pt x="699852" y="325193"/>
                    <a:pt x="687336" y="325193"/>
                  </a:cubicBezTo>
                  <a:lnTo>
                    <a:pt x="47191" y="325193"/>
                  </a:lnTo>
                  <a:cubicBezTo>
                    <a:pt x="34676" y="325193"/>
                    <a:pt x="22672" y="320221"/>
                    <a:pt x="13822" y="311371"/>
                  </a:cubicBezTo>
                  <a:cubicBezTo>
                    <a:pt x="4972" y="302521"/>
                    <a:pt x="0" y="290518"/>
                    <a:pt x="0" y="278002"/>
                  </a:cubicBezTo>
                  <a:lnTo>
                    <a:pt x="0" y="47191"/>
                  </a:lnTo>
                  <a:cubicBezTo>
                    <a:pt x="0" y="34676"/>
                    <a:pt x="4972" y="22672"/>
                    <a:pt x="13822" y="13822"/>
                  </a:cubicBezTo>
                  <a:cubicBezTo>
                    <a:pt x="22672" y="4972"/>
                    <a:pt x="34676" y="0"/>
                    <a:pt x="47191" y="0"/>
                  </a:cubicBezTo>
                  <a:close/>
                </a:path>
              </a:pathLst>
            </a:custGeom>
            <a:solidFill>
              <a:srgbClr val="0E4714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734527" cy="3728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8"/>
                </a:lnSpc>
              </a:pPr>
              <a:r>
                <a:rPr lang="en-US" sz="1863">
                  <a:solidFill>
                    <a:srgbClr val="FFFFFF"/>
                  </a:solidFill>
                  <a:latin typeface="Gotham"/>
                  <a:ea typeface="Gotham"/>
                  <a:cs typeface="Gotham"/>
                  <a:sym typeface="Gotham"/>
                </a:rPr>
                <a:t>LLM Based Enrichment</a:t>
              </a:r>
            </a:p>
          </p:txBody>
        </p:sp>
      </p:grpSp>
      <p:sp>
        <p:nvSpPr>
          <p:cNvPr name="AutoShape 30" id="30"/>
          <p:cNvSpPr/>
          <p:nvPr/>
        </p:nvSpPr>
        <p:spPr>
          <a:xfrm flipV="true">
            <a:off x="6697608" y="5641381"/>
            <a:ext cx="1468682" cy="74042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1" id="31"/>
          <p:cNvSpPr/>
          <p:nvPr/>
        </p:nvSpPr>
        <p:spPr>
          <a:xfrm>
            <a:off x="7316109" y="4176242"/>
            <a:ext cx="2035813" cy="85069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2" id="32"/>
          <p:cNvSpPr/>
          <p:nvPr/>
        </p:nvSpPr>
        <p:spPr>
          <a:xfrm>
            <a:off x="10931125" y="5622331"/>
            <a:ext cx="1147547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3" id="33"/>
          <p:cNvSpPr/>
          <p:nvPr/>
        </p:nvSpPr>
        <p:spPr>
          <a:xfrm>
            <a:off x="13473126" y="6239690"/>
            <a:ext cx="0" cy="112319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4" id="34"/>
          <p:cNvSpPr/>
          <p:nvPr/>
        </p:nvSpPr>
        <p:spPr>
          <a:xfrm>
            <a:off x="14867580" y="7980240"/>
            <a:ext cx="2025966" cy="61735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5" id="35"/>
          <p:cNvSpPr/>
          <p:nvPr/>
        </p:nvSpPr>
        <p:spPr>
          <a:xfrm>
            <a:off x="14376565" y="7362881"/>
            <a:ext cx="251698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6" id="36"/>
          <p:cNvGrpSpPr/>
          <p:nvPr/>
        </p:nvGrpSpPr>
        <p:grpSpPr>
          <a:xfrm rot="5400000">
            <a:off x="913448" y="6228994"/>
            <a:ext cx="317768" cy="518974"/>
            <a:chOff x="0" y="0"/>
            <a:chExt cx="290830" cy="47498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46990" y="46990"/>
              <a:ext cx="191770" cy="378460"/>
            </a:xfrm>
            <a:custGeom>
              <a:avLst/>
              <a:gdLst/>
              <a:ahLst/>
              <a:cxnLst/>
              <a:rect r="r" b="b" t="t" l="l"/>
              <a:pathLst>
                <a:path h="378460" w="191770">
                  <a:moveTo>
                    <a:pt x="66040" y="13970"/>
                  </a:moveTo>
                  <a:cubicBezTo>
                    <a:pt x="120650" y="121920"/>
                    <a:pt x="149860" y="123190"/>
                    <a:pt x="163830" y="138430"/>
                  </a:cubicBezTo>
                  <a:cubicBezTo>
                    <a:pt x="179070" y="153670"/>
                    <a:pt x="191770" y="179070"/>
                    <a:pt x="191770" y="198120"/>
                  </a:cubicBezTo>
                  <a:cubicBezTo>
                    <a:pt x="191770" y="217170"/>
                    <a:pt x="180340" y="233680"/>
                    <a:pt x="165100" y="252730"/>
                  </a:cubicBezTo>
                  <a:cubicBezTo>
                    <a:pt x="142240" y="285750"/>
                    <a:pt x="76200" y="351790"/>
                    <a:pt x="49530" y="368300"/>
                  </a:cubicBezTo>
                  <a:cubicBezTo>
                    <a:pt x="39370" y="374650"/>
                    <a:pt x="33020" y="378460"/>
                    <a:pt x="25400" y="377190"/>
                  </a:cubicBezTo>
                  <a:cubicBezTo>
                    <a:pt x="17780" y="375920"/>
                    <a:pt x="7620" y="369570"/>
                    <a:pt x="3810" y="361950"/>
                  </a:cubicBezTo>
                  <a:cubicBezTo>
                    <a:pt x="1270" y="355600"/>
                    <a:pt x="0" y="342900"/>
                    <a:pt x="5080" y="336550"/>
                  </a:cubicBezTo>
                  <a:cubicBezTo>
                    <a:pt x="10160" y="328930"/>
                    <a:pt x="26670" y="321310"/>
                    <a:pt x="35560" y="322580"/>
                  </a:cubicBezTo>
                  <a:cubicBezTo>
                    <a:pt x="43180" y="323850"/>
                    <a:pt x="53340" y="332740"/>
                    <a:pt x="55880" y="340360"/>
                  </a:cubicBezTo>
                  <a:cubicBezTo>
                    <a:pt x="58420" y="347980"/>
                    <a:pt x="57150" y="360680"/>
                    <a:pt x="52070" y="365760"/>
                  </a:cubicBezTo>
                  <a:cubicBezTo>
                    <a:pt x="45720" y="373380"/>
                    <a:pt x="19050" y="377190"/>
                    <a:pt x="11430" y="370840"/>
                  </a:cubicBezTo>
                  <a:cubicBezTo>
                    <a:pt x="5080" y="367030"/>
                    <a:pt x="1270" y="350520"/>
                    <a:pt x="3810" y="339090"/>
                  </a:cubicBezTo>
                  <a:cubicBezTo>
                    <a:pt x="6350" y="323850"/>
                    <a:pt x="20320" y="308610"/>
                    <a:pt x="35560" y="293370"/>
                  </a:cubicBezTo>
                  <a:cubicBezTo>
                    <a:pt x="59690" y="267970"/>
                    <a:pt x="140970" y="233680"/>
                    <a:pt x="146050" y="210820"/>
                  </a:cubicBezTo>
                  <a:cubicBezTo>
                    <a:pt x="148590" y="198120"/>
                    <a:pt x="135890" y="185420"/>
                    <a:pt x="127000" y="175260"/>
                  </a:cubicBezTo>
                  <a:cubicBezTo>
                    <a:pt x="115570" y="162560"/>
                    <a:pt x="93980" y="158750"/>
                    <a:pt x="80010" y="142240"/>
                  </a:cubicBezTo>
                  <a:cubicBezTo>
                    <a:pt x="58420" y="119380"/>
                    <a:pt x="22860" y="63500"/>
                    <a:pt x="20320" y="38100"/>
                  </a:cubicBezTo>
                  <a:cubicBezTo>
                    <a:pt x="19050" y="24130"/>
                    <a:pt x="21590" y="8890"/>
                    <a:pt x="29210" y="3810"/>
                  </a:cubicBezTo>
                  <a:cubicBezTo>
                    <a:pt x="36830" y="0"/>
                    <a:pt x="66040" y="13970"/>
                    <a:pt x="66040" y="13970"/>
                  </a:cubicBezTo>
                </a:path>
              </a:pathLst>
            </a:custGeom>
            <a:solidFill>
              <a:srgbClr val="1E1E1E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4565059" y="6905327"/>
            <a:ext cx="218122" cy="356235"/>
            <a:chOff x="0" y="0"/>
            <a:chExt cx="290830" cy="47498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46990" y="46990"/>
              <a:ext cx="191770" cy="378460"/>
            </a:xfrm>
            <a:custGeom>
              <a:avLst/>
              <a:gdLst/>
              <a:ahLst/>
              <a:cxnLst/>
              <a:rect r="r" b="b" t="t" l="l"/>
              <a:pathLst>
                <a:path h="378460" w="191770">
                  <a:moveTo>
                    <a:pt x="66040" y="13970"/>
                  </a:moveTo>
                  <a:cubicBezTo>
                    <a:pt x="120650" y="121920"/>
                    <a:pt x="149860" y="123190"/>
                    <a:pt x="163830" y="138430"/>
                  </a:cubicBezTo>
                  <a:cubicBezTo>
                    <a:pt x="179070" y="153670"/>
                    <a:pt x="191770" y="179070"/>
                    <a:pt x="191770" y="198120"/>
                  </a:cubicBezTo>
                  <a:cubicBezTo>
                    <a:pt x="191770" y="217170"/>
                    <a:pt x="180340" y="233680"/>
                    <a:pt x="165100" y="252730"/>
                  </a:cubicBezTo>
                  <a:cubicBezTo>
                    <a:pt x="142240" y="285750"/>
                    <a:pt x="76200" y="351790"/>
                    <a:pt x="49530" y="368300"/>
                  </a:cubicBezTo>
                  <a:cubicBezTo>
                    <a:pt x="39370" y="374650"/>
                    <a:pt x="33020" y="378460"/>
                    <a:pt x="25400" y="377190"/>
                  </a:cubicBezTo>
                  <a:cubicBezTo>
                    <a:pt x="17780" y="375920"/>
                    <a:pt x="7620" y="369570"/>
                    <a:pt x="3810" y="361950"/>
                  </a:cubicBezTo>
                  <a:cubicBezTo>
                    <a:pt x="1270" y="355600"/>
                    <a:pt x="0" y="342900"/>
                    <a:pt x="5080" y="336550"/>
                  </a:cubicBezTo>
                  <a:cubicBezTo>
                    <a:pt x="10160" y="328930"/>
                    <a:pt x="26670" y="321310"/>
                    <a:pt x="35560" y="322580"/>
                  </a:cubicBezTo>
                  <a:cubicBezTo>
                    <a:pt x="43180" y="323850"/>
                    <a:pt x="53340" y="332740"/>
                    <a:pt x="55880" y="340360"/>
                  </a:cubicBezTo>
                  <a:cubicBezTo>
                    <a:pt x="58420" y="347980"/>
                    <a:pt x="57150" y="360680"/>
                    <a:pt x="52070" y="365760"/>
                  </a:cubicBezTo>
                  <a:cubicBezTo>
                    <a:pt x="45720" y="373380"/>
                    <a:pt x="19050" y="377190"/>
                    <a:pt x="11430" y="370840"/>
                  </a:cubicBezTo>
                  <a:cubicBezTo>
                    <a:pt x="5080" y="367030"/>
                    <a:pt x="1270" y="350520"/>
                    <a:pt x="3810" y="339090"/>
                  </a:cubicBezTo>
                  <a:cubicBezTo>
                    <a:pt x="6350" y="323850"/>
                    <a:pt x="20320" y="308610"/>
                    <a:pt x="35560" y="293370"/>
                  </a:cubicBezTo>
                  <a:cubicBezTo>
                    <a:pt x="59690" y="267970"/>
                    <a:pt x="140970" y="233680"/>
                    <a:pt x="146050" y="210820"/>
                  </a:cubicBezTo>
                  <a:cubicBezTo>
                    <a:pt x="148590" y="198120"/>
                    <a:pt x="135890" y="185420"/>
                    <a:pt x="127000" y="175260"/>
                  </a:cubicBezTo>
                  <a:cubicBezTo>
                    <a:pt x="115570" y="162560"/>
                    <a:pt x="93980" y="158750"/>
                    <a:pt x="80010" y="142240"/>
                  </a:cubicBezTo>
                  <a:cubicBezTo>
                    <a:pt x="58420" y="119380"/>
                    <a:pt x="22860" y="63500"/>
                    <a:pt x="20320" y="38100"/>
                  </a:cubicBezTo>
                  <a:cubicBezTo>
                    <a:pt x="19050" y="24130"/>
                    <a:pt x="21590" y="8890"/>
                    <a:pt x="29210" y="3810"/>
                  </a:cubicBezTo>
                  <a:cubicBezTo>
                    <a:pt x="36830" y="0"/>
                    <a:pt x="66040" y="13970"/>
                    <a:pt x="66040" y="13970"/>
                  </a:cubicBezTo>
                </a:path>
              </a:pathLst>
            </a:custGeom>
            <a:solidFill>
              <a:srgbClr val="1E1E1E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8057229" y="5444214"/>
            <a:ext cx="218122" cy="356235"/>
            <a:chOff x="0" y="0"/>
            <a:chExt cx="290830" cy="47498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46990" y="46990"/>
              <a:ext cx="191770" cy="378460"/>
            </a:xfrm>
            <a:custGeom>
              <a:avLst/>
              <a:gdLst/>
              <a:ahLst/>
              <a:cxnLst/>
              <a:rect r="r" b="b" t="t" l="l"/>
              <a:pathLst>
                <a:path h="378460" w="191770">
                  <a:moveTo>
                    <a:pt x="66040" y="13970"/>
                  </a:moveTo>
                  <a:cubicBezTo>
                    <a:pt x="120650" y="121920"/>
                    <a:pt x="149860" y="123190"/>
                    <a:pt x="163830" y="138430"/>
                  </a:cubicBezTo>
                  <a:cubicBezTo>
                    <a:pt x="179070" y="153670"/>
                    <a:pt x="191770" y="179070"/>
                    <a:pt x="191770" y="198120"/>
                  </a:cubicBezTo>
                  <a:cubicBezTo>
                    <a:pt x="191770" y="217170"/>
                    <a:pt x="180340" y="233680"/>
                    <a:pt x="165100" y="252730"/>
                  </a:cubicBezTo>
                  <a:cubicBezTo>
                    <a:pt x="142240" y="285750"/>
                    <a:pt x="76200" y="351790"/>
                    <a:pt x="49530" y="368300"/>
                  </a:cubicBezTo>
                  <a:cubicBezTo>
                    <a:pt x="39370" y="374650"/>
                    <a:pt x="33020" y="378460"/>
                    <a:pt x="25400" y="377190"/>
                  </a:cubicBezTo>
                  <a:cubicBezTo>
                    <a:pt x="17780" y="375920"/>
                    <a:pt x="7620" y="369570"/>
                    <a:pt x="3810" y="361950"/>
                  </a:cubicBezTo>
                  <a:cubicBezTo>
                    <a:pt x="1270" y="355600"/>
                    <a:pt x="0" y="342900"/>
                    <a:pt x="5080" y="336550"/>
                  </a:cubicBezTo>
                  <a:cubicBezTo>
                    <a:pt x="10160" y="328930"/>
                    <a:pt x="26670" y="321310"/>
                    <a:pt x="35560" y="322580"/>
                  </a:cubicBezTo>
                  <a:cubicBezTo>
                    <a:pt x="43180" y="323850"/>
                    <a:pt x="53340" y="332740"/>
                    <a:pt x="55880" y="340360"/>
                  </a:cubicBezTo>
                  <a:cubicBezTo>
                    <a:pt x="58420" y="347980"/>
                    <a:pt x="57150" y="360680"/>
                    <a:pt x="52070" y="365760"/>
                  </a:cubicBezTo>
                  <a:cubicBezTo>
                    <a:pt x="45720" y="373380"/>
                    <a:pt x="19050" y="377190"/>
                    <a:pt x="11430" y="370840"/>
                  </a:cubicBezTo>
                  <a:cubicBezTo>
                    <a:pt x="5080" y="367030"/>
                    <a:pt x="1270" y="350520"/>
                    <a:pt x="3810" y="339090"/>
                  </a:cubicBezTo>
                  <a:cubicBezTo>
                    <a:pt x="6350" y="323850"/>
                    <a:pt x="20320" y="308610"/>
                    <a:pt x="35560" y="293370"/>
                  </a:cubicBezTo>
                  <a:cubicBezTo>
                    <a:pt x="59690" y="267970"/>
                    <a:pt x="140970" y="233680"/>
                    <a:pt x="146050" y="210820"/>
                  </a:cubicBezTo>
                  <a:cubicBezTo>
                    <a:pt x="148590" y="198120"/>
                    <a:pt x="135890" y="185420"/>
                    <a:pt x="127000" y="175260"/>
                  </a:cubicBezTo>
                  <a:cubicBezTo>
                    <a:pt x="115570" y="162560"/>
                    <a:pt x="93980" y="158750"/>
                    <a:pt x="80010" y="142240"/>
                  </a:cubicBezTo>
                  <a:cubicBezTo>
                    <a:pt x="58420" y="119380"/>
                    <a:pt x="22860" y="63500"/>
                    <a:pt x="20320" y="38100"/>
                  </a:cubicBezTo>
                  <a:cubicBezTo>
                    <a:pt x="19050" y="24130"/>
                    <a:pt x="21590" y="8890"/>
                    <a:pt x="29210" y="3810"/>
                  </a:cubicBezTo>
                  <a:cubicBezTo>
                    <a:pt x="36830" y="0"/>
                    <a:pt x="66040" y="13970"/>
                    <a:pt x="66040" y="13970"/>
                  </a:cubicBezTo>
                </a:path>
              </a:pathLst>
            </a:custGeom>
            <a:solidFill>
              <a:srgbClr val="1E1E1E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5329545">
            <a:off x="9242860" y="4826855"/>
            <a:ext cx="218122" cy="356235"/>
            <a:chOff x="0" y="0"/>
            <a:chExt cx="290830" cy="47498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46990" y="46990"/>
              <a:ext cx="191770" cy="378460"/>
            </a:xfrm>
            <a:custGeom>
              <a:avLst/>
              <a:gdLst/>
              <a:ahLst/>
              <a:cxnLst/>
              <a:rect r="r" b="b" t="t" l="l"/>
              <a:pathLst>
                <a:path h="378460" w="191770">
                  <a:moveTo>
                    <a:pt x="66040" y="13970"/>
                  </a:moveTo>
                  <a:cubicBezTo>
                    <a:pt x="120650" y="121920"/>
                    <a:pt x="149860" y="123190"/>
                    <a:pt x="163830" y="138430"/>
                  </a:cubicBezTo>
                  <a:cubicBezTo>
                    <a:pt x="179070" y="153670"/>
                    <a:pt x="191770" y="179070"/>
                    <a:pt x="191770" y="198120"/>
                  </a:cubicBezTo>
                  <a:cubicBezTo>
                    <a:pt x="191770" y="217170"/>
                    <a:pt x="180340" y="233680"/>
                    <a:pt x="165100" y="252730"/>
                  </a:cubicBezTo>
                  <a:cubicBezTo>
                    <a:pt x="142240" y="285750"/>
                    <a:pt x="76200" y="351790"/>
                    <a:pt x="49530" y="368300"/>
                  </a:cubicBezTo>
                  <a:cubicBezTo>
                    <a:pt x="39370" y="374650"/>
                    <a:pt x="33020" y="378460"/>
                    <a:pt x="25400" y="377190"/>
                  </a:cubicBezTo>
                  <a:cubicBezTo>
                    <a:pt x="17780" y="375920"/>
                    <a:pt x="7620" y="369570"/>
                    <a:pt x="3810" y="361950"/>
                  </a:cubicBezTo>
                  <a:cubicBezTo>
                    <a:pt x="1270" y="355600"/>
                    <a:pt x="0" y="342900"/>
                    <a:pt x="5080" y="336550"/>
                  </a:cubicBezTo>
                  <a:cubicBezTo>
                    <a:pt x="10160" y="328930"/>
                    <a:pt x="26670" y="321310"/>
                    <a:pt x="35560" y="322580"/>
                  </a:cubicBezTo>
                  <a:cubicBezTo>
                    <a:pt x="43180" y="323850"/>
                    <a:pt x="53340" y="332740"/>
                    <a:pt x="55880" y="340360"/>
                  </a:cubicBezTo>
                  <a:cubicBezTo>
                    <a:pt x="58420" y="347980"/>
                    <a:pt x="57150" y="360680"/>
                    <a:pt x="52070" y="365760"/>
                  </a:cubicBezTo>
                  <a:cubicBezTo>
                    <a:pt x="45720" y="373380"/>
                    <a:pt x="19050" y="377190"/>
                    <a:pt x="11430" y="370840"/>
                  </a:cubicBezTo>
                  <a:cubicBezTo>
                    <a:pt x="5080" y="367030"/>
                    <a:pt x="1270" y="350520"/>
                    <a:pt x="3810" y="339090"/>
                  </a:cubicBezTo>
                  <a:cubicBezTo>
                    <a:pt x="6350" y="323850"/>
                    <a:pt x="20320" y="308610"/>
                    <a:pt x="35560" y="293370"/>
                  </a:cubicBezTo>
                  <a:cubicBezTo>
                    <a:pt x="59690" y="267970"/>
                    <a:pt x="140970" y="233680"/>
                    <a:pt x="146050" y="210820"/>
                  </a:cubicBezTo>
                  <a:cubicBezTo>
                    <a:pt x="148590" y="198120"/>
                    <a:pt x="135890" y="185420"/>
                    <a:pt x="127000" y="175260"/>
                  </a:cubicBezTo>
                  <a:cubicBezTo>
                    <a:pt x="115570" y="162560"/>
                    <a:pt x="93980" y="158750"/>
                    <a:pt x="80010" y="142240"/>
                  </a:cubicBezTo>
                  <a:cubicBezTo>
                    <a:pt x="58420" y="119380"/>
                    <a:pt x="22860" y="63500"/>
                    <a:pt x="20320" y="38100"/>
                  </a:cubicBezTo>
                  <a:cubicBezTo>
                    <a:pt x="19050" y="24130"/>
                    <a:pt x="21590" y="8890"/>
                    <a:pt x="29210" y="3810"/>
                  </a:cubicBezTo>
                  <a:cubicBezTo>
                    <a:pt x="36830" y="0"/>
                    <a:pt x="66040" y="13970"/>
                    <a:pt x="66040" y="13970"/>
                  </a:cubicBezTo>
                </a:path>
              </a:pathLst>
            </a:custGeom>
            <a:solidFill>
              <a:srgbClr val="1E1E1E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11969611" y="5444214"/>
            <a:ext cx="218122" cy="356235"/>
            <a:chOff x="0" y="0"/>
            <a:chExt cx="290830" cy="47498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46990" y="46990"/>
              <a:ext cx="191770" cy="378460"/>
            </a:xfrm>
            <a:custGeom>
              <a:avLst/>
              <a:gdLst/>
              <a:ahLst/>
              <a:cxnLst/>
              <a:rect r="r" b="b" t="t" l="l"/>
              <a:pathLst>
                <a:path h="378460" w="191770">
                  <a:moveTo>
                    <a:pt x="66040" y="13970"/>
                  </a:moveTo>
                  <a:cubicBezTo>
                    <a:pt x="120650" y="121920"/>
                    <a:pt x="149860" y="123190"/>
                    <a:pt x="163830" y="138430"/>
                  </a:cubicBezTo>
                  <a:cubicBezTo>
                    <a:pt x="179070" y="153670"/>
                    <a:pt x="191770" y="179070"/>
                    <a:pt x="191770" y="198120"/>
                  </a:cubicBezTo>
                  <a:cubicBezTo>
                    <a:pt x="191770" y="217170"/>
                    <a:pt x="180340" y="233680"/>
                    <a:pt x="165100" y="252730"/>
                  </a:cubicBezTo>
                  <a:cubicBezTo>
                    <a:pt x="142240" y="285750"/>
                    <a:pt x="76200" y="351790"/>
                    <a:pt x="49530" y="368300"/>
                  </a:cubicBezTo>
                  <a:cubicBezTo>
                    <a:pt x="39370" y="374650"/>
                    <a:pt x="33020" y="378460"/>
                    <a:pt x="25400" y="377190"/>
                  </a:cubicBezTo>
                  <a:cubicBezTo>
                    <a:pt x="17780" y="375920"/>
                    <a:pt x="7620" y="369570"/>
                    <a:pt x="3810" y="361950"/>
                  </a:cubicBezTo>
                  <a:cubicBezTo>
                    <a:pt x="1270" y="355600"/>
                    <a:pt x="0" y="342900"/>
                    <a:pt x="5080" y="336550"/>
                  </a:cubicBezTo>
                  <a:cubicBezTo>
                    <a:pt x="10160" y="328930"/>
                    <a:pt x="26670" y="321310"/>
                    <a:pt x="35560" y="322580"/>
                  </a:cubicBezTo>
                  <a:cubicBezTo>
                    <a:pt x="43180" y="323850"/>
                    <a:pt x="53340" y="332740"/>
                    <a:pt x="55880" y="340360"/>
                  </a:cubicBezTo>
                  <a:cubicBezTo>
                    <a:pt x="58420" y="347980"/>
                    <a:pt x="57150" y="360680"/>
                    <a:pt x="52070" y="365760"/>
                  </a:cubicBezTo>
                  <a:cubicBezTo>
                    <a:pt x="45720" y="373380"/>
                    <a:pt x="19050" y="377190"/>
                    <a:pt x="11430" y="370840"/>
                  </a:cubicBezTo>
                  <a:cubicBezTo>
                    <a:pt x="5080" y="367030"/>
                    <a:pt x="1270" y="350520"/>
                    <a:pt x="3810" y="339090"/>
                  </a:cubicBezTo>
                  <a:cubicBezTo>
                    <a:pt x="6350" y="323850"/>
                    <a:pt x="20320" y="308610"/>
                    <a:pt x="35560" y="293370"/>
                  </a:cubicBezTo>
                  <a:cubicBezTo>
                    <a:pt x="59690" y="267970"/>
                    <a:pt x="140970" y="233680"/>
                    <a:pt x="146050" y="210820"/>
                  </a:cubicBezTo>
                  <a:cubicBezTo>
                    <a:pt x="148590" y="198120"/>
                    <a:pt x="135890" y="185420"/>
                    <a:pt x="127000" y="175260"/>
                  </a:cubicBezTo>
                  <a:cubicBezTo>
                    <a:pt x="115570" y="162560"/>
                    <a:pt x="93980" y="158750"/>
                    <a:pt x="80010" y="142240"/>
                  </a:cubicBezTo>
                  <a:cubicBezTo>
                    <a:pt x="58420" y="119380"/>
                    <a:pt x="22860" y="63500"/>
                    <a:pt x="20320" y="38100"/>
                  </a:cubicBezTo>
                  <a:cubicBezTo>
                    <a:pt x="19050" y="24130"/>
                    <a:pt x="21590" y="8890"/>
                    <a:pt x="29210" y="3810"/>
                  </a:cubicBezTo>
                  <a:cubicBezTo>
                    <a:pt x="36830" y="0"/>
                    <a:pt x="66040" y="13970"/>
                    <a:pt x="66040" y="13970"/>
                  </a:cubicBezTo>
                </a:path>
              </a:pathLst>
            </a:custGeom>
            <a:solidFill>
              <a:srgbClr val="1E1E1E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5400000">
            <a:off x="13364065" y="7184764"/>
            <a:ext cx="218122" cy="356235"/>
            <a:chOff x="0" y="0"/>
            <a:chExt cx="290830" cy="47498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46990" y="46990"/>
              <a:ext cx="191770" cy="378460"/>
            </a:xfrm>
            <a:custGeom>
              <a:avLst/>
              <a:gdLst/>
              <a:ahLst/>
              <a:cxnLst/>
              <a:rect r="r" b="b" t="t" l="l"/>
              <a:pathLst>
                <a:path h="378460" w="191770">
                  <a:moveTo>
                    <a:pt x="66040" y="13970"/>
                  </a:moveTo>
                  <a:cubicBezTo>
                    <a:pt x="120650" y="121920"/>
                    <a:pt x="149860" y="123190"/>
                    <a:pt x="163830" y="138430"/>
                  </a:cubicBezTo>
                  <a:cubicBezTo>
                    <a:pt x="179070" y="153670"/>
                    <a:pt x="191770" y="179070"/>
                    <a:pt x="191770" y="198120"/>
                  </a:cubicBezTo>
                  <a:cubicBezTo>
                    <a:pt x="191770" y="217170"/>
                    <a:pt x="180340" y="233680"/>
                    <a:pt x="165100" y="252730"/>
                  </a:cubicBezTo>
                  <a:cubicBezTo>
                    <a:pt x="142240" y="285750"/>
                    <a:pt x="76200" y="351790"/>
                    <a:pt x="49530" y="368300"/>
                  </a:cubicBezTo>
                  <a:cubicBezTo>
                    <a:pt x="39370" y="374650"/>
                    <a:pt x="33020" y="378460"/>
                    <a:pt x="25400" y="377190"/>
                  </a:cubicBezTo>
                  <a:cubicBezTo>
                    <a:pt x="17780" y="375920"/>
                    <a:pt x="7620" y="369570"/>
                    <a:pt x="3810" y="361950"/>
                  </a:cubicBezTo>
                  <a:cubicBezTo>
                    <a:pt x="1270" y="355600"/>
                    <a:pt x="0" y="342900"/>
                    <a:pt x="5080" y="336550"/>
                  </a:cubicBezTo>
                  <a:cubicBezTo>
                    <a:pt x="10160" y="328930"/>
                    <a:pt x="26670" y="321310"/>
                    <a:pt x="35560" y="322580"/>
                  </a:cubicBezTo>
                  <a:cubicBezTo>
                    <a:pt x="43180" y="323850"/>
                    <a:pt x="53340" y="332740"/>
                    <a:pt x="55880" y="340360"/>
                  </a:cubicBezTo>
                  <a:cubicBezTo>
                    <a:pt x="58420" y="347980"/>
                    <a:pt x="57150" y="360680"/>
                    <a:pt x="52070" y="365760"/>
                  </a:cubicBezTo>
                  <a:cubicBezTo>
                    <a:pt x="45720" y="373380"/>
                    <a:pt x="19050" y="377190"/>
                    <a:pt x="11430" y="370840"/>
                  </a:cubicBezTo>
                  <a:cubicBezTo>
                    <a:pt x="5080" y="367030"/>
                    <a:pt x="1270" y="350520"/>
                    <a:pt x="3810" y="339090"/>
                  </a:cubicBezTo>
                  <a:cubicBezTo>
                    <a:pt x="6350" y="323850"/>
                    <a:pt x="20320" y="308610"/>
                    <a:pt x="35560" y="293370"/>
                  </a:cubicBezTo>
                  <a:cubicBezTo>
                    <a:pt x="59690" y="267970"/>
                    <a:pt x="140970" y="233680"/>
                    <a:pt x="146050" y="210820"/>
                  </a:cubicBezTo>
                  <a:cubicBezTo>
                    <a:pt x="148590" y="198120"/>
                    <a:pt x="135890" y="185420"/>
                    <a:pt x="127000" y="175260"/>
                  </a:cubicBezTo>
                  <a:cubicBezTo>
                    <a:pt x="115570" y="162560"/>
                    <a:pt x="93980" y="158750"/>
                    <a:pt x="80010" y="142240"/>
                  </a:cubicBezTo>
                  <a:cubicBezTo>
                    <a:pt x="58420" y="119380"/>
                    <a:pt x="22860" y="63500"/>
                    <a:pt x="20320" y="38100"/>
                  </a:cubicBezTo>
                  <a:cubicBezTo>
                    <a:pt x="19050" y="24130"/>
                    <a:pt x="21590" y="8890"/>
                    <a:pt x="29210" y="3810"/>
                  </a:cubicBezTo>
                  <a:cubicBezTo>
                    <a:pt x="36830" y="0"/>
                    <a:pt x="66040" y="13970"/>
                    <a:pt x="66040" y="13970"/>
                  </a:cubicBezTo>
                </a:path>
              </a:pathLst>
            </a:custGeom>
            <a:solidFill>
              <a:srgbClr val="1E1E1E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15918208" y="8902065"/>
            <a:ext cx="218122" cy="356235"/>
            <a:chOff x="0" y="0"/>
            <a:chExt cx="290830" cy="47498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46990" y="46990"/>
              <a:ext cx="191770" cy="378460"/>
            </a:xfrm>
            <a:custGeom>
              <a:avLst/>
              <a:gdLst/>
              <a:ahLst/>
              <a:cxnLst/>
              <a:rect r="r" b="b" t="t" l="l"/>
              <a:pathLst>
                <a:path h="378460" w="191770">
                  <a:moveTo>
                    <a:pt x="66040" y="13970"/>
                  </a:moveTo>
                  <a:cubicBezTo>
                    <a:pt x="120650" y="121920"/>
                    <a:pt x="149860" y="123190"/>
                    <a:pt x="163830" y="138430"/>
                  </a:cubicBezTo>
                  <a:cubicBezTo>
                    <a:pt x="179070" y="153670"/>
                    <a:pt x="191770" y="179070"/>
                    <a:pt x="191770" y="198120"/>
                  </a:cubicBezTo>
                  <a:cubicBezTo>
                    <a:pt x="191770" y="217170"/>
                    <a:pt x="180340" y="233680"/>
                    <a:pt x="165100" y="252730"/>
                  </a:cubicBezTo>
                  <a:cubicBezTo>
                    <a:pt x="142240" y="285750"/>
                    <a:pt x="76200" y="351790"/>
                    <a:pt x="49530" y="368300"/>
                  </a:cubicBezTo>
                  <a:cubicBezTo>
                    <a:pt x="39370" y="374650"/>
                    <a:pt x="33020" y="378460"/>
                    <a:pt x="25400" y="377190"/>
                  </a:cubicBezTo>
                  <a:cubicBezTo>
                    <a:pt x="17780" y="375920"/>
                    <a:pt x="7620" y="369570"/>
                    <a:pt x="3810" y="361950"/>
                  </a:cubicBezTo>
                  <a:cubicBezTo>
                    <a:pt x="1270" y="355600"/>
                    <a:pt x="0" y="342900"/>
                    <a:pt x="5080" y="336550"/>
                  </a:cubicBezTo>
                  <a:cubicBezTo>
                    <a:pt x="10160" y="328930"/>
                    <a:pt x="26670" y="321310"/>
                    <a:pt x="35560" y="322580"/>
                  </a:cubicBezTo>
                  <a:cubicBezTo>
                    <a:pt x="43180" y="323850"/>
                    <a:pt x="53340" y="332740"/>
                    <a:pt x="55880" y="340360"/>
                  </a:cubicBezTo>
                  <a:cubicBezTo>
                    <a:pt x="58420" y="347980"/>
                    <a:pt x="57150" y="360680"/>
                    <a:pt x="52070" y="365760"/>
                  </a:cubicBezTo>
                  <a:cubicBezTo>
                    <a:pt x="45720" y="373380"/>
                    <a:pt x="19050" y="377190"/>
                    <a:pt x="11430" y="370840"/>
                  </a:cubicBezTo>
                  <a:cubicBezTo>
                    <a:pt x="5080" y="367030"/>
                    <a:pt x="1270" y="350520"/>
                    <a:pt x="3810" y="339090"/>
                  </a:cubicBezTo>
                  <a:cubicBezTo>
                    <a:pt x="6350" y="323850"/>
                    <a:pt x="20320" y="308610"/>
                    <a:pt x="35560" y="293370"/>
                  </a:cubicBezTo>
                  <a:cubicBezTo>
                    <a:pt x="59690" y="267970"/>
                    <a:pt x="140970" y="233680"/>
                    <a:pt x="146050" y="210820"/>
                  </a:cubicBezTo>
                  <a:cubicBezTo>
                    <a:pt x="148590" y="198120"/>
                    <a:pt x="135890" y="185420"/>
                    <a:pt x="127000" y="175260"/>
                  </a:cubicBezTo>
                  <a:cubicBezTo>
                    <a:pt x="115570" y="162560"/>
                    <a:pt x="93980" y="158750"/>
                    <a:pt x="80010" y="142240"/>
                  </a:cubicBezTo>
                  <a:cubicBezTo>
                    <a:pt x="58420" y="119380"/>
                    <a:pt x="22860" y="63500"/>
                    <a:pt x="20320" y="38100"/>
                  </a:cubicBezTo>
                  <a:cubicBezTo>
                    <a:pt x="19050" y="24130"/>
                    <a:pt x="21590" y="8890"/>
                    <a:pt x="29210" y="3810"/>
                  </a:cubicBezTo>
                  <a:cubicBezTo>
                    <a:pt x="36830" y="0"/>
                    <a:pt x="66040" y="13970"/>
                    <a:pt x="66040" y="13970"/>
                  </a:cubicBezTo>
                </a:path>
              </a:pathLst>
            </a:custGeom>
            <a:solidFill>
              <a:srgbClr val="1E1E1E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10725600">
            <a:off x="15700086" y="6727209"/>
            <a:ext cx="218122" cy="356235"/>
            <a:chOff x="0" y="0"/>
            <a:chExt cx="290830" cy="47498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46990" y="46990"/>
              <a:ext cx="191770" cy="378460"/>
            </a:xfrm>
            <a:custGeom>
              <a:avLst/>
              <a:gdLst/>
              <a:ahLst/>
              <a:cxnLst/>
              <a:rect r="r" b="b" t="t" l="l"/>
              <a:pathLst>
                <a:path h="378460" w="191770">
                  <a:moveTo>
                    <a:pt x="66040" y="13970"/>
                  </a:moveTo>
                  <a:cubicBezTo>
                    <a:pt x="120650" y="121920"/>
                    <a:pt x="149860" y="123190"/>
                    <a:pt x="163830" y="138430"/>
                  </a:cubicBezTo>
                  <a:cubicBezTo>
                    <a:pt x="179070" y="153670"/>
                    <a:pt x="191770" y="179070"/>
                    <a:pt x="191770" y="198120"/>
                  </a:cubicBezTo>
                  <a:cubicBezTo>
                    <a:pt x="191770" y="217170"/>
                    <a:pt x="180340" y="233680"/>
                    <a:pt x="165100" y="252730"/>
                  </a:cubicBezTo>
                  <a:cubicBezTo>
                    <a:pt x="142240" y="285750"/>
                    <a:pt x="76200" y="351790"/>
                    <a:pt x="49530" y="368300"/>
                  </a:cubicBezTo>
                  <a:cubicBezTo>
                    <a:pt x="39370" y="374650"/>
                    <a:pt x="33020" y="378460"/>
                    <a:pt x="25400" y="377190"/>
                  </a:cubicBezTo>
                  <a:cubicBezTo>
                    <a:pt x="17780" y="375920"/>
                    <a:pt x="7620" y="369570"/>
                    <a:pt x="3810" y="361950"/>
                  </a:cubicBezTo>
                  <a:cubicBezTo>
                    <a:pt x="1270" y="355600"/>
                    <a:pt x="0" y="342900"/>
                    <a:pt x="5080" y="336550"/>
                  </a:cubicBezTo>
                  <a:cubicBezTo>
                    <a:pt x="10160" y="328930"/>
                    <a:pt x="26670" y="321310"/>
                    <a:pt x="35560" y="322580"/>
                  </a:cubicBezTo>
                  <a:cubicBezTo>
                    <a:pt x="43180" y="323850"/>
                    <a:pt x="53340" y="332740"/>
                    <a:pt x="55880" y="340360"/>
                  </a:cubicBezTo>
                  <a:cubicBezTo>
                    <a:pt x="58420" y="347980"/>
                    <a:pt x="57150" y="360680"/>
                    <a:pt x="52070" y="365760"/>
                  </a:cubicBezTo>
                  <a:cubicBezTo>
                    <a:pt x="45720" y="373380"/>
                    <a:pt x="19050" y="377190"/>
                    <a:pt x="11430" y="370840"/>
                  </a:cubicBezTo>
                  <a:cubicBezTo>
                    <a:pt x="5080" y="367030"/>
                    <a:pt x="1270" y="350520"/>
                    <a:pt x="3810" y="339090"/>
                  </a:cubicBezTo>
                  <a:cubicBezTo>
                    <a:pt x="6350" y="323850"/>
                    <a:pt x="20320" y="308610"/>
                    <a:pt x="35560" y="293370"/>
                  </a:cubicBezTo>
                  <a:cubicBezTo>
                    <a:pt x="59690" y="267970"/>
                    <a:pt x="140970" y="233680"/>
                    <a:pt x="146050" y="210820"/>
                  </a:cubicBezTo>
                  <a:cubicBezTo>
                    <a:pt x="148590" y="198120"/>
                    <a:pt x="135890" y="185420"/>
                    <a:pt x="127000" y="175260"/>
                  </a:cubicBezTo>
                  <a:cubicBezTo>
                    <a:pt x="115570" y="162560"/>
                    <a:pt x="93980" y="158750"/>
                    <a:pt x="80010" y="142240"/>
                  </a:cubicBezTo>
                  <a:cubicBezTo>
                    <a:pt x="58420" y="119380"/>
                    <a:pt x="22860" y="63500"/>
                    <a:pt x="20320" y="38100"/>
                  </a:cubicBezTo>
                  <a:cubicBezTo>
                    <a:pt x="19050" y="24130"/>
                    <a:pt x="21590" y="8890"/>
                    <a:pt x="29210" y="3810"/>
                  </a:cubicBezTo>
                  <a:cubicBezTo>
                    <a:pt x="36830" y="0"/>
                    <a:pt x="66040" y="13970"/>
                    <a:pt x="66040" y="13970"/>
                  </a:cubicBezTo>
                </a:path>
              </a:pathLst>
            </a:custGeom>
            <a:solidFill>
              <a:srgbClr val="1E1E1E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52" id="52"/>
          <p:cNvSpPr/>
          <p:nvPr/>
        </p:nvSpPr>
        <p:spPr>
          <a:xfrm flipH="false" flipV="false" rot="0">
            <a:off x="522526" y="546970"/>
            <a:ext cx="1012349" cy="942750"/>
          </a:xfrm>
          <a:custGeom>
            <a:avLst/>
            <a:gdLst/>
            <a:ahLst/>
            <a:cxnLst/>
            <a:rect r="r" b="b" t="t" l="l"/>
            <a:pathLst>
              <a:path h="942750" w="1012349">
                <a:moveTo>
                  <a:pt x="0" y="0"/>
                </a:moveTo>
                <a:lnTo>
                  <a:pt x="1012348" y="0"/>
                </a:lnTo>
                <a:lnTo>
                  <a:pt x="1012348" y="942750"/>
                </a:lnTo>
                <a:lnTo>
                  <a:pt x="0" y="9427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80822" y="1782091"/>
            <a:ext cx="10386396" cy="8361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sz="2799" spc="-41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Realistic output: The final synthetic dataset mirrors real spending distributions (categories, amounts, timing) as observed in actual financial data.</a:t>
            </a:r>
          </a:p>
          <a:p>
            <a:pPr algn="l">
              <a:lnSpc>
                <a:spcPts val="4199"/>
              </a:lnSpc>
            </a:pPr>
          </a:p>
          <a:p>
            <a:pPr algn="l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sz="2799" spc="-41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Only ~2–3 feedback iterations were needed for the GAN to internalize the LLM’s domain knowledge, yielding highly plausible transactions.</a:t>
            </a:r>
          </a:p>
          <a:p>
            <a:pPr algn="l">
              <a:lnSpc>
                <a:spcPts val="4199"/>
              </a:lnSpc>
            </a:pPr>
          </a:p>
          <a:p>
            <a:pPr algn="l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sz="2799" spc="-41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Examples: Generated customer profiles have sensible attributes (e.g. 30-year-old, $75k income, family of 3) and their transactions look authentic (e.g. ~$150 at a local grocery store).</a:t>
            </a:r>
          </a:p>
          <a:p>
            <a:pPr algn="l">
              <a:lnSpc>
                <a:spcPts val="4199"/>
              </a:lnSpc>
            </a:pPr>
          </a:p>
          <a:p>
            <a:pPr algn="l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sz="2799" spc="-41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Privacy ensured: No real user data was used, yet models trained on this synthetic data perform well due to its realism.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78059" y="368689"/>
            <a:ext cx="9359699" cy="1386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1"/>
              </a:lnSpc>
            </a:pPr>
            <a:r>
              <a:rPr lang="en-US" sz="5587" spc="-139">
                <a:solidFill>
                  <a:srgbClr val="0E4714"/>
                </a:solidFill>
                <a:latin typeface="Times New Roman Condensed"/>
                <a:ea typeface="Times New Roman Condensed"/>
                <a:cs typeface="Times New Roman Condensed"/>
                <a:sym typeface="Times New Roman Condensed"/>
              </a:rPr>
              <a:t>SYNTHETIC DATA GENERATOR – SAMPLE RESULTS</a:t>
            </a:r>
          </a:p>
        </p:txBody>
      </p:sp>
      <p:sp>
        <p:nvSpPr>
          <p:cNvPr name="Freeform 4" id="4"/>
          <p:cNvSpPr/>
          <p:nvPr/>
        </p:nvSpPr>
        <p:spPr>
          <a:xfrm flipH="true" flipV="false" rot="0">
            <a:off x="9550459" y="-214080"/>
            <a:ext cx="28550447" cy="11313545"/>
          </a:xfrm>
          <a:custGeom>
            <a:avLst/>
            <a:gdLst/>
            <a:ahLst/>
            <a:cxnLst/>
            <a:rect r="r" b="b" t="t" l="l"/>
            <a:pathLst>
              <a:path h="11313545" w="28550447">
                <a:moveTo>
                  <a:pt x="28550447" y="0"/>
                </a:moveTo>
                <a:lnTo>
                  <a:pt x="0" y="0"/>
                </a:lnTo>
                <a:lnTo>
                  <a:pt x="0" y="11313545"/>
                </a:lnTo>
                <a:lnTo>
                  <a:pt x="28550447" y="11313545"/>
                </a:lnTo>
                <a:lnTo>
                  <a:pt x="2855044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9969" r="0" b="-59256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6200" y="302014"/>
            <a:ext cx="1012349" cy="942750"/>
          </a:xfrm>
          <a:custGeom>
            <a:avLst/>
            <a:gdLst/>
            <a:ahLst/>
            <a:cxnLst/>
            <a:rect r="r" b="b" t="t" l="l"/>
            <a:pathLst>
              <a:path h="942750" w="1012349">
                <a:moveTo>
                  <a:pt x="0" y="0"/>
                </a:moveTo>
                <a:lnTo>
                  <a:pt x="1012349" y="0"/>
                </a:lnTo>
                <a:lnTo>
                  <a:pt x="1012349" y="942750"/>
                </a:lnTo>
                <a:lnTo>
                  <a:pt x="0" y="9427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89693" y="517017"/>
            <a:ext cx="16230600" cy="1094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3"/>
              </a:lnSpc>
            </a:pPr>
            <a:r>
              <a:rPr lang="en-US" sz="7820" spc="-195">
                <a:solidFill>
                  <a:srgbClr val="0E4714"/>
                </a:solidFill>
                <a:latin typeface="Times New Roman Condensed"/>
                <a:ea typeface="Times New Roman Condensed"/>
                <a:cs typeface="Times New Roman Condensed"/>
                <a:sym typeface="Times New Roman Condensed"/>
              </a:rPr>
              <a:t>BUDGET CLASSIFICATION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1919317" y="-1884868"/>
            <a:ext cx="8434028" cy="6114306"/>
          </a:xfrm>
          <a:custGeom>
            <a:avLst/>
            <a:gdLst/>
            <a:ahLst/>
            <a:cxnLst/>
            <a:rect r="r" b="b" t="t" l="l"/>
            <a:pathLst>
              <a:path h="6114306" w="8434028">
                <a:moveTo>
                  <a:pt x="0" y="0"/>
                </a:moveTo>
                <a:lnTo>
                  <a:pt x="8434028" y="0"/>
                </a:lnTo>
                <a:lnTo>
                  <a:pt x="8434028" y="6114305"/>
                </a:lnTo>
                <a:lnTo>
                  <a:pt x="0" y="61143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93483" r="-128662" b="-5254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761244" y="4152595"/>
            <a:ext cx="1327105" cy="1327105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4714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28"/>
                </a:lnSpc>
              </a:pPr>
              <a:r>
                <a:rPr lang="en-US" sz="2663">
                  <a:solidFill>
                    <a:srgbClr val="FFFFFF"/>
                  </a:solidFill>
                  <a:latin typeface="Gotham"/>
                  <a:ea typeface="Gotham"/>
                  <a:cs typeface="Gotham"/>
                  <a:sym typeface="Gotham"/>
                </a:rPr>
                <a:t>User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3762435" y="3212180"/>
            <a:ext cx="2906934" cy="1189926"/>
            <a:chOff x="0" y="0"/>
            <a:chExt cx="765612" cy="31339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65612" cy="313396"/>
            </a:xfrm>
            <a:custGeom>
              <a:avLst/>
              <a:gdLst/>
              <a:ahLst/>
              <a:cxnLst/>
              <a:rect r="r" b="b" t="t" l="l"/>
              <a:pathLst>
                <a:path h="313396" w="765612">
                  <a:moveTo>
                    <a:pt x="45275" y="0"/>
                  </a:moveTo>
                  <a:lnTo>
                    <a:pt x="720337" y="0"/>
                  </a:lnTo>
                  <a:cubicBezTo>
                    <a:pt x="745342" y="0"/>
                    <a:pt x="765612" y="20270"/>
                    <a:pt x="765612" y="45275"/>
                  </a:cubicBezTo>
                  <a:lnTo>
                    <a:pt x="765612" y="268121"/>
                  </a:lnTo>
                  <a:cubicBezTo>
                    <a:pt x="765612" y="293126"/>
                    <a:pt x="745342" y="313396"/>
                    <a:pt x="720337" y="313396"/>
                  </a:cubicBezTo>
                  <a:lnTo>
                    <a:pt x="45275" y="313396"/>
                  </a:lnTo>
                  <a:cubicBezTo>
                    <a:pt x="20270" y="313396"/>
                    <a:pt x="0" y="293126"/>
                    <a:pt x="0" y="268121"/>
                  </a:cubicBezTo>
                  <a:lnTo>
                    <a:pt x="0" y="45275"/>
                  </a:lnTo>
                  <a:cubicBezTo>
                    <a:pt x="0" y="20270"/>
                    <a:pt x="20270" y="0"/>
                    <a:pt x="45275" y="0"/>
                  </a:cubicBezTo>
                  <a:close/>
                </a:path>
              </a:pathLst>
            </a:custGeom>
            <a:solidFill>
              <a:srgbClr val="0E4714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765612" cy="3610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8"/>
                </a:lnSpc>
              </a:pPr>
              <a:r>
                <a:rPr lang="en-US" sz="1863">
                  <a:solidFill>
                    <a:srgbClr val="FFFFFF"/>
                  </a:solidFill>
                  <a:latin typeface="Gotham"/>
                  <a:ea typeface="Gotham"/>
                  <a:cs typeface="Gotham"/>
                  <a:sym typeface="Gotham"/>
                </a:rPr>
                <a:t>User Inputs Demographics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490786" y="5591287"/>
            <a:ext cx="2673845" cy="1111428"/>
            <a:chOff x="0" y="0"/>
            <a:chExt cx="704223" cy="29272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04223" cy="292722"/>
            </a:xfrm>
            <a:custGeom>
              <a:avLst/>
              <a:gdLst/>
              <a:ahLst/>
              <a:cxnLst/>
              <a:rect r="r" b="b" t="t" l="l"/>
              <a:pathLst>
                <a:path h="292722" w="704223">
                  <a:moveTo>
                    <a:pt x="49222" y="0"/>
                  </a:moveTo>
                  <a:lnTo>
                    <a:pt x="655000" y="0"/>
                  </a:lnTo>
                  <a:cubicBezTo>
                    <a:pt x="668055" y="0"/>
                    <a:pt x="680575" y="5186"/>
                    <a:pt x="689806" y="14417"/>
                  </a:cubicBezTo>
                  <a:cubicBezTo>
                    <a:pt x="699037" y="23648"/>
                    <a:pt x="704223" y="36168"/>
                    <a:pt x="704223" y="49222"/>
                  </a:cubicBezTo>
                  <a:lnTo>
                    <a:pt x="704223" y="243500"/>
                  </a:lnTo>
                  <a:cubicBezTo>
                    <a:pt x="704223" y="270684"/>
                    <a:pt x="682185" y="292722"/>
                    <a:pt x="655000" y="292722"/>
                  </a:cubicBezTo>
                  <a:lnTo>
                    <a:pt x="49222" y="292722"/>
                  </a:lnTo>
                  <a:cubicBezTo>
                    <a:pt x="22038" y="292722"/>
                    <a:pt x="0" y="270684"/>
                    <a:pt x="0" y="243500"/>
                  </a:cubicBezTo>
                  <a:lnTo>
                    <a:pt x="0" y="49222"/>
                  </a:lnTo>
                  <a:cubicBezTo>
                    <a:pt x="0" y="22038"/>
                    <a:pt x="22038" y="0"/>
                    <a:pt x="49222" y="0"/>
                  </a:cubicBezTo>
                  <a:close/>
                </a:path>
              </a:pathLst>
            </a:custGeom>
            <a:solidFill>
              <a:srgbClr val="0E4714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704223" cy="3403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8"/>
                </a:lnSpc>
              </a:pPr>
              <a:r>
                <a:rPr lang="en-US" sz="1863">
                  <a:solidFill>
                    <a:srgbClr val="FFFFFF"/>
                  </a:solidFill>
                  <a:latin typeface="Gotham"/>
                  <a:ea typeface="Gotham"/>
                  <a:cs typeface="Gotham"/>
                  <a:sym typeface="Gotham"/>
                </a:rPr>
                <a:t>Uploads Credit Card Statement (pdf)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3762435" y="7273920"/>
            <a:ext cx="2130548" cy="1204857"/>
            <a:chOff x="0" y="0"/>
            <a:chExt cx="561132" cy="31732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61132" cy="317328"/>
            </a:xfrm>
            <a:custGeom>
              <a:avLst/>
              <a:gdLst/>
              <a:ahLst/>
              <a:cxnLst/>
              <a:rect r="r" b="b" t="t" l="l"/>
              <a:pathLst>
                <a:path h="317328" w="561132">
                  <a:moveTo>
                    <a:pt x="61774" y="0"/>
                  </a:moveTo>
                  <a:lnTo>
                    <a:pt x="499358" y="0"/>
                  </a:lnTo>
                  <a:cubicBezTo>
                    <a:pt x="533475" y="0"/>
                    <a:pt x="561132" y="27657"/>
                    <a:pt x="561132" y="61774"/>
                  </a:cubicBezTo>
                  <a:lnTo>
                    <a:pt x="561132" y="255554"/>
                  </a:lnTo>
                  <a:cubicBezTo>
                    <a:pt x="561132" y="289671"/>
                    <a:pt x="533475" y="317328"/>
                    <a:pt x="499358" y="317328"/>
                  </a:cubicBezTo>
                  <a:lnTo>
                    <a:pt x="61774" y="317328"/>
                  </a:lnTo>
                  <a:cubicBezTo>
                    <a:pt x="27657" y="317328"/>
                    <a:pt x="0" y="289671"/>
                    <a:pt x="0" y="255554"/>
                  </a:cubicBezTo>
                  <a:lnTo>
                    <a:pt x="0" y="61774"/>
                  </a:lnTo>
                  <a:cubicBezTo>
                    <a:pt x="0" y="27657"/>
                    <a:pt x="27657" y="0"/>
                    <a:pt x="61774" y="0"/>
                  </a:cubicBezTo>
                  <a:close/>
                </a:path>
              </a:pathLst>
            </a:custGeom>
            <a:solidFill>
              <a:srgbClr val="0E4714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561132" cy="3649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8"/>
                </a:lnSpc>
              </a:pPr>
              <a:r>
                <a:rPr lang="en-US" sz="1863">
                  <a:solidFill>
                    <a:srgbClr val="FFFFFF"/>
                  </a:solidFill>
                  <a:latin typeface="Gotham"/>
                  <a:ea typeface="Gotham"/>
                  <a:cs typeface="Gotham"/>
                  <a:sym typeface="Gotham"/>
                </a:rPr>
                <a:t>Transaction Extraction (OCR)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7751708" y="5683353"/>
            <a:ext cx="3706569" cy="1202374"/>
            <a:chOff x="0" y="0"/>
            <a:chExt cx="976216" cy="31667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76216" cy="316675"/>
            </a:xfrm>
            <a:custGeom>
              <a:avLst/>
              <a:gdLst/>
              <a:ahLst/>
              <a:cxnLst/>
              <a:rect r="r" b="b" t="t" l="l"/>
              <a:pathLst>
                <a:path h="316675" w="976216">
                  <a:moveTo>
                    <a:pt x="35508" y="0"/>
                  </a:moveTo>
                  <a:lnTo>
                    <a:pt x="940708" y="0"/>
                  </a:lnTo>
                  <a:cubicBezTo>
                    <a:pt x="960318" y="0"/>
                    <a:pt x="976216" y="15897"/>
                    <a:pt x="976216" y="35508"/>
                  </a:cubicBezTo>
                  <a:lnTo>
                    <a:pt x="976216" y="281167"/>
                  </a:lnTo>
                  <a:cubicBezTo>
                    <a:pt x="976216" y="290584"/>
                    <a:pt x="972475" y="299616"/>
                    <a:pt x="965816" y="306275"/>
                  </a:cubicBezTo>
                  <a:cubicBezTo>
                    <a:pt x="959157" y="312934"/>
                    <a:pt x="950125" y="316675"/>
                    <a:pt x="940708" y="316675"/>
                  </a:cubicBezTo>
                  <a:lnTo>
                    <a:pt x="35508" y="316675"/>
                  </a:lnTo>
                  <a:cubicBezTo>
                    <a:pt x="26091" y="316675"/>
                    <a:pt x="17059" y="312934"/>
                    <a:pt x="10400" y="306275"/>
                  </a:cubicBezTo>
                  <a:cubicBezTo>
                    <a:pt x="3741" y="299616"/>
                    <a:pt x="0" y="290584"/>
                    <a:pt x="0" y="281167"/>
                  </a:cubicBezTo>
                  <a:lnTo>
                    <a:pt x="0" y="35508"/>
                  </a:lnTo>
                  <a:cubicBezTo>
                    <a:pt x="0" y="26091"/>
                    <a:pt x="3741" y="17059"/>
                    <a:pt x="10400" y="10400"/>
                  </a:cubicBezTo>
                  <a:cubicBezTo>
                    <a:pt x="17059" y="3741"/>
                    <a:pt x="26091" y="0"/>
                    <a:pt x="35508" y="0"/>
                  </a:cubicBezTo>
                  <a:close/>
                </a:path>
              </a:pathLst>
            </a:custGeom>
            <a:solidFill>
              <a:srgbClr val="0E4714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976216" cy="364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8"/>
                </a:lnSpc>
              </a:pPr>
              <a:r>
                <a:rPr lang="en-US" sz="1863">
                  <a:solidFill>
                    <a:srgbClr val="FFFFFF"/>
                  </a:solidFill>
                  <a:latin typeface="Gotham"/>
                  <a:ea typeface="Gotham"/>
                  <a:cs typeface="Gotham"/>
                  <a:sym typeface="Gotham"/>
                </a:rPr>
                <a:t>Groq API (LLaMa3-8b-8192)</a:t>
              </a:r>
            </a:p>
            <a:p>
              <a:pPr algn="ctr">
                <a:lnSpc>
                  <a:spcPts val="2608"/>
                </a:lnSpc>
              </a:pPr>
              <a:r>
                <a:rPr lang="en-US" sz="1863">
                  <a:solidFill>
                    <a:srgbClr val="FFFFFF"/>
                  </a:solidFill>
                  <a:latin typeface="Gotham"/>
                  <a:ea typeface="Gotham"/>
                  <a:cs typeface="Gotham"/>
                  <a:sym typeface="Gotham"/>
                </a:rPr>
                <a:t>Custom Prompt Engineering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7919368" y="3189784"/>
            <a:ext cx="2190270" cy="1234718"/>
            <a:chOff x="0" y="0"/>
            <a:chExt cx="576861" cy="32519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76861" cy="325193"/>
            </a:xfrm>
            <a:custGeom>
              <a:avLst/>
              <a:gdLst/>
              <a:ahLst/>
              <a:cxnLst/>
              <a:rect r="r" b="b" t="t" l="l"/>
              <a:pathLst>
                <a:path h="325193" w="576861">
                  <a:moveTo>
                    <a:pt x="60090" y="0"/>
                  </a:moveTo>
                  <a:lnTo>
                    <a:pt x="516772" y="0"/>
                  </a:lnTo>
                  <a:cubicBezTo>
                    <a:pt x="549958" y="0"/>
                    <a:pt x="576861" y="26903"/>
                    <a:pt x="576861" y="60090"/>
                  </a:cubicBezTo>
                  <a:lnTo>
                    <a:pt x="576861" y="265103"/>
                  </a:lnTo>
                  <a:cubicBezTo>
                    <a:pt x="576861" y="298290"/>
                    <a:pt x="549958" y="325193"/>
                    <a:pt x="516772" y="325193"/>
                  </a:cubicBezTo>
                  <a:lnTo>
                    <a:pt x="60090" y="325193"/>
                  </a:lnTo>
                  <a:cubicBezTo>
                    <a:pt x="26903" y="325193"/>
                    <a:pt x="0" y="298290"/>
                    <a:pt x="0" y="265103"/>
                  </a:cubicBezTo>
                  <a:lnTo>
                    <a:pt x="0" y="60090"/>
                  </a:lnTo>
                  <a:cubicBezTo>
                    <a:pt x="0" y="26903"/>
                    <a:pt x="26903" y="0"/>
                    <a:pt x="60090" y="0"/>
                  </a:cubicBezTo>
                  <a:close/>
                </a:path>
              </a:pathLst>
            </a:custGeom>
            <a:solidFill>
              <a:srgbClr val="0E4714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576861" cy="3728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8"/>
                </a:lnSpc>
              </a:pPr>
              <a:r>
                <a:rPr lang="en-US" sz="1863">
                  <a:solidFill>
                    <a:srgbClr val="FFFFFF"/>
                  </a:solidFill>
                  <a:latin typeface="Gotham"/>
                  <a:ea typeface="Gotham"/>
                  <a:cs typeface="Gotham"/>
                  <a:sym typeface="Gotham"/>
                </a:rPr>
                <a:t>Generates Synthetic Data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7751708" y="7235262"/>
            <a:ext cx="3706569" cy="1295283"/>
            <a:chOff x="0" y="0"/>
            <a:chExt cx="976216" cy="34114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76216" cy="341144"/>
            </a:xfrm>
            <a:custGeom>
              <a:avLst/>
              <a:gdLst/>
              <a:ahLst/>
              <a:cxnLst/>
              <a:rect r="r" b="b" t="t" l="l"/>
              <a:pathLst>
                <a:path h="341144" w="976216">
                  <a:moveTo>
                    <a:pt x="35508" y="0"/>
                  </a:moveTo>
                  <a:lnTo>
                    <a:pt x="940708" y="0"/>
                  </a:lnTo>
                  <a:cubicBezTo>
                    <a:pt x="960318" y="0"/>
                    <a:pt x="976216" y="15897"/>
                    <a:pt x="976216" y="35508"/>
                  </a:cubicBezTo>
                  <a:lnTo>
                    <a:pt x="976216" y="305637"/>
                  </a:lnTo>
                  <a:cubicBezTo>
                    <a:pt x="976216" y="315054"/>
                    <a:pt x="972475" y="324085"/>
                    <a:pt x="965816" y="330744"/>
                  </a:cubicBezTo>
                  <a:cubicBezTo>
                    <a:pt x="959157" y="337403"/>
                    <a:pt x="950125" y="341144"/>
                    <a:pt x="940708" y="341144"/>
                  </a:cubicBezTo>
                  <a:lnTo>
                    <a:pt x="35508" y="341144"/>
                  </a:lnTo>
                  <a:cubicBezTo>
                    <a:pt x="26091" y="341144"/>
                    <a:pt x="17059" y="337403"/>
                    <a:pt x="10400" y="330744"/>
                  </a:cubicBezTo>
                  <a:cubicBezTo>
                    <a:pt x="3741" y="324085"/>
                    <a:pt x="0" y="315054"/>
                    <a:pt x="0" y="305637"/>
                  </a:cubicBezTo>
                  <a:lnTo>
                    <a:pt x="0" y="35508"/>
                  </a:lnTo>
                  <a:cubicBezTo>
                    <a:pt x="0" y="26091"/>
                    <a:pt x="3741" y="17059"/>
                    <a:pt x="10400" y="10400"/>
                  </a:cubicBezTo>
                  <a:cubicBezTo>
                    <a:pt x="17059" y="3741"/>
                    <a:pt x="26091" y="0"/>
                    <a:pt x="35508" y="0"/>
                  </a:cubicBezTo>
                  <a:close/>
                </a:path>
              </a:pathLst>
            </a:custGeom>
            <a:solidFill>
              <a:srgbClr val="0E4714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976216" cy="3887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8"/>
                </a:lnSpc>
              </a:pPr>
              <a:r>
                <a:rPr lang="en-US" sz="1863">
                  <a:solidFill>
                    <a:srgbClr val="FFFFFF"/>
                  </a:solidFill>
                  <a:latin typeface="Gotham"/>
                  <a:ea typeface="Gotham"/>
                  <a:cs typeface="Gotham"/>
                  <a:sym typeface="Gotham"/>
                </a:rPr>
                <a:t>LLM Categories stores into buckets: Food, Grocery, etc.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3048952" y="6284540"/>
            <a:ext cx="2701417" cy="1111428"/>
            <a:chOff x="0" y="0"/>
            <a:chExt cx="711484" cy="29272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11484" cy="292722"/>
            </a:xfrm>
            <a:custGeom>
              <a:avLst/>
              <a:gdLst/>
              <a:ahLst/>
              <a:cxnLst/>
              <a:rect r="r" b="b" t="t" l="l"/>
              <a:pathLst>
                <a:path h="292722" w="711484">
                  <a:moveTo>
                    <a:pt x="48720" y="0"/>
                  </a:moveTo>
                  <a:lnTo>
                    <a:pt x="662765" y="0"/>
                  </a:lnTo>
                  <a:cubicBezTo>
                    <a:pt x="675686" y="0"/>
                    <a:pt x="688078" y="5133"/>
                    <a:pt x="697215" y="14270"/>
                  </a:cubicBezTo>
                  <a:cubicBezTo>
                    <a:pt x="706351" y="23406"/>
                    <a:pt x="711484" y="35799"/>
                    <a:pt x="711484" y="48720"/>
                  </a:cubicBezTo>
                  <a:lnTo>
                    <a:pt x="711484" y="244002"/>
                  </a:lnTo>
                  <a:cubicBezTo>
                    <a:pt x="711484" y="270909"/>
                    <a:pt x="689672" y="292722"/>
                    <a:pt x="662765" y="292722"/>
                  </a:cubicBezTo>
                  <a:lnTo>
                    <a:pt x="48720" y="292722"/>
                  </a:lnTo>
                  <a:cubicBezTo>
                    <a:pt x="35799" y="292722"/>
                    <a:pt x="23406" y="287589"/>
                    <a:pt x="14270" y="278452"/>
                  </a:cubicBezTo>
                  <a:cubicBezTo>
                    <a:pt x="5133" y="269315"/>
                    <a:pt x="0" y="256923"/>
                    <a:pt x="0" y="244002"/>
                  </a:cubicBezTo>
                  <a:lnTo>
                    <a:pt x="0" y="48720"/>
                  </a:lnTo>
                  <a:cubicBezTo>
                    <a:pt x="0" y="35799"/>
                    <a:pt x="5133" y="23406"/>
                    <a:pt x="14270" y="14270"/>
                  </a:cubicBezTo>
                  <a:cubicBezTo>
                    <a:pt x="23406" y="5133"/>
                    <a:pt x="35799" y="0"/>
                    <a:pt x="48720" y="0"/>
                  </a:cubicBezTo>
                  <a:close/>
                </a:path>
              </a:pathLst>
            </a:custGeom>
            <a:solidFill>
              <a:srgbClr val="0E4714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711484" cy="3403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8"/>
                </a:lnSpc>
              </a:pPr>
              <a:r>
                <a:rPr lang="en-US" sz="1863">
                  <a:solidFill>
                    <a:srgbClr val="FFFFFF"/>
                  </a:solidFill>
                  <a:latin typeface="Gotham"/>
                  <a:ea typeface="Gotham"/>
                  <a:cs typeface="Gotham"/>
                  <a:sym typeface="Gotham"/>
                </a:rPr>
                <a:t>Categorized Spending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2055812" y="3523266"/>
            <a:ext cx="2552357" cy="1258657"/>
            <a:chOff x="0" y="0"/>
            <a:chExt cx="672226" cy="33149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72226" cy="331498"/>
            </a:xfrm>
            <a:custGeom>
              <a:avLst/>
              <a:gdLst/>
              <a:ahLst/>
              <a:cxnLst/>
              <a:rect r="r" b="b" t="t" l="l"/>
              <a:pathLst>
                <a:path h="331498" w="672226">
                  <a:moveTo>
                    <a:pt x="51565" y="0"/>
                  </a:moveTo>
                  <a:lnTo>
                    <a:pt x="620660" y="0"/>
                  </a:lnTo>
                  <a:cubicBezTo>
                    <a:pt x="649139" y="0"/>
                    <a:pt x="672226" y="23087"/>
                    <a:pt x="672226" y="51565"/>
                  </a:cubicBezTo>
                  <a:lnTo>
                    <a:pt x="672226" y="279933"/>
                  </a:lnTo>
                  <a:cubicBezTo>
                    <a:pt x="672226" y="293609"/>
                    <a:pt x="666793" y="306725"/>
                    <a:pt x="657123" y="316395"/>
                  </a:cubicBezTo>
                  <a:cubicBezTo>
                    <a:pt x="647452" y="326066"/>
                    <a:pt x="634336" y="331498"/>
                    <a:pt x="620660" y="331498"/>
                  </a:cubicBezTo>
                  <a:lnTo>
                    <a:pt x="51565" y="331498"/>
                  </a:lnTo>
                  <a:cubicBezTo>
                    <a:pt x="37889" y="331498"/>
                    <a:pt x="24773" y="326066"/>
                    <a:pt x="15103" y="316395"/>
                  </a:cubicBezTo>
                  <a:cubicBezTo>
                    <a:pt x="5433" y="306725"/>
                    <a:pt x="0" y="293609"/>
                    <a:pt x="0" y="279933"/>
                  </a:cubicBezTo>
                  <a:lnTo>
                    <a:pt x="0" y="51565"/>
                  </a:lnTo>
                  <a:cubicBezTo>
                    <a:pt x="0" y="37889"/>
                    <a:pt x="5433" y="24773"/>
                    <a:pt x="15103" y="15103"/>
                  </a:cubicBezTo>
                  <a:cubicBezTo>
                    <a:pt x="24773" y="5433"/>
                    <a:pt x="37889" y="0"/>
                    <a:pt x="51565" y="0"/>
                  </a:cubicBezTo>
                  <a:close/>
                </a:path>
              </a:pathLst>
            </a:custGeom>
            <a:solidFill>
              <a:srgbClr val="0E4714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672226" cy="3791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8"/>
                </a:lnSpc>
              </a:pPr>
              <a:r>
                <a:rPr lang="en-US" sz="1863">
                  <a:solidFill>
                    <a:srgbClr val="FFFFFF"/>
                  </a:solidFill>
                  <a:latin typeface="Gotham"/>
                  <a:ea typeface="Gotham"/>
                  <a:cs typeface="Gotham"/>
                  <a:sym typeface="Gotham"/>
                </a:rPr>
                <a:t>Budget Classification</a:t>
              </a:r>
            </a:p>
          </p:txBody>
        </p:sp>
      </p:grpSp>
      <p:sp>
        <p:nvSpPr>
          <p:cNvPr name="AutoShape 31" id="31"/>
          <p:cNvSpPr/>
          <p:nvPr/>
        </p:nvSpPr>
        <p:spPr>
          <a:xfrm flipV="true">
            <a:off x="3088349" y="3807143"/>
            <a:ext cx="674085" cy="100900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2" id="32"/>
          <p:cNvSpPr/>
          <p:nvPr/>
        </p:nvSpPr>
        <p:spPr>
          <a:xfrm>
            <a:off x="2424797" y="5479700"/>
            <a:ext cx="1065989" cy="66730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3" id="33"/>
          <p:cNvSpPr/>
          <p:nvPr/>
        </p:nvSpPr>
        <p:spPr>
          <a:xfrm>
            <a:off x="4827709" y="6702715"/>
            <a:ext cx="0" cy="57120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4" id="34"/>
          <p:cNvSpPr/>
          <p:nvPr/>
        </p:nvSpPr>
        <p:spPr>
          <a:xfrm>
            <a:off x="6669369" y="3807143"/>
            <a:ext cx="12500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5" id="35"/>
          <p:cNvSpPr/>
          <p:nvPr/>
        </p:nvSpPr>
        <p:spPr>
          <a:xfrm flipV="true">
            <a:off x="5892983" y="6284540"/>
            <a:ext cx="1858726" cy="1591808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6" id="36"/>
          <p:cNvSpPr/>
          <p:nvPr/>
        </p:nvSpPr>
        <p:spPr>
          <a:xfrm>
            <a:off x="5892983" y="7876348"/>
            <a:ext cx="1858726" cy="655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7" id="37"/>
          <p:cNvSpPr/>
          <p:nvPr/>
        </p:nvSpPr>
        <p:spPr>
          <a:xfrm>
            <a:off x="11458277" y="6284540"/>
            <a:ext cx="1590675" cy="55571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8" id="38"/>
          <p:cNvSpPr/>
          <p:nvPr/>
        </p:nvSpPr>
        <p:spPr>
          <a:xfrm>
            <a:off x="10109638" y="3807143"/>
            <a:ext cx="1946174" cy="34545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9" id="39"/>
          <p:cNvSpPr/>
          <p:nvPr/>
        </p:nvSpPr>
        <p:spPr>
          <a:xfrm flipV="true">
            <a:off x="11458277" y="6840254"/>
            <a:ext cx="1590675" cy="104265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0" id="40"/>
          <p:cNvSpPr/>
          <p:nvPr/>
        </p:nvSpPr>
        <p:spPr>
          <a:xfrm>
            <a:off x="13331990" y="4781923"/>
            <a:ext cx="1067671" cy="150261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1" id="41"/>
          <p:cNvGrpSpPr/>
          <p:nvPr/>
        </p:nvGrpSpPr>
        <p:grpSpPr>
          <a:xfrm rot="0">
            <a:off x="3631614" y="3625552"/>
            <a:ext cx="194310" cy="367665"/>
            <a:chOff x="0" y="0"/>
            <a:chExt cx="259080" cy="49022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44450" y="49530"/>
              <a:ext cx="165100" cy="391160"/>
            </a:xfrm>
            <a:custGeom>
              <a:avLst/>
              <a:gdLst/>
              <a:ahLst/>
              <a:cxnLst/>
              <a:rect r="r" b="b" t="t" l="l"/>
              <a:pathLst>
                <a:path h="391160" w="165100">
                  <a:moveTo>
                    <a:pt x="55880" y="20320"/>
                  </a:moveTo>
                  <a:cubicBezTo>
                    <a:pt x="111760" y="177800"/>
                    <a:pt x="165100" y="229870"/>
                    <a:pt x="162560" y="251460"/>
                  </a:cubicBezTo>
                  <a:cubicBezTo>
                    <a:pt x="161290" y="262890"/>
                    <a:pt x="148590" y="271780"/>
                    <a:pt x="140970" y="273050"/>
                  </a:cubicBezTo>
                  <a:cubicBezTo>
                    <a:pt x="132080" y="274320"/>
                    <a:pt x="111760" y="254000"/>
                    <a:pt x="111760" y="254000"/>
                  </a:cubicBezTo>
                  <a:cubicBezTo>
                    <a:pt x="111760" y="255270"/>
                    <a:pt x="144780" y="267970"/>
                    <a:pt x="146050" y="279400"/>
                  </a:cubicBezTo>
                  <a:cubicBezTo>
                    <a:pt x="148590" y="302260"/>
                    <a:pt x="71120" y="370840"/>
                    <a:pt x="48260" y="383540"/>
                  </a:cubicBezTo>
                  <a:cubicBezTo>
                    <a:pt x="38100" y="389890"/>
                    <a:pt x="31750" y="391160"/>
                    <a:pt x="24130" y="388620"/>
                  </a:cubicBezTo>
                  <a:cubicBezTo>
                    <a:pt x="17780" y="387350"/>
                    <a:pt x="8890" y="379730"/>
                    <a:pt x="6350" y="372110"/>
                  </a:cubicBezTo>
                  <a:cubicBezTo>
                    <a:pt x="3810" y="365760"/>
                    <a:pt x="6350" y="354330"/>
                    <a:pt x="10160" y="347980"/>
                  </a:cubicBezTo>
                  <a:cubicBezTo>
                    <a:pt x="15240" y="342900"/>
                    <a:pt x="25400" y="336550"/>
                    <a:pt x="33020" y="337820"/>
                  </a:cubicBezTo>
                  <a:cubicBezTo>
                    <a:pt x="40640" y="339090"/>
                    <a:pt x="54610" y="350520"/>
                    <a:pt x="57150" y="358140"/>
                  </a:cubicBezTo>
                  <a:cubicBezTo>
                    <a:pt x="58420" y="365760"/>
                    <a:pt x="55880" y="377190"/>
                    <a:pt x="49530" y="382270"/>
                  </a:cubicBezTo>
                  <a:cubicBezTo>
                    <a:pt x="44450" y="387350"/>
                    <a:pt x="25400" y="391160"/>
                    <a:pt x="19050" y="387350"/>
                  </a:cubicBezTo>
                  <a:cubicBezTo>
                    <a:pt x="11430" y="382270"/>
                    <a:pt x="5080" y="364490"/>
                    <a:pt x="8890" y="350520"/>
                  </a:cubicBezTo>
                  <a:cubicBezTo>
                    <a:pt x="15240" y="323850"/>
                    <a:pt x="72390" y="267970"/>
                    <a:pt x="102870" y="251460"/>
                  </a:cubicBezTo>
                  <a:cubicBezTo>
                    <a:pt x="123190" y="240030"/>
                    <a:pt x="154940" y="234950"/>
                    <a:pt x="161290" y="240030"/>
                  </a:cubicBezTo>
                  <a:cubicBezTo>
                    <a:pt x="165100" y="241300"/>
                    <a:pt x="163830" y="247650"/>
                    <a:pt x="162560" y="251460"/>
                  </a:cubicBezTo>
                  <a:cubicBezTo>
                    <a:pt x="160020" y="257810"/>
                    <a:pt x="153670" y="267970"/>
                    <a:pt x="147320" y="270510"/>
                  </a:cubicBezTo>
                  <a:cubicBezTo>
                    <a:pt x="140970" y="274320"/>
                    <a:pt x="132080" y="274320"/>
                    <a:pt x="123190" y="269240"/>
                  </a:cubicBezTo>
                  <a:cubicBezTo>
                    <a:pt x="104140" y="259080"/>
                    <a:pt x="76200" y="212090"/>
                    <a:pt x="58420" y="176530"/>
                  </a:cubicBezTo>
                  <a:cubicBezTo>
                    <a:pt x="36830" y="133350"/>
                    <a:pt x="0" y="54610"/>
                    <a:pt x="6350" y="26670"/>
                  </a:cubicBezTo>
                  <a:cubicBezTo>
                    <a:pt x="8890" y="12700"/>
                    <a:pt x="20320" y="2540"/>
                    <a:pt x="27940" y="1270"/>
                  </a:cubicBezTo>
                  <a:cubicBezTo>
                    <a:pt x="36830" y="0"/>
                    <a:pt x="55880" y="20320"/>
                    <a:pt x="55880" y="20320"/>
                  </a:cubicBezTo>
                </a:path>
              </a:pathLst>
            </a:custGeom>
            <a:solidFill>
              <a:srgbClr val="1E1E1E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3325862" y="5960130"/>
            <a:ext cx="230505" cy="378142"/>
            <a:chOff x="0" y="0"/>
            <a:chExt cx="307340" cy="50419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46990" y="46990"/>
              <a:ext cx="212090" cy="406400"/>
            </a:xfrm>
            <a:custGeom>
              <a:avLst/>
              <a:gdLst/>
              <a:ahLst/>
              <a:cxnLst/>
              <a:rect r="r" b="b" t="t" l="l"/>
              <a:pathLst>
                <a:path h="406400" w="212090">
                  <a:moveTo>
                    <a:pt x="63500" y="12700"/>
                  </a:moveTo>
                  <a:cubicBezTo>
                    <a:pt x="212090" y="210820"/>
                    <a:pt x="199390" y="224790"/>
                    <a:pt x="187960" y="240030"/>
                  </a:cubicBezTo>
                  <a:cubicBezTo>
                    <a:pt x="173990" y="257810"/>
                    <a:pt x="147320" y="267970"/>
                    <a:pt x="128270" y="288290"/>
                  </a:cubicBezTo>
                  <a:cubicBezTo>
                    <a:pt x="101600" y="316230"/>
                    <a:pt x="68580" y="382270"/>
                    <a:pt x="46990" y="397510"/>
                  </a:cubicBezTo>
                  <a:cubicBezTo>
                    <a:pt x="38100" y="403860"/>
                    <a:pt x="30480" y="406400"/>
                    <a:pt x="24130" y="405130"/>
                  </a:cubicBezTo>
                  <a:cubicBezTo>
                    <a:pt x="16510" y="403860"/>
                    <a:pt x="6350" y="396240"/>
                    <a:pt x="3810" y="389890"/>
                  </a:cubicBezTo>
                  <a:cubicBezTo>
                    <a:pt x="1270" y="383540"/>
                    <a:pt x="1270" y="370840"/>
                    <a:pt x="5080" y="364490"/>
                  </a:cubicBezTo>
                  <a:cubicBezTo>
                    <a:pt x="10160" y="358140"/>
                    <a:pt x="26670" y="351790"/>
                    <a:pt x="35560" y="353060"/>
                  </a:cubicBezTo>
                  <a:cubicBezTo>
                    <a:pt x="43180" y="354330"/>
                    <a:pt x="50800" y="363220"/>
                    <a:pt x="53340" y="370840"/>
                  </a:cubicBezTo>
                  <a:cubicBezTo>
                    <a:pt x="55880" y="377190"/>
                    <a:pt x="53340" y="389890"/>
                    <a:pt x="49530" y="394970"/>
                  </a:cubicBezTo>
                  <a:cubicBezTo>
                    <a:pt x="44450" y="401320"/>
                    <a:pt x="34290" y="406400"/>
                    <a:pt x="26670" y="405130"/>
                  </a:cubicBezTo>
                  <a:cubicBezTo>
                    <a:pt x="19050" y="405130"/>
                    <a:pt x="8890" y="398780"/>
                    <a:pt x="5080" y="392430"/>
                  </a:cubicBezTo>
                  <a:cubicBezTo>
                    <a:pt x="1270" y="386080"/>
                    <a:pt x="0" y="378460"/>
                    <a:pt x="3810" y="367030"/>
                  </a:cubicBezTo>
                  <a:cubicBezTo>
                    <a:pt x="13970" y="334010"/>
                    <a:pt x="140970" y="246380"/>
                    <a:pt x="139700" y="189230"/>
                  </a:cubicBezTo>
                  <a:cubicBezTo>
                    <a:pt x="139700" y="135890"/>
                    <a:pt x="22860" y="68580"/>
                    <a:pt x="17780" y="35560"/>
                  </a:cubicBezTo>
                  <a:cubicBezTo>
                    <a:pt x="16510" y="21590"/>
                    <a:pt x="22860" y="7620"/>
                    <a:pt x="30480" y="3810"/>
                  </a:cubicBezTo>
                  <a:cubicBezTo>
                    <a:pt x="38100" y="0"/>
                    <a:pt x="63500" y="12700"/>
                    <a:pt x="63500" y="12700"/>
                  </a:cubicBezTo>
                </a:path>
              </a:pathLst>
            </a:custGeom>
            <a:solidFill>
              <a:srgbClr val="1E1E1E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4666029" y="7077412"/>
            <a:ext cx="369570" cy="242888"/>
            <a:chOff x="0" y="0"/>
            <a:chExt cx="492760" cy="32385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44450" y="46990"/>
              <a:ext cx="398780" cy="227330"/>
            </a:xfrm>
            <a:custGeom>
              <a:avLst/>
              <a:gdLst/>
              <a:ahLst/>
              <a:cxnLst/>
              <a:rect r="r" b="b" t="t" l="l"/>
              <a:pathLst>
                <a:path h="227330" w="398780">
                  <a:moveTo>
                    <a:pt x="57150" y="64770"/>
                  </a:moveTo>
                  <a:cubicBezTo>
                    <a:pt x="73660" y="116840"/>
                    <a:pt x="96520" y="148590"/>
                    <a:pt x="118110" y="161290"/>
                  </a:cubicBezTo>
                  <a:cubicBezTo>
                    <a:pt x="138430" y="172720"/>
                    <a:pt x="171450" y="171450"/>
                    <a:pt x="190500" y="171450"/>
                  </a:cubicBezTo>
                  <a:cubicBezTo>
                    <a:pt x="203200" y="170180"/>
                    <a:pt x="210820" y="168910"/>
                    <a:pt x="220980" y="163830"/>
                  </a:cubicBezTo>
                  <a:cubicBezTo>
                    <a:pt x="237490" y="153670"/>
                    <a:pt x="256540" y="130810"/>
                    <a:pt x="276860" y="109220"/>
                  </a:cubicBezTo>
                  <a:cubicBezTo>
                    <a:pt x="302260" y="81280"/>
                    <a:pt x="334010" y="10160"/>
                    <a:pt x="358140" y="3810"/>
                  </a:cubicBezTo>
                  <a:cubicBezTo>
                    <a:pt x="370840" y="0"/>
                    <a:pt x="391160" y="10160"/>
                    <a:pt x="394970" y="19050"/>
                  </a:cubicBezTo>
                  <a:cubicBezTo>
                    <a:pt x="398780" y="26670"/>
                    <a:pt x="393700" y="46990"/>
                    <a:pt x="386080" y="52070"/>
                  </a:cubicBezTo>
                  <a:cubicBezTo>
                    <a:pt x="378460" y="57150"/>
                    <a:pt x="350520" y="52070"/>
                    <a:pt x="345440" y="44450"/>
                  </a:cubicBezTo>
                  <a:cubicBezTo>
                    <a:pt x="340360" y="36830"/>
                    <a:pt x="347980" y="11430"/>
                    <a:pt x="355600" y="5080"/>
                  </a:cubicBezTo>
                  <a:cubicBezTo>
                    <a:pt x="360680" y="0"/>
                    <a:pt x="374650" y="0"/>
                    <a:pt x="381000" y="3810"/>
                  </a:cubicBezTo>
                  <a:cubicBezTo>
                    <a:pt x="388620" y="7620"/>
                    <a:pt x="396240" y="15240"/>
                    <a:pt x="397510" y="25400"/>
                  </a:cubicBezTo>
                  <a:cubicBezTo>
                    <a:pt x="397510" y="43180"/>
                    <a:pt x="368300" y="80010"/>
                    <a:pt x="347980" y="105410"/>
                  </a:cubicBezTo>
                  <a:cubicBezTo>
                    <a:pt x="325120" y="134620"/>
                    <a:pt x="290830" y="171450"/>
                    <a:pt x="261620" y="191770"/>
                  </a:cubicBezTo>
                  <a:cubicBezTo>
                    <a:pt x="237490" y="208280"/>
                    <a:pt x="217170" y="223520"/>
                    <a:pt x="189230" y="224790"/>
                  </a:cubicBezTo>
                  <a:cubicBezTo>
                    <a:pt x="156210" y="227330"/>
                    <a:pt x="104140" y="205740"/>
                    <a:pt x="77470" y="190500"/>
                  </a:cubicBezTo>
                  <a:cubicBezTo>
                    <a:pt x="58420" y="180340"/>
                    <a:pt x="46990" y="170180"/>
                    <a:pt x="35560" y="153670"/>
                  </a:cubicBezTo>
                  <a:cubicBezTo>
                    <a:pt x="21590" y="132080"/>
                    <a:pt x="0" y="83820"/>
                    <a:pt x="6350" y="66040"/>
                  </a:cubicBezTo>
                  <a:cubicBezTo>
                    <a:pt x="10160" y="54610"/>
                    <a:pt x="25400" y="45720"/>
                    <a:pt x="34290" y="45720"/>
                  </a:cubicBezTo>
                  <a:cubicBezTo>
                    <a:pt x="41910" y="45720"/>
                    <a:pt x="57150" y="64770"/>
                    <a:pt x="57150" y="64770"/>
                  </a:cubicBezTo>
                </a:path>
              </a:pathLst>
            </a:custGeom>
            <a:solidFill>
              <a:srgbClr val="1E1E1E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47" id="47"/>
          <p:cNvGrpSpPr/>
          <p:nvPr/>
        </p:nvGrpSpPr>
        <p:grpSpPr>
          <a:xfrm rot="0">
            <a:off x="7590204" y="6119197"/>
            <a:ext cx="218122" cy="356235"/>
            <a:chOff x="0" y="0"/>
            <a:chExt cx="290830" cy="47498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46990" y="46990"/>
              <a:ext cx="191770" cy="378460"/>
            </a:xfrm>
            <a:custGeom>
              <a:avLst/>
              <a:gdLst/>
              <a:ahLst/>
              <a:cxnLst/>
              <a:rect r="r" b="b" t="t" l="l"/>
              <a:pathLst>
                <a:path h="378460" w="191770">
                  <a:moveTo>
                    <a:pt x="66040" y="13970"/>
                  </a:moveTo>
                  <a:cubicBezTo>
                    <a:pt x="120650" y="121920"/>
                    <a:pt x="149860" y="123190"/>
                    <a:pt x="163830" y="138430"/>
                  </a:cubicBezTo>
                  <a:cubicBezTo>
                    <a:pt x="179070" y="153670"/>
                    <a:pt x="191770" y="179070"/>
                    <a:pt x="191770" y="198120"/>
                  </a:cubicBezTo>
                  <a:cubicBezTo>
                    <a:pt x="191770" y="217170"/>
                    <a:pt x="180340" y="233680"/>
                    <a:pt x="165100" y="252730"/>
                  </a:cubicBezTo>
                  <a:cubicBezTo>
                    <a:pt x="142240" y="285750"/>
                    <a:pt x="76200" y="351790"/>
                    <a:pt x="49530" y="368300"/>
                  </a:cubicBezTo>
                  <a:cubicBezTo>
                    <a:pt x="39370" y="374650"/>
                    <a:pt x="33020" y="378460"/>
                    <a:pt x="25400" y="377190"/>
                  </a:cubicBezTo>
                  <a:cubicBezTo>
                    <a:pt x="17780" y="375920"/>
                    <a:pt x="7620" y="369570"/>
                    <a:pt x="3810" y="361950"/>
                  </a:cubicBezTo>
                  <a:cubicBezTo>
                    <a:pt x="1270" y="355600"/>
                    <a:pt x="0" y="342900"/>
                    <a:pt x="5080" y="336550"/>
                  </a:cubicBezTo>
                  <a:cubicBezTo>
                    <a:pt x="10160" y="328930"/>
                    <a:pt x="26670" y="321310"/>
                    <a:pt x="35560" y="322580"/>
                  </a:cubicBezTo>
                  <a:cubicBezTo>
                    <a:pt x="43180" y="323850"/>
                    <a:pt x="53340" y="332740"/>
                    <a:pt x="55880" y="340360"/>
                  </a:cubicBezTo>
                  <a:cubicBezTo>
                    <a:pt x="58420" y="347980"/>
                    <a:pt x="57150" y="360680"/>
                    <a:pt x="52070" y="365760"/>
                  </a:cubicBezTo>
                  <a:cubicBezTo>
                    <a:pt x="45720" y="373380"/>
                    <a:pt x="19050" y="377190"/>
                    <a:pt x="11430" y="370840"/>
                  </a:cubicBezTo>
                  <a:cubicBezTo>
                    <a:pt x="5080" y="367030"/>
                    <a:pt x="1270" y="350520"/>
                    <a:pt x="3810" y="339090"/>
                  </a:cubicBezTo>
                  <a:cubicBezTo>
                    <a:pt x="6350" y="323850"/>
                    <a:pt x="20320" y="308610"/>
                    <a:pt x="35560" y="293370"/>
                  </a:cubicBezTo>
                  <a:cubicBezTo>
                    <a:pt x="59690" y="267970"/>
                    <a:pt x="140970" y="233680"/>
                    <a:pt x="146050" y="210820"/>
                  </a:cubicBezTo>
                  <a:cubicBezTo>
                    <a:pt x="148590" y="198120"/>
                    <a:pt x="135890" y="185420"/>
                    <a:pt x="127000" y="175260"/>
                  </a:cubicBezTo>
                  <a:cubicBezTo>
                    <a:pt x="115570" y="162560"/>
                    <a:pt x="93980" y="158750"/>
                    <a:pt x="80010" y="142240"/>
                  </a:cubicBezTo>
                  <a:cubicBezTo>
                    <a:pt x="58420" y="119380"/>
                    <a:pt x="22860" y="63500"/>
                    <a:pt x="20320" y="38100"/>
                  </a:cubicBezTo>
                  <a:cubicBezTo>
                    <a:pt x="19050" y="24130"/>
                    <a:pt x="21590" y="8890"/>
                    <a:pt x="29210" y="3810"/>
                  </a:cubicBezTo>
                  <a:cubicBezTo>
                    <a:pt x="36830" y="0"/>
                    <a:pt x="66040" y="13970"/>
                    <a:pt x="66040" y="13970"/>
                  </a:cubicBezTo>
                </a:path>
              </a:pathLst>
            </a:custGeom>
            <a:solidFill>
              <a:srgbClr val="1E1E1E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7590204" y="7690822"/>
            <a:ext cx="228600" cy="385762"/>
            <a:chOff x="0" y="0"/>
            <a:chExt cx="304800" cy="51435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48260" y="46990"/>
              <a:ext cx="209550" cy="421640"/>
            </a:xfrm>
            <a:custGeom>
              <a:avLst/>
              <a:gdLst/>
              <a:ahLst/>
              <a:cxnLst/>
              <a:rect r="r" b="b" t="t" l="l"/>
              <a:pathLst>
                <a:path h="421640" w="209550">
                  <a:moveTo>
                    <a:pt x="74930" y="10160"/>
                  </a:moveTo>
                  <a:cubicBezTo>
                    <a:pt x="209550" y="213360"/>
                    <a:pt x="207010" y="224790"/>
                    <a:pt x="198120" y="242570"/>
                  </a:cubicBezTo>
                  <a:cubicBezTo>
                    <a:pt x="181610" y="275590"/>
                    <a:pt x="104140" y="322580"/>
                    <a:pt x="78740" y="355600"/>
                  </a:cubicBezTo>
                  <a:cubicBezTo>
                    <a:pt x="63500" y="377190"/>
                    <a:pt x="63500" y="402590"/>
                    <a:pt x="49530" y="411480"/>
                  </a:cubicBezTo>
                  <a:cubicBezTo>
                    <a:pt x="38100" y="419100"/>
                    <a:pt x="16510" y="420370"/>
                    <a:pt x="8890" y="414020"/>
                  </a:cubicBezTo>
                  <a:cubicBezTo>
                    <a:pt x="2540" y="408940"/>
                    <a:pt x="0" y="389890"/>
                    <a:pt x="3810" y="381000"/>
                  </a:cubicBezTo>
                  <a:cubicBezTo>
                    <a:pt x="6350" y="373380"/>
                    <a:pt x="16510" y="367030"/>
                    <a:pt x="24130" y="365760"/>
                  </a:cubicBezTo>
                  <a:cubicBezTo>
                    <a:pt x="33020" y="365760"/>
                    <a:pt x="49530" y="375920"/>
                    <a:pt x="53340" y="383540"/>
                  </a:cubicBezTo>
                  <a:cubicBezTo>
                    <a:pt x="57150" y="389890"/>
                    <a:pt x="55880" y="403860"/>
                    <a:pt x="50800" y="408940"/>
                  </a:cubicBezTo>
                  <a:cubicBezTo>
                    <a:pt x="44450" y="416560"/>
                    <a:pt x="19050" y="421640"/>
                    <a:pt x="11430" y="416560"/>
                  </a:cubicBezTo>
                  <a:cubicBezTo>
                    <a:pt x="3810" y="411480"/>
                    <a:pt x="0" y="394970"/>
                    <a:pt x="2540" y="383540"/>
                  </a:cubicBezTo>
                  <a:cubicBezTo>
                    <a:pt x="3810" y="368300"/>
                    <a:pt x="19050" y="350520"/>
                    <a:pt x="35560" y="331470"/>
                  </a:cubicBezTo>
                  <a:cubicBezTo>
                    <a:pt x="62230" y="298450"/>
                    <a:pt x="156210" y="259080"/>
                    <a:pt x="161290" y="214630"/>
                  </a:cubicBezTo>
                  <a:cubicBezTo>
                    <a:pt x="165100" y="162560"/>
                    <a:pt x="35560" y="71120"/>
                    <a:pt x="31750" y="35560"/>
                  </a:cubicBezTo>
                  <a:cubicBezTo>
                    <a:pt x="30480" y="21590"/>
                    <a:pt x="38100" y="8890"/>
                    <a:pt x="45720" y="3810"/>
                  </a:cubicBezTo>
                  <a:cubicBezTo>
                    <a:pt x="52070" y="0"/>
                    <a:pt x="74930" y="10160"/>
                    <a:pt x="74930" y="10160"/>
                  </a:cubicBezTo>
                </a:path>
              </a:pathLst>
            </a:custGeom>
            <a:solidFill>
              <a:srgbClr val="1E1E1E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51" id="51"/>
          <p:cNvGrpSpPr/>
          <p:nvPr/>
        </p:nvGrpSpPr>
        <p:grpSpPr>
          <a:xfrm rot="0">
            <a:off x="7780704" y="3616027"/>
            <a:ext cx="206692" cy="379095"/>
            <a:chOff x="0" y="0"/>
            <a:chExt cx="275590" cy="50546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49530" y="46990"/>
              <a:ext cx="176530" cy="408940"/>
            </a:xfrm>
            <a:custGeom>
              <a:avLst/>
              <a:gdLst/>
              <a:ahLst/>
              <a:cxnLst/>
              <a:rect r="r" b="b" t="t" l="l"/>
              <a:pathLst>
                <a:path h="408940" w="176530">
                  <a:moveTo>
                    <a:pt x="46990" y="12700"/>
                  </a:moveTo>
                  <a:cubicBezTo>
                    <a:pt x="118110" y="107950"/>
                    <a:pt x="171450" y="205740"/>
                    <a:pt x="175260" y="240030"/>
                  </a:cubicBezTo>
                  <a:cubicBezTo>
                    <a:pt x="176530" y="252730"/>
                    <a:pt x="173990" y="257810"/>
                    <a:pt x="167640" y="267970"/>
                  </a:cubicBezTo>
                  <a:cubicBezTo>
                    <a:pt x="157480" y="285750"/>
                    <a:pt x="121920" y="304800"/>
                    <a:pt x="104140" y="327660"/>
                  </a:cubicBezTo>
                  <a:cubicBezTo>
                    <a:pt x="87630" y="347980"/>
                    <a:pt x="76200" y="383540"/>
                    <a:pt x="62230" y="396240"/>
                  </a:cubicBezTo>
                  <a:cubicBezTo>
                    <a:pt x="54610" y="403860"/>
                    <a:pt x="46990" y="407670"/>
                    <a:pt x="39370" y="407670"/>
                  </a:cubicBezTo>
                  <a:cubicBezTo>
                    <a:pt x="30480" y="406400"/>
                    <a:pt x="20320" y="400050"/>
                    <a:pt x="16510" y="393700"/>
                  </a:cubicBezTo>
                  <a:cubicBezTo>
                    <a:pt x="12700" y="387350"/>
                    <a:pt x="11430" y="374650"/>
                    <a:pt x="15240" y="367030"/>
                  </a:cubicBezTo>
                  <a:cubicBezTo>
                    <a:pt x="19050" y="359410"/>
                    <a:pt x="35560" y="350520"/>
                    <a:pt x="44450" y="351790"/>
                  </a:cubicBezTo>
                  <a:cubicBezTo>
                    <a:pt x="52070" y="351790"/>
                    <a:pt x="62230" y="360680"/>
                    <a:pt x="66040" y="367030"/>
                  </a:cubicBezTo>
                  <a:cubicBezTo>
                    <a:pt x="68580" y="374650"/>
                    <a:pt x="68580" y="387350"/>
                    <a:pt x="64770" y="393700"/>
                  </a:cubicBezTo>
                  <a:cubicBezTo>
                    <a:pt x="59690" y="401320"/>
                    <a:pt x="40640" y="408940"/>
                    <a:pt x="33020" y="406400"/>
                  </a:cubicBezTo>
                  <a:cubicBezTo>
                    <a:pt x="24130" y="402590"/>
                    <a:pt x="13970" y="382270"/>
                    <a:pt x="13970" y="370840"/>
                  </a:cubicBezTo>
                  <a:cubicBezTo>
                    <a:pt x="13970" y="358140"/>
                    <a:pt x="22860" y="345440"/>
                    <a:pt x="33020" y="330200"/>
                  </a:cubicBezTo>
                  <a:cubicBezTo>
                    <a:pt x="50800" y="307340"/>
                    <a:pt x="101600" y="273050"/>
                    <a:pt x="111760" y="252730"/>
                  </a:cubicBezTo>
                  <a:cubicBezTo>
                    <a:pt x="116840" y="242570"/>
                    <a:pt x="118110" y="238760"/>
                    <a:pt x="115570" y="226060"/>
                  </a:cubicBezTo>
                  <a:cubicBezTo>
                    <a:pt x="110490" y="196850"/>
                    <a:pt x="64770" y="116840"/>
                    <a:pt x="41910" y="82550"/>
                  </a:cubicBezTo>
                  <a:cubicBezTo>
                    <a:pt x="27940" y="62230"/>
                    <a:pt x="3810" y="50800"/>
                    <a:pt x="1270" y="35560"/>
                  </a:cubicBezTo>
                  <a:cubicBezTo>
                    <a:pt x="0" y="25400"/>
                    <a:pt x="6350" y="7620"/>
                    <a:pt x="13970" y="3810"/>
                  </a:cubicBezTo>
                  <a:cubicBezTo>
                    <a:pt x="21590" y="0"/>
                    <a:pt x="46990" y="12700"/>
                    <a:pt x="46990" y="12700"/>
                  </a:cubicBezTo>
                </a:path>
              </a:pathLst>
            </a:custGeom>
            <a:solidFill>
              <a:srgbClr val="1E1E1E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53" id="53"/>
          <p:cNvGrpSpPr/>
          <p:nvPr/>
        </p:nvGrpSpPr>
        <p:grpSpPr>
          <a:xfrm rot="0">
            <a:off x="11919317" y="3975120"/>
            <a:ext cx="201930" cy="334328"/>
            <a:chOff x="0" y="0"/>
            <a:chExt cx="269240" cy="44577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45720" y="46990"/>
              <a:ext cx="181610" cy="350520"/>
            </a:xfrm>
            <a:custGeom>
              <a:avLst/>
              <a:gdLst/>
              <a:ahLst/>
              <a:cxnLst/>
              <a:rect r="r" b="b" t="t" l="l"/>
              <a:pathLst>
                <a:path h="350520" w="181610">
                  <a:moveTo>
                    <a:pt x="66040" y="12700"/>
                  </a:moveTo>
                  <a:cubicBezTo>
                    <a:pt x="170180" y="172720"/>
                    <a:pt x="181610" y="205740"/>
                    <a:pt x="172720" y="231140"/>
                  </a:cubicBezTo>
                  <a:cubicBezTo>
                    <a:pt x="161290" y="259080"/>
                    <a:pt x="102870" y="276860"/>
                    <a:pt x="80010" y="299720"/>
                  </a:cubicBezTo>
                  <a:cubicBezTo>
                    <a:pt x="63500" y="314960"/>
                    <a:pt x="58420" y="342900"/>
                    <a:pt x="43180" y="346710"/>
                  </a:cubicBezTo>
                  <a:cubicBezTo>
                    <a:pt x="31750" y="350520"/>
                    <a:pt x="10160" y="344170"/>
                    <a:pt x="5080" y="335280"/>
                  </a:cubicBezTo>
                  <a:cubicBezTo>
                    <a:pt x="0" y="327660"/>
                    <a:pt x="3810" y="307340"/>
                    <a:pt x="11430" y="302260"/>
                  </a:cubicBezTo>
                  <a:cubicBezTo>
                    <a:pt x="19050" y="295910"/>
                    <a:pt x="45720" y="298450"/>
                    <a:pt x="52070" y="304800"/>
                  </a:cubicBezTo>
                  <a:cubicBezTo>
                    <a:pt x="57150" y="312420"/>
                    <a:pt x="53340" y="340360"/>
                    <a:pt x="45720" y="345440"/>
                  </a:cubicBezTo>
                  <a:cubicBezTo>
                    <a:pt x="38100" y="350520"/>
                    <a:pt x="11430" y="345440"/>
                    <a:pt x="6350" y="337820"/>
                  </a:cubicBezTo>
                  <a:cubicBezTo>
                    <a:pt x="1270" y="331470"/>
                    <a:pt x="2540" y="316230"/>
                    <a:pt x="8890" y="303530"/>
                  </a:cubicBezTo>
                  <a:cubicBezTo>
                    <a:pt x="21590" y="278130"/>
                    <a:pt x="109220" y="234950"/>
                    <a:pt x="119380" y="209550"/>
                  </a:cubicBezTo>
                  <a:cubicBezTo>
                    <a:pt x="123190" y="196850"/>
                    <a:pt x="119380" y="189230"/>
                    <a:pt x="113030" y="175260"/>
                  </a:cubicBezTo>
                  <a:cubicBezTo>
                    <a:pt x="100330" y="143510"/>
                    <a:pt x="22860" y="67310"/>
                    <a:pt x="19050" y="35560"/>
                  </a:cubicBezTo>
                  <a:cubicBezTo>
                    <a:pt x="17780" y="21590"/>
                    <a:pt x="24130" y="7620"/>
                    <a:pt x="31750" y="3810"/>
                  </a:cubicBezTo>
                  <a:cubicBezTo>
                    <a:pt x="39370" y="0"/>
                    <a:pt x="66040" y="12700"/>
                    <a:pt x="66040" y="12700"/>
                  </a:cubicBezTo>
                </a:path>
              </a:pathLst>
            </a:custGeom>
            <a:solidFill>
              <a:srgbClr val="1E1E1E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12869912" y="6697365"/>
            <a:ext cx="220028" cy="349568"/>
            <a:chOff x="0" y="0"/>
            <a:chExt cx="293370" cy="46609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48260" y="50800"/>
              <a:ext cx="195580" cy="363220"/>
            </a:xfrm>
            <a:custGeom>
              <a:avLst/>
              <a:gdLst/>
              <a:ahLst/>
              <a:cxnLst/>
              <a:rect r="r" b="b" t="t" l="l"/>
              <a:pathLst>
                <a:path h="363220" w="195580">
                  <a:moveTo>
                    <a:pt x="26670" y="0"/>
                  </a:moveTo>
                  <a:cubicBezTo>
                    <a:pt x="82550" y="6350"/>
                    <a:pt x="121920" y="27940"/>
                    <a:pt x="143510" y="46990"/>
                  </a:cubicBezTo>
                  <a:cubicBezTo>
                    <a:pt x="162560" y="63500"/>
                    <a:pt x="180340" y="86360"/>
                    <a:pt x="187960" y="104140"/>
                  </a:cubicBezTo>
                  <a:cubicBezTo>
                    <a:pt x="193040" y="116840"/>
                    <a:pt x="195580" y="127000"/>
                    <a:pt x="193040" y="139700"/>
                  </a:cubicBezTo>
                  <a:cubicBezTo>
                    <a:pt x="191770" y="153670"/>
                    <a:pt x="185420" y="168910"/>
                    <a:pt x="173990" y="184150"/>
                  </a:cubicBezTo>
                  <a:cubicBezTo>
                    <a:pt x="158750" y="207010"/>
                    <a:pt x="118110" y="229870"/>
                    <a:pt x="99060" y="259080"/>
                  </a:cubicBezTo>
                  <a:cubicBezTo>
                    <a:pt x="80010" y="287020"/>
                    <a:pt x="80010" y="340360"/>
                    <a:pt x="60960" y="353060"/>
                  </a:cubicBezTo>
                  <a:cubicBezTo>
                    <a:pt x="50800" y="361950"/>
                    <a:pt x="29210" y="360680"/>
                    <a:pt x="21590" y="354330"/>
                  </a:cubicBezTo>
                  <a:cubicBezTo>
                    <a:pt x="15240" y="349250"/>
                    <a:pt x="12700" y="330200"/>
                    <a:pt x="16510" y="321310"/>
                  </a:cubicBezTo>
                  <a:cubicBezTo>
                    <a:pt x="19050" y="314960"/>
                    <a:pt x="30480" y="308610"/>
                    <a:pt x="38100" y="307340"/>
                  </a:cubicBezTo>
                  <a:cubicBezTo>
                    <a:pt x="45720" y="307340"/>
                    <a:pt x="57150" y="311150"/>
                    <a:pt x="62230" y="317500"/>
                  </a:cubicBezTo>
                  <a:cubicBezTo>
                    <a:pt x="67310" y="325120"/>
                    <a:pt x="67310" y="342900"/>
                    <a:pt x="63500" y="350520"/>
                  </a:cubicBezTo>
                  <a:cubicBezTo>
                    <a:pt x="59690" y="358140"/>
                    <a:pt x="48260" y="363220"/>
                    <a:pt x="40640" y="363220"/>
                  </a:cubicBezTo>
                  <a:cubicBezTo>
                    <a:pt x="31750" y="361950"/>
                    <a:pt x="17780" y="351790"/>
                    <a:pt x="13970" y="341630"/>
                  </a:cubicBezTo>
                  <a:cubicBezTo>
                    <a:pt x="8890" y="328930"/>
                    <a:pt x="12700" y="304800"/>
                    <a:pt x="19050" y="287020"/>
                  </a:cubicBezTo>
                  <a:cubicBezTo>
                    <a:pt x="25400" y="265430"/>
                    <a:pt x="40640" y="243840"/>
                    <a:pt x="58420" y="222250"/>
                  </a:cubicBezTo>
                  <a:cubicBezTo>
                    <a:pt x="80010" y="195580"/>
                    <a:pt x="134620" y="171450"/>
                    <a:pt x="139700" y="143510"/>
                  </a:cubicBezTo>
                  <a:cubicBezTo>
                    <a:pt x="143510" y="120650"/>
                    <a:pt x="123190" y="90170"/>
                    <a:pt x="102870" y="72390"/>
                  </a:cubicBezTo>
                  <a:cubicBezTo>
                    <a:pt x="81280" y="53340"/>
                    <a:pt x="17780" y="54610"/>
                    <a:pt x="5080" y="40640"/>
                  </a:cubicBezTo>
                  <a:cubicBezTo>
                    <a:pt x="0" y="33020"/>
                    <a:pt x="0" y="22860"/>
                    <a:pt x="2540" y="16510"/>
                  </a:cubicBezTo>
                  <a:cubicBezTo>
                    <a:pt x="5080" y="8890"/>
                    <a:pt x="26670" y="0"/>
                    <a:pt x="26670" y="0"/>
                  </a:cubicBezTo>
                </a:path>
              </a:pathLst>
            </a:custGeom>
            <a:solidFill>
              <a:srgbClr val="1E1E1E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57" id="57"/>
          <p:cNvGrpSpPr/>
          <p:nvPr/>
        </p:nvGrpSpPr>
        <p:grpSpPr>
          <a:xfrm rot="0">
            <a:off x="13168997" y="4762837"/>
            <a:ext cx="360045" cy="236220"/>
            <a:chOff x="0" y="0"/>
            <a:chExt cx="480060" cy="31496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48260" y="49530"/>
              <a:ext cx="382270" cy="215900"/>
            </a:xfrm>
            <a:custGeom>
              <a:avLst/>
              <a:gdLst/>
              <a:ahLst/>
              <a:cxnLst/>
              <a:rect r="r" b="b" t="t" l="l"/>
              <a:pathLst>
                <a:path h="215900" w="382270">
                  <a:moveTo>
                    <a:pt x="11430" y="149860"/>
                  </a:moveTo>
                  <a:cubicBezTo>
                    <a:pt x="83820" y="96520"/>
                    <a:pt x="116840" y="27940"/>
                    <a:pt x="137160" y="11430"/>
                  </a:cubicBezTo>
                  <a:cubicBezTo>
                    <a:pt x="146050" y="3810"/>
                    <a:pt x="152400" y="0"/>
                    <a:pt x="160020" y="1270"/>
                  </a:cubicBezTo>
                  <a:cubicBezTo>
                    <a:pt x="167640" y="1270"/>
                    <a:pt x="179070" y="7620"/>
                    <a:pt x="182880" y="13970"/>
                  </a:cubicBezTo>
                  <a:cubicBezTo>
                    <a:pt x="186690" y="21590"/>
                    <a:pt x="181610" y="45720"/>
                    <a:pt x="180340" y="45720"/>
                  </a:cubicBezTo>
                  <a:cubicBezTo>
                    <a:pt x="180340" y="45720"/>
                    <a:pt x="176530" y="11430"/>
                    <a:pt x="181610" y="8890"/>
                  </a:cubicBezTo>
                  <a:cubicBezTo>
                    <a:pt x="189230" y="6350"/>
                    <a:pt x="217170" y="36830"/>
                    <a:pt x="229870" y="54610"/>
                  </a:cubicBezTo>
                  <a:cubicBezTo>
                    <a:pt x="241300" y="69850"/>
                    <a:pt x="240030" y="88900"/>
                    <a:pt x="255270" y="105410"/>
                  </a:cubicBezTo>
                  <a:cubicBezTo>
                    <a:pt x="279400" y="128270"/>
                    <a:pt x="358140" y="140970"/>
                    <a:pt x="372110" y="165100"/>
                  </a:cubicBezTo>
                  <a:cubicBezTo>
                    <a:pt x="379730" y="177800"/>
                    <a:pt x="377190" y="199390"/>
                    <a:pt x="369570" y="207010"/>
                  </a:cubicBezTo>
                  <a:cubicBezTo>
                    <a:pt x="363220" y="213360"/>
                    <a:pt x="342900" y="213360"/>
                    <a:pt x="335280" y="209550"/>
                  </a:cubicBezTo>
                  <a:cubicBezTo>
                    <a:pt x="327660" y="205740"/>
                    <a:pt x="321310" y="193040"/>
                    <a:pt x="321310" y="185420"/>
                  </a:cubicBezTo>
                  <a:cubicBezTo>
                    <a:pt x="321310" y="177800"/>
                    <a:pt x="327660" y="165100"/>
                    <a:pt x="334010" y="161290"/>
                  </a:cubicBezTo>
                  <a:cubicBezTo>
                    <a:pt x="340360" y="156210"/>
                    <a:pt x="354330" y="153670"/>
                    <a:pt x="361950" y="157480"/>
                  </a:cubicBezTo>
                  <a:cubicBezTo>
                    <a:pt x="369570" y="161290"/>
                    <a:pt x="382270" y="179070"/>
                    <a:pt x="379730" y="187960"/>
                  </a:cubicBezTo>
                  <a:cubicBezTo>
                    <a:pt x="378460" y="198120"/>
                    <a:pt x="361950" y="212090"/>
                    <a:pt x="346710" y="213360"/>
                  </a:cubicBezTo>
                  <a:cubicBezTo>
                    <a:pt x="318770" y="215900"/>
                    <a:pt x="255270" y="173990"/>
                    <a:pt x="222250" y="146050"/>
                  </a:cubicBezTo>
                  <a:cubicBezTo>
                    <a:pt x="193040" y="120650"/>
                    <a:pt x="168910" y="83820"/>
                    <a:pt x="154940" y="58420"/>
                  </a:cubicBezTo>
                  <a:cubicBezTo>
                    <a:pt x="144780" y="40640"/>
                    <a:pt x="133350" y="21590"/>
                    <a:pt x="137160" y="11430"/>
                  </a:cubicBezTo>
                  <a:cubicBezTo>
                    <a:pt x="139700" y="5080"/>
                    <a:pt x="152400" y="0"/>
                    <a:pt x="160020" y="1270"/>
                  </a:cubicBezTo>
                  <a:cubicBezTo>
                    <a:pt x="167640" y="1270"/>
                    <a:pt x="179070" y="7620"/>
                    <a:pt x="182880" y="13970"/>
                  </a:cubicBezTo>
                  <a:cubicBezTo>
                    <a:pt x="186690" y="20320"/>
                    <a:pt x="187960" y="29210"/>
                    <a:pt x="184150" y="40640"/>
                  </a:cubicBezTo>
                  <a:cubicBezTo>
                    <a:pt x="176530" y="67310"/>
                    <a:pt x="118110" y="142240"/>
                    <a:pt x="85090" y="167640"/>
                  </a:cubicBezTo>
                  <a:cubicBezTo>
                    <a:pt x="62230" y="185420"/>
                    <a:pt x="33020" y="198120"/>
                    <a:pt x="19050" y="195580"/>
                  </a:cubicBezTo>
                  <a:cubicBezTo>
                    <a:pt x="10160" y="194310"/>
                    <a:pt x="3810" y="185420"/>
                    <a:pt x="2540" y="177800"/>
                  </a:cubicBezTo>
                  <a:cubicBezTo>
                    <a:pt x="0" y="170180"/>
                    <a:pt x="11430" y="149860"/>
                    <a:pt x="11430" y="149860"/>
                  </a:cubicBezTo>
                </a:path>
              </a:pathLst>
            </a:custGeom>
            <a:solidFill>
              <a:srgbClr val="1E1E1E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59" id="59"/>
          <p:cNvSpPr txBox="true"/>
          <p:nvPr/>
        </p:nvSpPr>
        <p:spPr>
          <a:xfrm rot="0">
            <a:off x="10316846" y="3460135"/>
            <a:ext cx="1395264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Outputs a csv</a:t>
            </a:r>
          </a:p>
        </p:txBody>
      </p:sp>
      <p:sp>
        <p:nvSpPr>
          <p:cNvPr name="Freeform 60" id="60"/>
          <p:cNvSpPr/>
          <p:nvPr/>
        </p:nvSpPr>
        <p:spPr>
          <a:xfrm flipH="false" flipV="false" rot="0">
            <a:off x="192811" y="421767"/>
            <a:ext cx="1012349" cy="942750"/>
          </a:xfrm>
          <a:custGeom>
            <a:avLst/>
            <a:gdLst/>
            <a:ahLst/>
            <a:cxnLst/>
            <a:rect r="r" b="b" t="t" l="l"/>
            <a:pathLst>
              <a:path h="942750" w="1012349">
                <a:moveTo>
                  <a:pt x="0" y="0"/>
                </a:moveTo>
                <a:lnTo>
                  <a:pt x="1012349" y="0"/>
                </a:lnTo>
                <a:lnTo>
                  <a:pt x="1012349" y="942750"/>
                </a:lnTo>
                <a:lnTo>
                  <a:pt x="0" y="9427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59585" y="790791"/>
            <a:ext cx="16230600" cy="195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3"/>
              </a:lnSpc>
            </a:pPr>
            <a:r>
              <a:rPr lang="en-US" sz="7820" spc="-195">
                <a:solidFill>
                  <a:srgbClr val="0E4714"/>
                </a:solidFill>
                <a:latin typeface="Times New Roman Condensed"/>
                <a:ea typeface="Times New Roman Condensed"/>
                <a:cs typeface="Times New Roman Condensed"/>
                <a:sym typeface="Times New Roman Condensed"/>
              </a:rPr>
              <a:t>BUDGET CLASSIFICATION – MODELS</a:t>
            </a:r>
          </a:p>
          <a:p>
            <a:pPr algn="l">
              <a:lnSpc>
                <a:spcPts val="6803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550165" y="2513390"/>
            <a:ext cx="16940021" cy="8415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 spc="-41">
                <a:solidFill>
                  <a:srgbClr val="0E4714"/>
                </a:solidFill>
                <a:latin typeface="Gotham Bold"/>
                <a:ea typeface="Gotham Bold"/>
                <a:cs typeface="Gotham Bold"/>
                <a:sym typeface="Gotham Bold"/>
              </a:rPr>
              <a:t>Automated Expense Categorization</a:t>
            </a:r>
            <a:r>
              <a:rPr lang="en-US" sz="2799" spc="-41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: </a:t>
            </a:r>
          </a:p>
          <a:p>
            <a:pPr algn="l">
              <a:lnSpc>
                <a:spcPts val="3919"/>
              </a:lnSpc>
            </a:pPr>
            <a:r>
              <a:rPr lang="en-US" sz="2799" spc="-41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      </a:t>
            </a:r>
            <a:r>
              <a:rPr lang="en-US" sz="2799" spc="-41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Classifies each transaction description into categories </a:t>
            </a:r>
          </a:p>
          <a:p>
            <a:pPr algn="l">
              <a:lnSpc>
                <a:spcPts val="3919"/>
              </a:lnSpc>
            </a:pPr>
            <a:r>
              <a:rPr lang="en-US" sz="2799" spc="-41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      </a:t>
            </a:r>
            <a:r>
              <a:rPr lang="en-US" sz="2799" spc="-41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(e.g. Grocery, Rent, Travel, etc.).</a:t>
            </a:r>
          </a:p>
          <a:p>
            <a:pPr algn="l">
              <a:lnSpc>
                <a:spcPts val="3919"/>
              </a:lnSpc>
            </a:pP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 spc="-41">
                <a:solidFill>
                  <a:srgbClr val="0E4714"/>
                </a:solidFill>
                <a:latin typeface="Gotham Bold"/>
                <a:ea typeface="Gotham Bold"/>
                <a:cs typeface="Gotham Bold"/>
                <a:sym typeface="Gotham Bold"/>
              </a:rPr>
              <a:t>M</a:t>
            </a:r>
            <a:r>
              <a:rPr lang="en-US" b="true" sz="2799" spc="-41">
                <a:solidFill>
                  <a:srgbClr val="0E4714"/>
                </a:solidFill>
                <a:latin typeface="Gotham Bold"/>
                <a:ea typeface="Gotham Bold"/>
                <a:cs typeface="Gotham Bold"/>
                <a:sym typeface="Gotham Bold"/>
              </a:rPr>
              <a:t>odels explored:</a:t>
            </a:r>
          </a:p>
          <a:p>
            <a:pPr algn="l" marL="1209039" indent="-403013" lvl="2">
              <a:lnSpc>
                <a:spcPts val="3919"/>
              </a:lnSpc>
              <a:buFont typeface="Arial"/>
              <a:buChar char="⚬"/>
            </a:pPr>
            <a:r>
              <a:rPr lang="en-US" sz="2799" i="true" spc="-41">
                <a:solidFill>
                  <a:srgbClr val="0E4714"/>
                </a:solidFill>
                <a:latin typeface="Gotham Italics"/>
                <a:ea typeface="Gotham Italics"/>
                <a:cs typeface="Gotham Italics"/>
                <a:sym typeface="Gotham Italics"/>
              </a:rPr>
              <a:t>Logistic Regression (baseline bag-of-words).</a:t>
            </a:r>
          </a:p>
          <a:p>
            <a:pPr algn="l" marL="1209039" indent="-403013" lvl="2">
              <a:lnSpc>
                <a:spcPts val="3919"/>
              </a:lnSpc>
              <a:buFont typeface="Arial"/>
              <a:buChar char="⚬"/>
            </a:pPr>
            <a:r>
              <a:rPr lang="en-US" sz="2799" i="true" spc="-41">
                <a:solidFill>
                  <a:srgbClr val="0E4714"/>
                </a:solidFill>
                <a:latin typeface="Gotham Italics"/>
                <a:ea typeface="Gotham Italics"/>
                <a:cs typeface="Gotham Italics"/>
                <a:sym typeface="Gotham Italics"/>
              </a:rPr>
              <a:t>LSTM RNN (recurrent neural network).</a:t>
            </a:r>
          </a:p>
          <a:p>
            <a:pPr algn="l" marL="1209039" indent="-403013" lvl="2">
              <a:lnSpc>
                <a:spcPts val="3919"/>
              </a:lnSpc>
              <a:buFont typeface="Arial"/>
              <a:buChar char="⚬"/>
            </a:pPr>
            <a:r>
              <a:rPr lang="en-US" sz="2799" i="true" spc="-41">
                <a:solidFill>
                  <a:srgbClr val="0E4714"/>
                </a:solidFill>
                <a:latin typeface="Gotham Italics"/>
                <a:ea typeface="Gotham Italics"/>
                <a:cs typeface="Gotham Italics"/>
                <a:sym typeface="Gotham Italics"/>
              </a:rPr>
              <a:t>BERT-base-uncased (fine-tuned transformer for classification).</a:t>
            </a:r>
          </a:p>
          <a:p>
            <a:pPr algn="l" marL="1209039" indent="-403013" lvl="2">
              <a:lnSpc>
                <a:spcPts val="3919"/>
              </a:lnSpc>
              <a:buFont typeface="Arial"/>
              <a:buChar char="⚬"/>
            </a:pPr>
            <a:r>
              <a:rPr lang="en-US" sz="2799" i="true" spc="-41">
                <a:solidFill>
                  <a:srgbClr val="0E4714"/>
                </a:solidFill>
                <a:latin typeface="Gotham Italics"/>
                <a:ea typeface="Gotham Italics"/>
                <a:cs typeface="Gotham Italics"/>
                <a:sym typeface="Gotham Italics"/>
              </a:rPr>
              <a:t>LLaMA3-8b-8192 (large language model in few-shot mode).</a:t>
            </a:r>
          </a:p>
          <a:p>
            <a:pPr algn="l">
              <a:lnSpc>
                <a:spcPts val="3919"/>
              </a:lnSpc>
            </a:pP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 spc="-41">
                <a:solidFill>
                  <a:srgbClr val="0E4714"/>
                </a:solidFill>
                <a:latin typeface="Gotham Bold"/>
                <a:ea typeface="Gotham Bold"/>
                <a:cs typeface="Gotham Bold"/>
                <a:sym typeface="Gotham Bold"/>
              </a:rPr>
              <a:t>Dataset used for fine-tuning:</a:t>
            </a:r>
          </a:p>
          <a:p>
            <a:pPr algn="l" marL="1209039" indent="-403013" lvl="2">
              <a:lnSpc>
                <a:spcPts val="3919"/>
              </a:lnSpc>
              <a:buFont typeface="Arial"/>
              <a:buChar char="⚬"/>
            </a:pPr>
            <a:r>
              <a:rPr lang="en-US" sz="2799" i="true" spc="-41">
                <a:solidFill>
                  <a:srgbClr val="0E4714"/>
                </a:solidFill>
                <a:latin typeface="Gotham Italics"/>
                <a:ea typeface="Gotham Italics"/>
                <a:cs typeface="Gotham Italics"/>
                <a:sym typeface="Gotham Italics"/>
              </a:rPr>
              <a:t>Yelp Open Dataset</a:t>
            </a:r>
          </a:p>
          <a:p>
            <a:pPr algn="l" marL="1209039" indent="-403013" lvl="2">
              <a:lnSpc>
                <a:spcPts val="3919"/>
              </a:lnSpc>
              <a:buFont typeface="Arial"/>
              <a:buChar char="⚬"/>
            </a:pPr>
            <a:r>
              <a:rPr lang="en-US" sz="2799" i="true" spc="-41">
                <a:solidFill>
                  <a:srgbClr val="0E4714"/>
                </a:solidFill>
                <a:latin typeface="Gotham Italics"/>
                <a:ea typeface="Gotham Italics"/>
                <a:cs typeface="Gotham Italics"/>
                <a:sym typeface="Gotham Italics"/>
              </a:rPr>
              <a:t>Synthetic Data</a:t>
            </a:r>
          </a:p>
          <a:p>
            <a:pPr algn="l">
              <a:lnSpc>
                <a:spcPts val="3919"/>
              </a:lnSpc>
            </a:pPr>
          </a:p>
          <a:p>
            <a:pPr algn="l">
              <a:lnSpc>
                <a:spcPts val="3919"/>
              </a:lnSpc>
            </a:pPr>
          </a:p>
          <a:p>
            <a:pPr algn="l">
              <a:lnSpc>
                <a:spcPts val="3919"/>
              </a:lnSpc>
            </a:pPr>
          </a:p>
          <a:p>
            <a:pPr algn="l">
              <a:lnSpc>
                <a:spcPts val="3919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2227104" y="-970806"/>
            <a:ext cx="8434028" cy="6114306"/>
          </a:xfrm>
          <a:custGeom>
            <a:avLst/>
            <a:gdLst/>
            <a:ahLst/>
            <a:cxnLst/>
            <a:rect r="r" b="b" t="t" l="l"/>
            <a:pathLst>
              <a:path h="6114306" w="8434028">
                <a:moveTo>
                  <a:pt x="0" y="0"/>
                </a:moveTo>
                <a:lnTo>
                  <a:pt x="8434028" y="0"/>
                </a:lnTo>
                <a:lnTo>
                  <a:pt x="8434028" y="6114306"/>
                </a:lnTo>
                <a:lnTo>
                  <a:pt x="0" y="61143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93483" r="-128662" b="-5254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47236" y="695541"/>
            <a:ext cx="1012349" cy="942750"/>
          </a:xfrm>
          <a:custGeom>
            <a:avLst/>
            <a:gdLst/>
            <a:ahLst/>
            <a:cxnLst/>
            <a:rect r="r" b="b" t="t" l="l"/>
            <a:pathLst>
              <a:path h="942750" w="1012349">
                <a:moveTo>
                  <a:pt x="0" y="0"/>
                </a:moveTo>
                <a:lnTo>
                  <a:pt x="1012349" y="0"/>
                </a:lnTo>
                <a:lnTo>
                  <a:pt x="1012349" y="942750"/>
                </a:lnTo>
                <a:lnTo>
                  <a:pt x="0" y="9427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227104" y="-970806"/>
            <a:ext cx="8434028" cy="6114306"/>
          </a:xfrm>
          <a:custGeom>
            <a:avLst/>
            <a:gdLst/>
            <a:ahLst/>
            <a:cxnLst/>
            <a:rect r="r" b="b" t="t" l="l"/>
            <a:pathLst>
              <a:path h="6114306" w="8434028">
                <a:moveTo>
                  <a:pt x="0" y="0"/>
                </a:moveTo>
                <a:lnTo>
                  <a:pt x="8434028" y="0"/>
                </a:lnTo>
                <a:lnTo>
                  <a:pt x="8434028" y="6114306"/>
                </a:lnTo>
                <a:lnTo>
                  <a:pt x="0" y="61143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93483" r="-128662" b="-52540"/>
            </a:stretch>
          </a:blipFill>
        </p:spPr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936966" y="3178579"/>
          <a:ext cx="14823834" cy="4210050"/>
        </p:xfrm>
        <a:graphic>
          <a:graphicData uri="http://schemas.openxmlformats.org/drawingml/2006/table">
            <a:tbl>
              <a:tblPr/>
              <a:tblGrid>
                <a:gridCol w="3691508"/>
                <a:gridCol w="1498787"/>
                <a:gridCol w="1144366"/>
                <a:gridCol w="8489172"/>
              </a:tblGrid>
              <a:tr h="109576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E4714"/>
                          </a:solidFill>
                          <a:latin typeface="Gotham Bold"/>
                          <a:ea typeface="Gotham Bold"/>
                          <a:cs typeface="Gotham Bold"/>
                          <a:sym typeface="Gotham Bold"/>
                        </a:rPr>
                        <a:t>Model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E47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E47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E4714"/>
                          </a:solidFill>
                          <a:latin typeface="Gotham Bold"/>
                          <a:ea typeface="Gotham Bold"/>
                          <a:cs typeface="Gotham Bold"/>
                          <a:sym typeface="Gotham Bold"/>
                        </a:rPr>
                        <a:t>Accuracy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E47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E47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E4714"/>
                          </a:solidFill>
                          <a:latin typeface="Gotham Bold"/>
                          <a:ea typeface="Gotham Bold"/>
                          <a:cs typeface="Gotham Bold"/>
                          <a:sym typeface="Gotham Bold"/>
                        </a:rPr>
                        <a:t>Macro F1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E47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E47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E4714"/>
                          </a:solidFill>
                          <a:latin typeface="Gotham Bold"/>
                          <a:ea typeface="Gotham Bold"/>
                          <a:cs typeface="Gotham Bold"/>
                          <a:sym typeface="Gotham Bold"/>
                        </a:rPr>
                        <a:t>Notes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E47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E47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857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E4714"/>
                          </a:solidFill>
                          <a:latin typeface="Gotham"/>
                          <a:ea typeface="Gotham"/>
                          <a:cs typeface="Gotham"/>
                          <a:sym typeface="Gotham"/>
                        </a:rPr>
                        <a:t>Logistic Regression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E47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E47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E4714"/>
                          </a:solidFill>
                          <a:latin typeface="Gotham"/>
                          <a:ea typeface="Gotham"/>
                          <a:cs typeface="Gotham"/>
                          <a:sym typeface="Gotham"/>
                        </a:rPr>
                        <a:t>71%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E47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E47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E4714"/>
                          </a:solidFill>
                          <a:latin typeface="Gotham"/>
                          <a:ea typeface="Gotham"/>
                          <a:cs typeface="Gotham"/>
                          <a:sym typeface="Gotham"/>
                        </a:rPr>
                        <a:t>0.57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E47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E47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E4714"/>
                          </a:solidFill>
                          <a:latin typeface="Gotham"/>
                          <a:ea typeface="Gotham"/>
                          <a:cs typeface="Gotham"/>
                          <a:sym typeface="Gotham"/>
                        </a:rPr>
                        <a:t>Struggled with edge cases (underrepresented categories)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E47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E47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857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E4714"/>
                          </a:solidFill>
                          <a:latin typeface="Gotham"/>
                          <a:ea typeface="Gotham"/>
                          <a:cs typeface="Gotham"/>
                          <a:sym typeface="Gotham"/>
                        </a:rPr>
                        <a:t>LSTM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E47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E47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E4714"/>
                          </a:solidFill>
                          <a:latin typeface="Gotham"/>
                          <a:ea typeface="Gotham"/>
                          <a:cs typeface="Gotham"/>
                          <a:sym typeface="Gotham"/>
                        </a:rPr>
                        <a:t>39%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E47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E47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E4714"/>
                          </a:solidFill>
                          <a:latin typeface="Gotham"/>
                          <a:ea typeface="Gotham"/>
                          <a:cs typeface="Gotham"/>
                          <a:sym typeface="Gotham"/>
                        </a:rPr>
                        <a:t>0.40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E47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E47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E4714"/>
                          </a:solidFill>
                          <a:latin typeface="Gotham"/>
                          <a:ea typeface="Gotham"/>
                          <a:cs typeface="Gotham"/>
                          <a:sym typeface="Gotham"/>
                        </a:rPr>
                        <a:t>Overfit the training data; poor generalization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E47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E47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857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E4714"/>
                          </a:solidFill>
                          <a:latin typeface="Gotham"/>
                          <a:ea typeface="Gotham"/>
                          <a:cs typeface="Gotham"/>
                          <a:sym typeface="Gotham"/>
                        </a:rPr>
                        <a:t>Bert-base-uncase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E47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E47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E4714"/>
                          </a:solidFill>
                          <a:latin typeface="Gotham"/>
                          <a:ea typeface="Gotham"/>
                          <a:cs typeface="Gotham"/>
                          <a:sym typeface="Gotham"/>
                        </a:rPr>
                        <a:t>72%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E47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E47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E4714"/>
                          </a:solidFill>
                          <a:latin typeface="Gotham"/>
                          <a:ea typeface="Gotham"/>
                          <a:cs typeface="Gotham"/>
                          <a:sym typeface="Gotham"/>
                        </a:rPr>
                        <a:t>0.62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E47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E47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E4714"/>
                          </a:solidFill>
                          <a:latin typeface="Gotham"/>
                          <a:ea typeface="Gotham"/>
                          <a:cs typeface="Gotham"/>
                          <a:sym typeface="Gotham"/>
                        </a:rPr>
                        <a:t>Balanced performance, improved recall for </a:t>
                      </a:r>
                      <a:r>
                        <a:rPr lang="en-US" sz="1800" b="true">
                          <a:solidFill>
                            <a:srgbClr val="0E4714"/>
                          </a:solidFill>
                          <a:latin typeface="Gotham Bold"/>
                          <a:ea typeface="Gotham Bold"/>
                          <a:cs typeface="Gotham Bold"/>
                          <a:sym typeface="Gotham Bold"/>
                        </a:rPr>
                        <a:t>minority class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E47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E47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857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E4714"/>
                          </a:solidFill>
                          <a:latin typeface="Gotham"/>
                          <a:ea typeface="Gotham"/>
                          <a:cs typeface="Gotham"/>
                          <a:sym typeface="Gotham"/>
                        </a:rPr>
                        <a:t>LLaMa3-8b-8192 (few- shot)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E47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E4714"/>
                          </a:solidFill>
                          <a:latin typeface="Gotham"/>
                          <a:ea typeface="Gotham"/>
                          <a:cs typeface="Gotham"/>
                          <a:sym typeface="Gotham"/>
                        </a:rPr>
                        <a:t>N/A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E47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E4714"/>
                          </a:solidFill>
                          <a:latin typeface="Gotham"/>
                          <a:ea typeface="Gotham"/>
                          <a:cs typeface="Gotham"/>
                          <a:sym typeface="Gotham"/>
                        </a:rPr>
                        <a:t>N/A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E47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E47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E4714"/>
                          </a:solidFill>
                          <a:latin typeface="Gotham Bold"/>
                          <a:ea typeface="Gotham Bold"/>
                          <a:cs typeface="Gotham Bold"/>
                          <a:sym typeface="Gotham Bold"/>
                        </a:rPr>
                        <a:t>High accuracy</a:t>
                      </a:r>
                      <a:r>
                        <a:rPr lang="en-US" sz="1800">
                          <a:solidFill>
                            <a:srgbClr val="0E4714"/>
                          </a:solidFill>
                          <a:latin typeface="Gotham"/>
                          <a:ea typeface="Gotham"/>
                          <a:cs typeface="Gotham"/>
                          <a:sym typeface="Gotham"/>
                        </a:rPr>
                        <a:t> observed qualitatively (human eval); no training needed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E47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E47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E47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E47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1548044" y="1348794"/>
            <a:ext cx="16230600" cy="691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80"/>
              </a:lnSpc>
            </a:pPr>
            <a:r>
              <a:rPr lang="en-US" sz="4920" spc="-123">
                <a:solidFill>
                  <a:srgbClr val="0E4714"/>
                </a:solidFill>
                <a:latin typeface="Times New Roman Condensed"/>
                <a:ea typeface="Times New Roman Condensed"/>
                <a:cs typeface="Times New Roman Condensed"/>
                <a:sym typeface="Times New Roman Condensed"/>
              </a:rPr>
              <a:t>BUDGET CLASSIFICATION - ACCURACY COMPARISON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36966" y="2507501"/>
            <a:ext cx="12289466" cy="4562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28"/>
              </a:lnSpc>
              <a:spcBef>
                <a:spcPct val="0"/>
              </a:spcBef>
            </a:pPr>
            <a:r>
              <a:rPr lang="en-US" b="true" sz="2663">
                <a:solidFill>
                  <a:srgbClr val="0E4714"/>
                </a:solidFill>
                <a:latin typeface="Gotham Bold"/>
                <a:ea typeface="Gotham Bold"/>
                <a:cs typeface="Gotham Bold"/>
                <a:sym typeface="Gotham Bold"/>
              </a:rPr>
              <a:t>Model performance</a:t>
            </a:r>
            <a:r>
              <a:rPr lang="en-US" sz="2663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 on the transaction categorization: </a:t>
            </a:r>
            <a:r>
              <a:rPr lang="en-US" sz="2663" i="true">
                <a:solidFill>
                  <a:srgbClr val="0E4714"/>
                </a:solidFill>
                <a:latin typeface="Gotham Italics"/>
                <a:ea typeface="Gotham Italics"/>
                <a:cs typeface="Gotham Italics"/>
                <a:sym typeface="Gotham Italics"/>
              </a:rPr>
              <a:t>higher the better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7872333"/>
            <a:ext cx="15135224" cy="1120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7"/>
              </a:lnSpc>
            </a:pPr>
            <a:r>
              <a:rPr lang="en-US" sz="2141" spc="-32" b="true">
                <a:solidFill>
                  <a:srgbClr val="0E4714"/>
                </a:solidFill>
                <a:latin typeface="Gotham Bold"/>
                <a:ea typeface="Gotham Bold"/>
                <a:cs typeface="Gotham Bold"/>
                <a:sym typeface="Gotham Bold"/>
              </a:rPr>
              <a:t>Performance:</a:t>
            </a:r>
            <a:r>
              <a:rPr lang="en-US" sz="2141" spc="-32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 Fine-tuned BERT achieved the best balance (~72% accuracy, improved recall for rare classes), roughly on par with logistic regression’s accuracy but more robust. LSTM severely underperformed (~39% accuracy due to overfitting). The few-shot LLM showed high accuracy qualitatively without any training data.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430792" y="1028700"/>
            <a:ext cx="1012349" cy="942750"/>
          </a:xfrm>
          <a:custGeom>
            <a:avLst/>
            <a:gdLst/>
            <a:ahLst/>
            <a:cxnLst/>
            <a:rect r="r" b="b" t="t" l="l"/>
            <a:pathLst>
              <a:path h="942750" w="1012349">
                <a:moveTo>
                  <a:pt x="0" y="0"/>
                </a:moveTo>
                <a:lnTo>
                  <a:pt x="1012349" y="0"/>
                </a:lnTo>
                <a:lnTo>
                  <a:pt x="1012349" y="942750"/>
                </a:lnTo>
                <a:lnTo>
                  <a:pt x="0" y="9427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27943" y="832586"/>
            <a:ext cx="16230600" cy="1094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3"/>
              </a:lnSpc>
            </a:pPr>
            <a:r>
              <a:rPr lang="en-US" sz="7820" spc="-195">
                <a:solidFill>
                  <a:srgbClr val="0E4714"/>
                </a:solidFill>
                <a:latin typeface="Times New Roman Condensed"/>
                <a:ea typeface="Times New Roman Condensed"/>
                <a:cs typeface="Times New Roman Condensed"/>
                <a:sym typeface="Times New Roman Condensed"/>
              </a:rPr>
              <a:t>VISUALIZATION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2820119" y="-2858684"/>
            <a:ext cx="7071128" cy="5126262"/>
          </a:xfrm>
          <a:custGeom>
            <a:avLst/>
            <a:gdLst/>
            <a:ahLst/>
            <a:cxnLst/>
            <a:rect r="r" b="b" t="t" l="l"/>
            <a:pathLst>
              <a:path h="5126262" w="7071128">
                <a:moveTo>
                  <a:pt x="0" y="0"/>
                </a:moveTo>
                <a:lnTo>
                  <a:pt x="7071128" y="0"/>
                </a:lnTo>
                <a:lnTo>
                  <a:pt x="7071128" y="5126262"/>
                </a:lnTo>
                <a:lnTo>
                  <a:pt x="0" y="51262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93483" r="-128662" b="-5254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259115" y="1965444"/>
            <a:ext cx="3910683" cy="3826582"/>
          </a:xfrm>
          <a:custGeom>
            <a:avLst/>
            <a:gdLst/>
            <a:ahLst/>
            <a:cxnLst/>
            <a:rect r="r" b="b" t="t" l="l"/>
            <a:pathLst>
              <a:path h="3826582" w="3910683">
                <a:moveTo>
                  <a:pt x="0" y="0"/>
                </a:moveTo>
                <a:lnTo>
                  <a:pt x="3910683" y="0"/>
                </a:lnTo>
                <a:lnTo>
                  <a:pt x="3910683" y="3826582"/>
                </a:lnTo>
                <a:lnTo>
                  <a:pt x="0" y="38265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2654" t="-6639" r="-44088" b="-25044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1957112" y="5870779"/>
            <a:ext cx="2195414" cy="284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65"/>
              </a:lnSpc>
              <a:spcBef>
                <a:spcPct val="0"/>
              </a:spcBef>
            </a:pPr>
            <a:r>
              <a:rPr lang="en-US" b="true" sz="1618" spc="-40">
                <a:solidFill>
                  <a:srgbClr val="DA723E"/>
                </a:solidFill>
                <a:latin typeface="Gotham Bold"/>
                <a:ea typeface="Gotham Bold"/>
                <a:cs typeface="Gotham Bold"/>
                <a:sym typeface="Gotham Bold"/>
              </a:rPr>
              <a:t>Grocery: $40.66</a:t>
            </a:r>
          </a:p>
        </p:txBody>
      </p:sp>
      <p:sp>
        <p:nvSpPr>
          <p:cNvPr name="AutoShape 6" id="6"/>
          <p:cNvSpPr/>
          <p:nvPr/>
        </p:nvSpPr>
        <p:spPr>
          <a:xfrm flipH="true">
            <a:off x="13193805" y="5702335"/>
            <a:ext cx="4759" cy="206544"/>
          </a:xfrm>
          <a:prstGeom prst="line">
            <a:avLst/>
          </a:prstGeom>
          <a:ln cap="flat" w="28575">
            <a:solidFill>
              <a:srgbClr val="DA723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4326800" y="5335108"/>
            <a:ext cx="2195414" cy="284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65"/>
              </a:lnSpc>
              <a:spcBef>
                <a:spcPct val="0"/>
              </a:spcBef>
            </a:pPr>
            <a:r>
              <a:rPr lang="en-US" b="true" sz="1618" spc="-40">
                <a:solidFill>
                  <a:srgbClr val="7673B7"/>
                </a:solidFill>
                <a:latin typeface="Gotham Bold"/>
                <a:ea typeface="Gotham Bold"/>
                <a:cs typeface="Gotham Bold"/>
                <a:sym typeface="Gotham Bold"/>
              </a:rPr>
              <a:t>Travel: $76.52</a:t>
            </a:r>
          </a:p>
        </p:txBody>
      </p:sp>
      <p:sp>
        <p:nvSpPr>
          <p:cNvPr name="AutoShape 8" id="8"/>
          <p:cNvSpPr/>
          <p:nvPr/>
        </p:nvSpPr>
        <p:spPr>
          <a:xfrm>
            <a:off x="14464733" y="5238800"/>
            <a:ext cx="223200" cy="134408"/>
          </a:xfrm>
          <a:prstGeom prst="line">
            <a:avLst/>
          </a:prstGeom>
          <a:ln cap="flat" w="28575">
            <a:solidFill>
              <a:srgbClr val="7673B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15169798" y="4098441"/>
            <a:ext cx="1757291" cy="284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65"/>
              </a:lnSpc>
              <a:spcBef>
                <a:spcPct val="0"/>
              </a:spcBef>
            </a:pPr>
            <a:r>
              <a:rPr lang="en-US" b="true" sz="1618" spc="-40">
                <a:solidFill>
                  <a:srgbClr val="9183B4"/>
                </a:solidFill>
                <a:latin typeface="Gotham Bold"/>
                <a:ea typeface="Gotham Bold"/>
                <a:cs typeface="Gotham Bold"/>
                <a:sym typeface="Gotham Bold"/>
              </a:rPr>
              <a:t>Services: $31.05</a:t>
            </a:r>
          </a:p>
        </p:txBody>
      </p:sp>
      <p:sp>
        <p:nvSpPr>
          <p:cNvPr name="AutoShape 10" id="10"/>
          <p:cNvSpPr/>
          <p:nvPr/>
        </p:nvSpPr>
        <p:spPr>
          <a:xfrm>
            <a:off x="15020243" y="4259734"/>
            <a:ext cx="149555" cy="0"/>
          </a:xfrm>
          <a:prstGeom prst="line">
            <a:avLst/>
          </a:prstGeom>
          <a:ln cap="flat" w="28575">
            <a:solidFill>
              <a:srgbClr val="7673B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14687933" y="2321856"/>
            <a:ext cx="1481900" cy="284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65"/>
              </a:lnSpc>
              <a:spcBef>
                <a:spcPct val="0"/>
              </a:spcBef>
            </a:pPr>
            <a:r>
              <a:rPr lang="en-US" b="true" sz="1618" spc="-40">
                <a:solidFill>
                  <a:srgbClr val="0FA98A"/>
                </a:solidFill>
                <a:latin typeface="Gotham Bold"/>
                <a:ea typeface="Gotham Bold"/>
                <a:cs typeface="Gotham Bold"/>
                <a:sym typeface="Gotham Bold"/>
              </a:rPr>
              <a:t>Food: $123.69</a:t>
            </a:r>
          </a:p>
        </p:txBody>
      </p:sp>
      <p:sp>
        <p:nvSpPr>
          <p:cNvPr name="AutoShape 12" id="12"/>
          <p:cNvSpPr/>
          <p:nvPr/>
        </p:nvSpPr>
        <p:spPr>
          <a:xfrm flipV="true">
            <a:off x="14575145" y="2483148"/>
            <a:ext cx="112788" cy="123193"/>
          </a:xfrm>
          <a:prstGeom prst="line">
            <a:avLst/>
          </a:prstGeom>
          <a:ln cap="flat" w="28575">
            <a:solidFill>
              <a:srgbClr val="0FA98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3" id="13"/>
          <p:cNvSpPr txBox="true"/>
          <p:nvPr/>
        </p:nvSpPr>
        <p:spPr>
          <a:xfrm rot="0">
            <a:off x="9615052" y="2863715"/>
            <a:ext cx="1970094" cy="284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65"/>
              </a:lnSpc>
              <a:spcBef>
                <a:spcPct val="0"/>
              </a:spcBef>
            </a:pPr>
            <a:r>
              <a:rPr lang="en-US" b="true" sz="1618" spc="-40">
                <a:solidFill>
                  <a:srgbClr val="D6A028"/>
                </a:solidFill>
                <a:latin typeface="Gotham Bold"/>
                <a:ea typeface="Gotham Bold"/>
                <a:cs typeface="Gotham Bold"/>
                <a:sym typeface="Gotham Bold"/>
              </a:rPr>
              <a:t>Shopping: $237.20 </a:t>
            </a:r>
          </a:p>
        </p:txBody>
      </p:sp>
      <p:sp>
        <p:nvSpPr>
          <p:cNvPr name="AutoShape 14" id="14"/>
          <p:cNvSpPr/>
          <p:nvPr/>
        </p:nvSpPr>
        <p:spPr>
          <a:xfrm>
            <a:off x="11106847" y="3148200"/>
            <a:ext cx="478299" cy="106061"/>
          </a:xfrm>
          <a:prstGeom prst="line">
            <a:avLst/>
          </a:prstGeom>
          <a:ln cap="flat" w="28575">
            <a:solidFill>
              <a:srgbClr val="D6A0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5" id="15"/>
          <p:cNvSpPr txBox="true"/>
          <p:nvPr/>
        </p:nvSpPr>
        <p:spPr>
          <a:xfrm rot="0">
            <a:off x="11463296" y="7078569"/>
            <a:ext cx="3961211" cy="306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3"/>
              </a:lnSpc>
            </a:pPr>
            <a:r>
              <a:rPr lang="en-US" sz="1795" spc="-26" b="true">
                <a:solidFill>
                  <a:srgbClr val="0E4714"/>
                </a:solidFill>
                <a:latin typeface="Gotham Bold"/>
                <a:ea typeface="Gotham Bold"/>
                <a:cs typeface="Gotham Bold"/>
                <a:sym typeface="Gotham Bold"/>
              </a:rPr>
              <a:t>Categorized spending breakdown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3687866"/>
            <a:ext cx="8277790" cy="2816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2694" indent="-216347" lvl="1">
              <a:lnSpc>
                <a:spcPts val="2805"/>
              </a:lnSpc>
              <a:buFont typeface="Arial"/>
              <a:buChar char="•"/>
            </a:pPr>
            <a:r>
              <a:rPr lang="en-US" sz="2004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The donut chart displays categorized transaction outputs from the Budget Classification Agent, segmented using LLM-based labeling.</a:t>
            </a:r>
          </a:p>
          <a:p>
            <a:pPr algn="l">
              <a:lnSpc>
                <a:spcPts val="2805"/>
              </a:lnSpc>
            </a:pPr>
          </a:p>
          <a:p>
            <a:pPr algn="l" marL="432694" indent="-216347" lvl="1">
              <a:lnSpc>
                <a:spcPts val="2805"/>
              </a:lnSpc>
              <a:buFont typeface="Arial"/>
              <a:buChar char="•"/>
            </a:pPr>
            <a:r>
              <a:rPr lang="en-US" sz="2004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Provides structured inputs to the </a:t>
            </a:r>
            <a:r>
              <a:rPr lang="en-US" b="true" sz="2004">
                <a:solidFill>
                  <a:srgbClr val="0E4714"/>
                </a:solidFill>
                <a:latin typeface="Gotham Bold"/>
                <a:ea typeface="Gotham Bold"/>
                <a:cs typeface="Gotham Bold"/>
                <a:sym typeface="Gotham Bold"/>
              </a:rPr>
              <a:t>Budget Optimization Agent</a:t>
            </a:r>
            <a:r>
              <a:rPr lang="en-US" sz="2004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 for downstream budget rule evaluation and adjustment inference.</a:t>
            </a:r>
          </a:p>
          <a:p>
            <a:pPr algn="just">
              <a:lnSpc>
                <a:spcPts val="2805"/>
              </a:lnSpc>
            </a:pPr>
          </a:p>
        </p:txBody>
      </p:sp>
      <p:grpSp>
        <p:nvGrpSpPr>
          <p:cNvPr name="Group 17" id="17"/>
          <p:cNvGrpSpPr/>
          <p:nvPr/>
        </p:nvGrpSpPr>
        <p:grpSpPr>
          <a:xfrm rot="0">
            <a:off x="11467638" y="6543809"/>
            <a:ext cx="167187" cy="167187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6A028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612861" y="6543809"/>
            <a:ext cx="167187" cy="167187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A98A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3879842" y="6543809"/>
            <a:ext cx="167187" cy="167187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673B7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2756285" y="6543809"/>
            <a:ext cx="167187" cy="167187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A723E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4761403" y="6543809"/>
            <a:ext cx="167187" cy="167187"/>
            <a:chOff x="0" y="0"/>
            <a:chExt cx="8128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183B4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10808479" y="6471510"/>
            <a:ext cx="527745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Food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1691623" y="6465885"/>
            <a:ext cx="969764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Shopping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4066078" y="6481035"/>
            <a:ext cx="590550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Travel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4976215" y="6471510"/>
            <a:ext cx="839837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Services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971097" y="6471510"/>
            <a:ext cx="803970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Grocery</a:t>
            </a:r>
          </a:p>
        </p:txBody>
      </p:sp>
      <p:sp>
        <p:nvSpPr>
          <p:cNvPr name="Freeform 37" id="37"/>
          <p:cNvSpPr/>
          <p:nvPr/>
        </p:nvSpPr>
        <p:spPr>
          <a:xfrm flipH="false" flipV="false" rot="0">
            <a:off x="522526" y="737336"/>
            <a:ext cx="1012349" cy="942750"/>
          </a:xfrm>
          <a:custGeom>
            <a:avLst/>
            <a:gdLst/>
            <a:ahLst/>
            <a:cxnLst/>
            <a:rect r="r" b="b" t="t" l="l"/>
            <a:pathLst>
              <a:path h="942750" w="1012349">
                <a:moveTo>
                  <a:pt x="0" y="0"/>
                </a:moveTo>
                <a:lnTo>
                  <a:pt x="1012348" y="0"/>
                </a:lnTo>
                <a:lnTo>
                  <a:pt x="1012348" y="942750"/>
                </a:lnTo>
                <a:lnTo>
                  <a:pt x="0" y="9427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35455" y="832590"/>
            <a:ext cx="16230600" cy="195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3"/>
              </a:lnSpc>
            </a:pPr>
            <a:r>
              <a:rPr lang="en-US" sz="7820" spc="-195">
                <a:solidFill>
                  <a:srgbClr val="0E4714"/>
                </a:solidFill>
                <a:latin typeface="Times New Roman Condensed"/>
                <a:ea typeface="Times New Roman Condensed"/>
                <a:cs typeface="Times New Roman Condensed"/>
                <a:sym typeface="Times New Roman Condensed"/>
              </a:rPr>
              <a:t>BUDGET OPTIMIZATION</a:t>
            </a:r>
          </a:p>
          <a:p>
            <a:pPr algn="l">
              <a:lnSpc>
                <a:spcPts val="6803"/>
              </a:lnSpc>
            </a:pP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2227104" y="-970806"/>
            <a:ext cx="8434028" cy="6114306"/>
          </a:xfrm>
          <a:custGeom>
            <a:avLst/>
            <a:gdLst/>
            <a:ahLst/>
            <a:cxnLst/>
            <a:rect r="r" b="b" t="t" l="l"/>
            <a:pathLst>
              <a:path h="6114306" w="8434028">
                <a:moveTo>
                  <a:pt x="0" y="0"/>
                </a:moveTo>
                <a:lnTo>
                  <a:pt x="8434028" y="0"/>
                </a:lnTo>
                <a:lnTo>
                  <a:pt x="8434028" y="6114306"/>
                </a:lnTo>
                <a:lnTo>
                  <a:pt x="0" y="61143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93483" r="-128662" b="-5254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194133" y="4587786"/>
            <a:ext cx="2701417" cy="1111428"/>
            <a:chOff x="0" y="0"/>
            <a:chExt cx="711484" cy="29272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11484" cy="292722"/>
            </a:xfrm>
            <a:custGeom>
              <a:avLst/>
              <a:gdLst/>
              <a:ahLst/>
              <a:cxnLst/>
              <a:rect r="r" b="b" t="t" l="l"/>
              <a:pathLst>
                <a:path h="292722" w="711484">
                  <a:moveTo>
                    <a:pt x="48720" y="0"/>
                  </a:moveTo>
                  <a:lnTo>
                    <a:pt x="662765" y="0"/>
                  </a:lnTo>
                  <a:cubicBezTo>
                    <a:pt x="675686" y="0"/>
                    <a:pt x="688078" y="5133"/>
                    <a:pt x="697215" y="14270"/>
                  </a:cubicBezTo>
                  <a:cubicBezTo>
                    <a:pt x="706351" y="23406"/>
                    <a:pt x="711484" y="35799"/>
                    <a:pt x="711484" y="48720"/>
                  </a:cubicBezTo>
                  <a:lnTo>
                    <a:pt x="711484" y="244002"/>
                  </a:lnTo>
                  <a:cubicBezTo>
                    <a:pt x="711484" y="270909"/>
                    <a:pt x="689672" y="292722"/>
                    <a:pt x="662765" y="292722"/>
                  </a:cubicBezTo>
                  <a:lnTo>
                    <a:pt x="48720" y="292722"/>
                  </a:lnTo>
                  <a:cubicBezTo>
                    <a:pt x="35799" y="292722"/>
                    <a:pt x="23406" y="287589"/>
                    <a:pt x="14270" y="278452"/>
                  </a:cubicBezTo>
                  <a:cubicBezTo>
                    <a:pt x="5133" y="269315"/>
                    <a:pt x="0" y="256923"/>
                    <a:pt x="0" y="244002"/>
                  </a:cubicBezTo>
                  <a:lnTo>
                    <a:pt x="0" y="48720"/>
                  </a:lnTo>
                  <a:cubicBezTo>
                    <a:pt x="0" y="35799"/>
                    <a:pt x="5133" y="23406"/>
                    <a:pt x="14270" y="14270"/>
                  </a:cubicBezTo>
                  <a:cubicBezTo>
                    <a:pt x="23406" y="5133"/>
                    <a:pt x="35799" y="0"/>
                    <a:pt x="48720" y="0"/>
                  </a:cubicBezTo>
                  <a:close/>
                </a:path>
              </a:pathLst>
            </a:custGeom>
            <a:solidFill>
              <a:srgbClr val="0E4714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711484" cy="3403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8"/>
                </a:lnSpc>
              </a:pPr>
              <a:r>
                <a:rPr lang="en-US" sz="1863">
                  <a:solidFill>
                    <a:srgbClr val="FFFFFF"/>
                  </a:solidFill>
                  <a:latin typeface="Gotham"/>
                  <a:ea typeface="Gotham"/>
                  <a:cs typeface="Gotham"/>
                  <a:sym typeface="Gotham"/>
                </a:rPr>
                <a:t>Categorized Spending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5001666" y="2827715"/>
            <a:ext cx="2906934" cy="1189926"/>
            <a:chOff x="0" y="0"/>
            <a:chExt cx="765612" cy="31339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65612" cy="313396"/>
            </a:xfrm>
            <a:custGeom>
              <a:avLst/>
              <a:gdLst/>
              <a:ahLst/>
              <a:cxnLst/>
              <a:rect r="r" b="b" t="t" l="l"/>
              <a:pathLst>
                <a:path h="313396" w="765612">
                  <a:moveTo>
                    <a:pt x="45275" y="0"/>
                  </a:moveTo>
                  <a:lnTo>
                    <a:pt x="720337" y="0"/>
                  </a:lnTo>
                  <a:cubicBezTo>
                    <a:pt x="745342" y="0"/>
                    <a:pt x="765612" y="20270"/>
                    <a:pt x="765612" y="45275"/>
                  </a:cubicBezTo>
                  <a:lnTo>
                    <a:pt x="765612" y="268121"/>
                  </a:lnTo>
                  <a:cubicBezTo>
                    <a:pt x="765612" y="293126"/>
                    <a:pt x="745342" y="313396"/>
                    <a:pt x="720337" y="313396"/>
                  </a:cubicBezTo>
                  <a:lnTo>
                    <a:pt x="45275" y="313396"/>
                  </a:lnTo>
                  <a:cubicBezTo>
                    <a:pt x="20270" y="313396"/>
                    <a:pt x="0" y="293126"/>
                    <a:pt x="0" y="268121"/>
                  </a:cubicBezTo>
                  <a:lnTo>
                    <a:pt x="0" y="45275"/>
                  </a:lnTo>
                  <a:cubicBezTo>
                    <a:pt x="0" y="20270"/>
                    <a:pt x="20270" y="0"/>
                    <a:pt x="45275" y="0"/>
                  </a:cubicBezTo>
                  <a:close/>
                </a:path>
              </a:pathLst>
            </a:custGeom>
            <a:solidFill>
              <a:srgbClr val="0E4714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765612" cy="3610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8"/>
                </a:lnSpc>
              </a:pPr>
              <a:r>
                <a:rPr lang="en-US" sz="1863">
                  <a:solidFill>
                    <a:srgbClr val="FFFFFF"/>
                  </a:solidFill>
                  <a:latin typeface="Gotham"/>
                  <a:ea typeface="Gotham"/>
                  <a:cs typeface="Gotham"/>
                  <a:sym typeface="Gotham"/>
                </a:rPr>
                <a:t>Income Input by User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001666" y="4548537"/>
            <a:ext cx="2906934" cy="1189926"/>
            <a:chOff x="0" y="0"/>
            <a:chExt cx="765612" cy="31339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65612" cy="313396"/>
            </a:xfrm>
            <a:custGeom>
              <a:avLst/>
              <a:gdLst/>
              <a:ahLst/>
              <a:cxnLst/>
              <a:rect r="r" b="b" t="t" l="l"/>
              <a:pathLst>
                <a:path h="313396" w="765612">
                  <a:moveTo>
                    <a:pt x="45275" y="0"/>
                  </a:moveTo>
                  <a:lnTo>
                    <a:pt x="720337" y="0"/>
                  </a:lnTo>
                  <a:cubicBezTo>
                    <a:pt x="745342" y="0"/>
                    <a:pt x="765612" y="20270"/>
                    <a:pt x="765612" y="45275"/>
                  </a:cubicBezTo>
                  <a:lnTo>
                    <a:pt x="765612" y="268121"/>
                  </a:lnTo>
                  <a:cubicBezTo>
                    <a:pt x="765612" y="293126"/>
                    <a:pt x="745342" y="313396"/>
                    <a:pt x="720337" y="313396"/>
                  </a:cubicBezTo>
                  <a:lnTo>
                    <a:pt x="45275" y="313396"/>
                  </a:lnTo>
                  <a:cubicBezTo>
                    <a:pt x="20270" y="313396"/>
                    <a:pt x="0" y="293126"/>
                    <a:pt x="0" y="268121"/>
                  </a:cubicBezTo>
                  <a:lnTo>
                    <a:pt x="0" y="45275"/>
                  </a:lnTo>
                  <a:cubicBezTo>
                    <a:pt x="0" y="20270"/>
                    <a:pt x="20270" y="0"/>
                    <a:pt x="45275" y="0"/>
                  </a:cubicBezTo>
                  <a:close/>
                </a:path>
              </a:pathLst>
            </a:custGeom>
            <a:solidFill>
              <a:srgbClr val="0E4714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765612" cy="3610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8"/>
                </a:lnSpc>
              </a:pPr>
              <a:r>
                <a:rPr lang="en-US" sz="1863">
                  <a:solidFill>
                    <a:srgbClr val="FFFFFF"/>
                  </a:solidFill>
                  <a:latin typeface="Gotham"/>
                  <a:ea typeface="Gotham"/>
                  <a:cs typeface="Gotham"/>
                  <a:sym typeface="Gotham"/>
                </a:rPr>
                <a:t>50/30/20 Budget Comparsion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5001666" y="6223129"/>
            <a:ext cx="2906934" cy="1189926"/>
            <a:chOff x="0" y="0"/>
            <a:chExt cx="765612" cy="31339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65612" cy="313396"/>
            </a:xfrm>
            <a:custGeom>
              <a:avLst/>
              <a:gdLst/>
              <a:ahLst/>
              <a:cxnLst/>
              <a:rect r="r" b="b" t="t" l="l"/>
              <a:pathLst>
                <a:path h="313396" w="765612">
                  <a:moveTo>
                    <a:pt x="45275" y="0"/>
                  </a:moveTo>
                  <a:lnTo>
                    <a:pt x="720337" y="0"/>
                  </a:lnTo>
                  <a:cubicBezTo>
                    <a:pt x="745342" y="0"/>
                    <a:pt x="765612" y="20270"/>
                    <a:pt x="765612" y="45275"/>
                  </a:cubicBezTo>
                  <a:lnTo>
                    <a:pt x="765612" y="268121"/>
                  </a:lnTo>
                  <a:cubicBezTo>
                    <a:pt x="765612" y="293126"/>
                    <a:pt x="745342" y="313396"/>
                    <a:pt x="720337" y="313396"/>
                  </a:cubicBezTo>
                  <a:lnTo>
                    <a:pt x="45275" y="313396"/>
                  </a:lnTo>
                  <a:cubicBezTo>
                    <a:pt x="20270" y="313396"/>
                    <a:pt x="0" y="293126"/>
                    <a:pt x="0" y="268121"/>
                  </a:cubicBezTo>
                  <a:lnTo>
                    <a:pt x="0" y="45275"/>
                  </a:lnTo>
                  <a:cubicBezTo>
                    <a:pt x="0" y="20270"/>
                    <a:pt x="20270" y="0"/>
                    <a:pt x="45275" y="0"/>
                  </a:cubicBezTo>
                  <a:close/>
                </a:path>
              </a:pathLst>
            </a:custGeom>
            <a:solidFill>
              <a:srgbClr val="0E4714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765612" cy="3610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8"/>
                </a:lnSpc>
              </a:pPr>
              <a:r>
                <a:rPr lang="en-US" sz="1863">
                  <a:solidFill>
                    <a:srgbClr val="FFFFFF"/>
                  </a:solidFill>
                  <a:latin typeface="Gotham"/>
                  <a:ea typeface="Gotham"/>
                  <a:cs typeface="Gotham"/>
                  <a:sym typeface="Gotham"/>
                </a:rPr>
                <a:t>Flag Overspending Areas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558221" y="4548537"/>
            <a:ext cx="2906934" cy="1189926"/>
            <a:chOff x="0" y="0"/>
            <a:chExt cx="765612" cy="31339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65612" cy="313396"/>
            </a:xfrm>
            <a:custGeom>
              <a:avLst/>
              <a:gdLst/>
              <a:ahLst/>
              <a:cxnLst/>
              <a:rect r="r" b="b" t="t" l="l"/>
              <a:pathLst>
                <a:path h="313396" w="765612">
                  <a:moveTo>
                    <a:pt x="45275" y="0"/>
                  </a:moveTo>
                  <a:lnTo>
                    <a:pt x="720337" y="0"/>
                  </a:lnTo>
                  <a:cubicBezTo>
                    <a:pt x="745342" y="0"/>
                    <a:pt x="765612" y="20270"/>
                    <a:pt x="765612" y="45275"/>
                  </a:cubicBezTo>
                  <a:lnTo>
                    <a:pt x="765612" y="268121"/>
                  </a:lnTo>
                  <a:cubicBezTo>
                    <a:pt x="765612" y="293126"/>
                    <a:pt x="745342" y="313396"/>
                    <a:pt x="720337" y="313396"/>
                  </a:cubicBezTo>
                  <a:lnTo>
                    <a:pt x="45275" y="313396"/>
                  </a:lnTo>
                  <a:cubicBezTo>
                    <a:pt x="20270" y="313396"/>
                    <a:pt x="0" y="293126"/>
                    <a:pt x="0" y="268121"/>
                  </a:cubicBezTo>
                  <a:lnTo>
                    <a:pt x="0" y="45275"/>
                  </a:lnTo>
                  <a:cubicBezTo>
                    <a:pt x="0" y="20270"/>
                    <a:pt x="20270" y="0"/>
                    <a:pt x="45275" y="0"/>
                  </a:cubicBezTo>
                  <a:close/>
                </a:path>
              </a:pathLst>
            </a:custGeom>
            <a:solidFill>
              <a:srgbClr val="0E4714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765612" cy="3610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8"/>
                </a:lnSpc>
              </a:pPr>
              <a:r>
                <a:rPr lang="en-US" sz="1863">
                  <a:solidFill>
                    <a:srgbClr val="FFFFFF"/>
                  </a:solidFill>
                  <a:latin typeface="Gotham"/>
                  <a:ea typeface="Gotham"/>
                  <a:cs typeface="Gotham"/>
                  <a:sym typeface="Gotham"/>
                </a:rPr>
                <a:t>Budget Suggestions (LLaMa 3)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2671735" y="4548537"/>
            <a:ext cx="2906934" cy="1189926"/>
            <a:chOff x="0" y="0"/>
            <a:chExt cx="765612" cy="31339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65612" cy="313396"/>
            </a:xfrm>
            <a:custGeom>
              <a:avLst/>
              <a:gdLst/>
              <a:ahLst/>
              <a:cxnLst/>
              <a:rect r="r" b="b" t="t" l="l"/>
              <a:pathLst>
                <a:path h="313396" w="765612">
                  <a:moveTo>
                    <a:pt x="45275" y="0"/>
                  </a:moveTo>
                  <a:lnTo>
                    <a:pt x="720337" y="0"/>
                  </a:lnTo>
                  <a:cubicBezTo>
                    <a:pt x="745342" y="0"/>
                    <a:pt x="765612" y="20270"/>
                    <a:pt x="765612" y="45275"/>
                  </a:cubicBezTo>
                  <a:lnTo>
                    <a:pt x="765612" y="268121"/>
                  </a:lnTo>
                  <a:cubicBezTo>
                    <a:pt x="765612" y="293126"/>
                    <a:pt x="745342" y="313396"/>
                    <a:pt x="720337" y="313396"/>
                  </a:cubicBezTo>
                  <a:lnTo>
                    <a:pt x="45275" y="313396"/>
                  </a:lnTo>
                  <a:cubicBezTo>
                    <a:pt x="20270" y="313396"/>
                    <a:pt x="0" y="293126"/>
                    <a:pt x="0" y="268121"/>
                  </a:cubicBezTo>
                  <a:lnTo>
                    <a:pt x="0" y="45275"/>
                  </a:lnTo>
                  <a:cubicBezTo>
                    <a:pt x="0" y="20270"/>
                    <a:pt x="20270" y="0"/>
                    <a:pt x="45275" y="0"/>
                  </a:cubicBezTo>
                  <a:close/>
                </a:path>
              </a:pathLst>
            </a:custGeom>
            <a:solidFill>
              <a:srgbClr val="0E4714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765612" cy="3610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8"/>
                </a:lnSpc>
              </a:pPr>
              <a:r>
                <a:rPr lang="en-US" sz="1863">
                  <a:solidFill>
                    <a:srgbClr val="FFFFFF"/>
                  </a:solidFill>
                  <a:latin typeface="Gotham"/>
                  <a:ea typeface="Gotham"/>
                  <a:cs typeface="Gotham"/>
                  <a:sym typeface="Gotham"/>
                </a:rPr>
                <a:t>Budget Optimization</a:t>
              </a:r>
            </a:p>
          </p:txBody>
        </p:sp>
      </p:grpSp>
      <p:sp>
        <p:nvSpPr>
          <p:cNvPr name="AutoShape 22" id="22"/>
          <p:cNvSpPr/>
          <p:nvPr/>
        </p:nvSpPr>
        <p:spPr>
          <a:xfrm flipV="true">
            <a:off x="3895550" y="3422678"/>
            <a:ext cx="1106116" cy="1720822"/>
          </a:xfrm>
          <a:prstGeom prst="line">
            <a:avLst/>
          </a:prstGeom>
          <a:ln cap="flat" w="38100">
            <a:solidFill>
              <a:srgbClr val="0E471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3" id="23"/>
          <p:cNvSpPr/>
          <p:nvPr/>
        </p:nvSpPr>
        <p:spPr>
          <a:xfrm flipV="true">
            <a:off x="7908600" y="5738463"/>
            <a:ext cx="2103088" cy="1079629"/>
          </a:xfrm>
          <a:prstGeom prst="line">
            <a:avLst/>
          </a:prstGeom>
          <a:ln cap="flat" w="38100">
            <a:solidFill>
              <a:srgbClr val="0E471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4" id="24"/>
          <p:cNvSpPr/>
          <p:nvPr/>
        </p:nvSpPr>
        <p:spPr>
          <a:xfrm>
            <a:off x="7908600" y="3422678"/>
            <a:ext cx="2103088" cy="1125859"/>
          </a:xfrm>
          <a:prstGeom prst="line">
            <a:avLst/>
          </a:prstGeom>
          <a:ln cap="flat" w="38100">
            <a:solidFill>
              <a:srgbClr val="0E471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5" id="25"/>
          <p:cNvSpPr/>
          <p:nvPr/>
        </p:nvSpPr>
        <p:spPr>
          <a:xfrm>
            <a:off x="7908600" y="5143500"/>
            <a:ext cx="649621" cy="0"/>
          </a:xfrm>
          <a:prstGeom prst="line">
            <a:avLst/>
          </a:prstGeom>
          <a:ln cap="flat" w="38100">
            <a:solidFill>
              <a:srgbClr val="0E471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6" id="26"/>
          <p:cNvSpPr/>
          <p:nvPr/>
        </p:nvSpPr>
        <p:spPr>
          <a:xfrm>
            <a:off x="3895550" y="5143500"/>
            <a:ext cx="1106116" cy="1674592"/>
          </a:xfrm>
          <a:prstGeom prst="line">
            <a:avLst/>
          </a:prstGeom>
          <a:ln cap="flat" w="38100">
            <a:solidFill>
              <a:srgbClr val="0E471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7" id="27"/>
          <p:cNvSpPr/>
          <p:nvPr/>
        </p:nvSpPr>
        <p:spPr>
          <a:xfrm>
            <a:off x="3895550" y="5143500"/>
            <a:ext cx="1106116" cy="0"/>
          </a:xfrm>
          <a:prstGeom prst="line">
            <a:avLst/>
          </a:prstGeom>
          <a:ln cap="flat" w="38100">
            <a:solidFill>
              <a:srgbClr val="0E471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8" id="28"/>
          <p:cNvSpPr/>
          <p:nvPr/>
        </p:nvSpPr>
        <p:spPr>
          <a:xfrm flipV="true">
            <a:off x="11465155" y="5143500"/>
            <a:ext cx="1206580" cy="0"/>
          </a:xfrm>
          <a:prstGeom prst="line">
            <a:avLst/>
          </a:prstGeom>
          <a:ln cap="flat" w="38100">
            <a:solidFill>
              <a:srgbClr val="0E471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9" id="29"/>
          <p:cNvGrpSpPr/>
          <p:nvPr/>
        </p:nvGrpSpPr>
        <p:grpSpPr>
          <a:xfrm rot="0">
            <a:off x="4825365" y="3220402"/>
            <a:ext cx="233362" cy="384810"/>
            <a:chOff x="0" y="0"/>
            <a:chExt cx="311150" cy="51308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48260" y="46990"/>
              <a:ext cx="212090" cy="420370"/>
            </a:xfrm>
            <a:custGeom>
              <a:avLst/>
              <a:gdLst/>
              <a:ahLst/>
              <a:cxnLst/>
              <a:rect r="r" b="b" t="t" l="l"/>
              <a:pathLst>
                <a:path h="420370" w="212090">
                  <a:moveTo>
                    <a:pt x="69850" y="8890"/>
                  </a:moveTo>
                  <a:cubicBezTo>
                    <a:pt x="180340" y="147320"/>
                    <a:pt x="207010" y="184150"/>
                    <a:pt x="210820" y="210820"/>
                  </a:cubicBezTo>
                  <a:cubicBezTo>
                    <a:pt x="212090" y="228600"/>
                    <a:pt x="208280" y="238760"/>
                    <a:pt x="198120" y="256540"/>
                  </a:cubicBezTo>
                  <a:cubicBezTo>
                    <a:pt x="176530" y="295910"/>
                    <a:pt x="85090" y="396240"/>
                    <a:pt x="48260" y="411480"/>
                  </a:cubicBezTo>
                  <a:cubicBezTo>
                    <a:pt x="33020" y="419100"/>
                    <a:pt x="16510" y="417830"/>
                    <a:pt x="8890" y="412750"/>
                  </a:cubicBezTo>
                  <a:cubicBezTo>
                    <a:pt x="3810" y="408940"/>
                    <a:pt x="0" y="396240"/>
                    <a:pt x="2540" y="388620"/>
                  </a:cubicBezTo>
                  <a:cubicBezTo>
                    <a:pt x="3810" y="381000"/>
                    <a:pt x="17780" y="368300"/>
                    <a:pt x="26670" y="367030"/>
                  </a:cubicBezTo>
                  <a:cubicBezTo>
                    <a:pt x="33020" y="365760"/>
                    <a:pt x="44450" y="370840"/>
                    <a:pt x="49530" y="377190"/>
                  </a:cubicBezTo>
                  <a:cubicBezTo>
                    <a:pt x="53340" y="384810"/>
                    <a:pt x="55880" y="402590"/>
                    <a:pt x="49530" y="408940"/>
                  </a:cubicBezTo>
                  <a:cubicBezTo>
                    <a:pt x="44450" y="416560"/>
                    <a:pt x="19050" y="420370"/>
                    <a:pt x="11430" y="415290"/>
                  </a:cubicBezTo>
                  <a:cubicBezTo>
                    <a:pt x="5080" y="410210"/>
                    <a:pt x="1270" y="394970"/>
                    <a:pt x="3810" y="383540"/>
                  </a:cubicBezTo>
                  <a:cubicBezTo>
                    <a:pt x="6350" y="367030"/>
                    <a:pt x="25400" y="349250"/>
                    <a:pt x="43180" y="330200"/>
                  </a:cubicBezTo>
                  <a:cubicBezTo>
                    <a:pt x="71120" y="299720"/>
                    <a:pt x="152400" y="254000"/>
                    <a:pt x="161290" y="226060"/>
                  </a:cubicBezTo>
                  <a:cubicBezTo>
                    <a:pt x="165100" y="210820"/>
                    <a:pt x="157480" y="203200"/>
                    <a:pt x="149860" y="187960"/>
                  </a:cubicBezTo>
                  <a:cubicBezTo>
                    <a:pt x="130810" y="152400"/>
                    <a:pt x="31750" y="67310"/>
                    <a:pt x="26670" y="34290"/>
                  </a:cubicBezTo>
                  <a:cubicBezTo>
                    <a:pt x="25400" y="21590"/>
                    <a:pt x="33020" y="7620"/>
                    <a:pt x="40640" y="3810"/>
                  </a:cubicBezTo>
                  <a:cubicBezTo>
                    <a:pt x="48260" y="0"/>
                    <a:pt x="69850" y="8890"/>
                    <a:pt x="69850" y="8890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4792028" y="4916805"/>
            <a:ext cx="237172" cy="439103"/>
            <a:chOff x="0" y="0"/>
            <a:chExt cx="316230" cy="58547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48260" y="46990"/>
              <a:ext cx="217170" cy="491490"/>
            </a:xfrm>
            <a:custGeom>
              <a:avLst/>
              <a:gdLst/>
              <a:ahLst/>
              <a:cxnLst/>
              <a:rect r="r" b="b" t="t" l="l"/>
              <a:pathLst>
                <a:path h="491490" w="217170">
                  <a:moveTo>
                    <a:pt x="45720" y="11430"/>
                  </a:moveTo>
                  <a:cubicBezTo>
                    <a:pt x="217170" y="259080"/>
                    <a:pt x="217170" y="265430"/>
                    <a:pt x="215900" y="275590"/>
                  </a:cubicBezTo>
                  <a:cubicBezTo>
                    <a:pt x="215900" y="288290"/>
                    <a:pt x="213360" y="298450"/>
                    <a:pt x="205740" y="316230"/>
                  </a:cubicBezTo>
                  <a:cubicBezTo>
                    <a:pt x="189230" y="354330"/>
                    <a:pt x="132080" y="471170"/>
                    <a:pt x="101600" y="485140"/>
                  </a:cubicBezTo>
                  <a:cubicBezTo>
                    <a:pt x="87630" y="491490"/>
                    <a:pt x="68580" y="486410"/>
                    <a:pt x="62230" y="478790"/>
                  </a:cubicBezTo>
                  <a:cubicBezTo>
                    <a:pt x="57150" y="473710"/>
                    <a:pt x="55880" y="461010"/>
                    <a:pt x="59690" y="453390"/>
                  </a:cubicBezTo>
                  <a:cubicBezTo>
                    <a:pt x="62230" y="447040"/>
                    <a:pt x="71120" y="438150"/>
                    <a:pt x="78740" y="436880"/>
                  </a:cubicBezTo>
                  <a:cubicBezTo>
                    <a:pt x="87630" y="435610"/>
                    <a:pt x="104140" y="443230"/>
                    <a:pt x="109220" y="450850"/>
                  </a:cubicBezTo>
                  <a:cubicBezTo>
                    <a:pt x="113030" y="457200"/>
                    <a:pt x="113030" y="471170"/>
                    <a:pt x="109220" y="476250"/>
                  </a:cubicBezTo>
                  <a:cubicBezTo>
                    <a:pt x="102870" y="483870"/>
                    <a:pt x="78740" y="491490"/>
                    <a:pt x="69850" y="487680"/>
                  </a:cubicBezTo>
                  <a:cubicBezTo>
                    <a:pt x="62230" y="483870"/>
                    <a:pt x="57150" y="469900"/>
                    <a:pt x="58420" y="455930"/>
                  </a:cubicBezTo>
                  <a:cubicBezTo>
                    <a:pt x="60960" y="422910"/>
                    <a:pt x="154940" y="321310"/>
                    <a:pt x="165100" y="288290"/>
                  </a:cubicBezTo>
                  <a:cubicBezTo>
                    <a:pt x="168910" y="276860"/>
                    <a:pt x="168910" y="274320"/>
                    <a:pt x="166370" y="262890"/>
                  </a:cubicBezTo>
                  <a:cubicBezTo>
                    <a:pt x="153670" y="223520"/>
                    <a:pt x="8890" y="77470"/>
                    <a:pt x="2540" y="35560"/>
                  </a:cubicBezTo>
                  <a:cubicBezTo>
                    <a:pt x="0" y="21590"/>
                    <a:pt x="5080" y="8890"/>
                    <a:pt x="12700" y="3810"/>
                  </a:cubicBezTo>
                  <a:cubicBezTo>
                    <a:pt x="20320" y="0"/>
                    <a:pt x="45720" y="11430"/>
                    <a:pt x="45720" y="11430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4836795" y="6631305"/>
            <a:ext cx="218122" cy="405765"/>
            <a:chOff x="0" y="0"/>
            <a:chExt cx="290830" cy="54102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46990" y="45720"/>
              <a:ext cx="195580" cy="444500"/>
            </a:xfrm>
            <a:custGeom>
              <a:avLst/>
              <a:gdLst/>
              <a:ahLst/>
              <a:cxnLst/>
              <a:rect r="r" b="b" t="t" l="l"/>
              <a:pathLst>
                <a:path h="444500" w="195580">
                  <a:moveTo>
                    <a:pt x="44450" y="7620"/>
                  </a:moveTo>
                  <a:cubicBezTo>
                    <a:pt x="146050" y="102870"/>
                    <a:pt x="186690" y="165100"/>
                    <a:pt x="191770" y="199390"/>
                  </a:cubicBezTo>
                  <a:cubicBezTo>
                    <a:pt x="195580" y="220980"/>
                    <a:pt x="189230" y="231140"/>
                    <a:pt x="180340" y="254000"/>
                  </a:cubicBezTo>
                  <a:cubicBezTo>
                    <a:pt x="162560" y="297180"/>
                    <a:pt x="97790" y="408940"/>
                    <a:pt x="72390" y="433070"/>
                  </a:cubicBezTo>
                  <a:cubicBezTo>
                    <a:pt x="63500" y="440690"/>
                    <a:pt x="57150" y="444500"/>
                    <a:pt x="49530" y="444500"/>
                  </a:cubicBezTo>
                  <a:cubicBezTo>
                    <a:pt x="41910" y="444500"/>
                    <a:pt x="30480" y="438150"/>
                    <a:pt x="26670" y="431800"/>
                  </a:cubicBezTo>
                  <a:cubicBezTo>
                    <a:pt x="21590" y="425450"/>
                    <a:pt x="20320" y="412750"/>
                    <a:pt x="24130" y="405130"/>
                  </a:cubicBezTo>
                  <a:cubicBezTo>
                    <a:pt x="27940" y="397510"/>
                    <a:pt x="44450" y="388620"/>
                    <a:pt x="53340" y="388620"/>
                  </a:cubicBezTo>
                  <a:cubicBezTo>
                    <a:pt x="60960" y="388620"/>
                    <a:pt x="71120" y="396240"/>
                    <a:pt x="74930" y="403860"/>
                  </a:cubicBezTo>
                  <a:cubicBezTo>
                    <a:pt x="78740" y="410210"/>
                    <a:pt x="78740" y="422910"/>
                    <a:pt x="74930" y="430530"/>
                  </a:cubicBezTo>
                  <a:cubicBezTo>
                    <a:pt x="71120" y="436880"/>
                    <a:pt x="59690" y="443230"/>
                    <a:pt x="52070" y="444500"/>
                  </a:cubicBezTo>
                  <a:cubicBezTo>
                    <a:pt x="44450" y="444500"/>
                    <a:pt x="33020" y="440690"/>
                    <a:pt x="27940" y="434340"/>
                  </a:cubicBezTo>
                  <a:cubicBezTo>
                    <a:pt x="22860" y="426720"/>
                    <a:pt x="22860" y="414020"/>
                    <a:pt x="26670" y="400050"/>
                  </a:cubicBezTo>
                  <a:cubicBezTo>
                    <a:pt x="34290" y="368300"/>
                    <a:pt x="81280" y="293370"/>
                    <a:pt x="104140" y="261620"/>
                  </a:cubicBezTo>
                  <a:cubicBezTo>
                    <a:pt x="119380" y="242570"/>
                    <a:pt x="142240" y="238760"/>
                    <a:pt x="144780" y="219710"/>
                  </a:cubicBezTo>
                  <a:cubicBezTo>
                    <a:pt x="148590" y="191770"/>
                    <a:pt x="106680" y="137160"/>
                    <a:pt x="81280" y="106680"/>
                  </a:cubicBezTo>
                  <a:cubicBezTo>
                    <a:pt x="58420" y="78740"/>
                    <a:pt x="11430" y="59690"/>
                    <a:pt x="3810" y="39370"/>
                  </a:cubicBezTo>
                  <a:cubicBezTo>
                    <a:pt x="0" y="26670"/>
                    <a:pt x="3810" y="10160"/>
                    <a:pt x="10160" y="5080"/>
                  </a:cubicBezTo>
                  <a:cubicBezTo>
                    <a:pt x="16510" y="0"/>
                    <a:pt x="44450" y="7620"/>
                    <a:pt x="44450" y="7620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8358188" y="4897755"/>
            <a:ext cx="231458" cy="515303"/>
            <a:chOff x="0" y="0"/>
            <a:chExt cx="308610" cy="68707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49530" y="48260"/>
              <a:ext cx="209550" cy="589280"/>
            </a:xfrm>
            <a:custGeom>
              <a:avLst/>
              <a:gdLst/>
              <a:ahLst/>
              <a:cxnLst/>
              <a:rect r="r" b="b" t="t" l="l"/>
              <a:pathLst>
                <a:path h="589280" w="209550">
                  <a:moveTo>
                    <a:pt x="73660" y="15240"/>
                  </a:moveTo>
                  <a:cubicBezTo>
                    <a:pt x="208280" y="261620"/>
                    <a:pt x="209550" y="264160"/>
                    <a:pt x="208280" y="278130"/>
                  </a:cubicBezTo>
                  <a:cubicBezTo>
                    <a:pt x="204470" y="307340"/>
                    <a:pt x="175260" y="365760"/>
                    <a:pt x="151130" y="411480"/>
                  </a:cubicBezTo>
                  <a:cubicBezTo>
                    <a:pt x="123190" y="464820"/>
                    <a:pt x="73660" y="556260"/>
                    <a:pt x="48260" y="576580"/>
                  </a:cubicBezTo>
                  <a:cubicBezTo>
                    <a:pt x="39370" y="585470"/>
                    <a:pt x="31750" y="588010"/>
                    <a:pt x="24130" y="586740"/>
                  </a:cubicBezTo>
                  <a:cubicBezTo>
                    <a:pt x="16510" y="585470"/>
                    <a:pt x="6350" y="579120"/>
                    <a:pt x="2540" y="571500"/>
                  </a:cubicBezTo>
                  <a:cubicBezTo>
                    <a:pt x="0" y="565150"/>
                    <a:pt x="0" y="552450"/>
                    <a:pt x="2540" y="546100"/>
                  </a:cubicBezTo>
                  <a:cubicBezTo>
                    <a:pt x="6350" y="539750"/>
                    <a:pt x="16510" y="532130"/>
                    <a:pt x="24130" y="530860"/>
                  </a:cubicBezTo>
                  <a:cubicBezTo>
                    <a:pt x="31750" y="530860"/>
                    <a:pt x="44450" y="534670"/>
                    <a:pt x="48260" y="541020"/>
                  </a:cubicBezTo>
                  <a:cubicBezTo>
                    <a:pt x="54610" y="548640"/>
                    <a:pt x="55880" y="567690"/>
                    <a:pt x="50800" y="575310"/>
                  </a:cubicBezTo>
                  <a:cubicBezTo>
                    <a:pt x="45720" y="581660"/>
                    <a:pt x="26670" y="589280"/>
                    <a:pt x="19050" y="585470"/>
                  </a:cubicBezTo>
                  <a:cubicBezTo>
                    <a:pt x="10160" y="581660"/>
                    <a:pt x="0" y="562610"/>
                    <a:pt x="1270" y="548640"/>
                  </a:cubicBezTo>
                  <a:cubicBezTo>
                    <a:pt x="3810" y="528320"/>
                    <a:pt x="35560" y="509270"/>
                    <a:pt x="54610" y="477520"/>
                  </a:cubicBezTo>
                  <a:cubicBezTo>
                    <a:pt x="85090" y="427990"/>
                    <a:pt x="161290" y="339090"/>
                    <a:pt x="158750" y="267970"/>
                  </a:cubicBezTo>
                  <a:cubicBezTo>
                    <a:pt x="157480" y="190500"/>
                    <a:pt x="26670" y="73660"/>
                    <a:pt x="26670" y="31750"/>
                  </a:cubicBezTo>
                  <a:cubicBezTo>
                    <a:pt x="26670" y="17780"/>
                    <a:pt x="34290" y="5080"/>
                    <a:pt x="43180" y="2540"/>
                  </a:cubicBezTo>
                  <a:cubicBezTo>
                    <a:pt x="50800" y="0"/>
                    <a:pt x="73660" y="15240"/>
                    <a:pt x="73660" y="15240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9850755" y="4328160"/>
            <a:ext cx="336232" cy="270510"/>
            <a:chOff x="0" y="0"/>
            <a:chExt cx="448310" cy="36068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49530" y="46990"/>
              <a:ext cx="351790" cy="264160"/>
            </a:xfrm>
            <a:custGeom>
              <a:avLst/>
              <a:gdLst/>
              <a:ahLst/>
              <a:cxnLst/>
              <a:rect r="r" b="b" t="t" l="l"/>
              <a:pathLst>
                <a:path h="264160" w="351790">
                  <a:moveTo>
                    <a:pt x="48260" y="62230"/>
                  </a:moveTo>
                  <a:cubicBezTo>
                    <a:pt x="172720" y="226060"/>
                    <a:pt x="172720" y="236220"/>
                    <a:pt x="170180" y="243840"/>
                  </a:cubicBezTo>
                  <a:cubicBezTo>
                    <a:pt x="166370" y="251460"/>
                    <a:pt x="158750" y="260350"/>
                    <a:pt x="151130" y="261620"/>
                  </a:cubicBezTo>
                  <a:cubicBezTo>
                    <a:pt x="142240" y="262890"/>
                    <a:pt x="121920" y="255270"/>
                    <a:pt x="118110" y="245110"/>
                  </a:cubicBezTo>
                  <a:cubicBezTo>
                    <a:pt x="113030" y="234950"/>
                    <a:pt x="118110" y="218440"/>
                    <a:pt x="128270" y="199390"/>
                  </a:cubicBezTo>
                  <a:cubicBezTo>
                    <a:pt x="151130" y="153670"/>
                    <a:pt x="269240" y="17780"/>
                    <a:pt x="308610" y="3810"/>
                  </a:cubicBezTo>
                  <a:cubicBezTo>
                    <a:pt x="322580" y="0"/>
                    <a:pt x="336550" y="2540"/>
                    <a:pt x="342900" y="10160"/>
                  </a:cubicBezTo>
                  <a:cubicBezTo>
                    <a:pt x="349250" y="17780"/>
                    <a:pt x="347980" y="44450"/>
                    <a:pt x="340360" y="50800"/>
                  </a:cubicBezTo>
                  <a:cubicBezTo>
                    <a:pt x="334010" y="57150"/>
                    <a:pt x="304800" y="54610"/>
                    <a:pt x="299720" y="46990"/>
                  </a:cubicBezTo>
                  <a:cubicBezTo>
                    <a:pt x="293370" y="39370"/>
                    <a:pt x="298450" y="11430"/>
                    <a:pt x="306070" y="6350"/>
                  </a:cubicBezTo>
                  <a:cubicBezTo>
                    <a:pt x="313690" y="0"/>
                    <a:pt x="340360" y="7620"/>
                    <a:pt x="346710" y="15240"/>
                  </a:cubicBezTo>
                  <a:cubicBezTo>
                    <a:pt x="351790" y="20320"/>
                    <a:pt x="351790" y="29210"/>
                    <a:pt x="347980" y="41910"/>
                  </a:cubicBezTo>
                  <a:cubicBezTo>
                    <a:pt x="334010" y="81280"/>
                    <a:pt x="180340" y="255270"/>
                    <a:pt x="144780" y="262890"/>
                  </a:cubicBezTo>
                  <a:cubicBezTo>
                    <a:pt x="133350" y="264160"/>
                    <a:pt x="130810" y="259080"/>
                    <a:pt x="120650" y="251460"/>
                  </a:cubicBezTo>
                  <a:cubicBezTo>
                    <a:pt x="93980" y="229870"/>
                    <a:pt x="6350" y="120650"/>
                    <a:pt x="1270" y="86360"/>
                  </a:cubicBezTo>
                  <a:cubicBezTo>
                    <a:pt x="0" y="71120"/>
                    <a:pt x="6350" y="57150"/>
                    <a:pt x="13970" y="53340"/>
                  </a:cubicBezTo>
                  <a:cubicBezTo>
                    <a:pt x="21590" y="49530"/>
                    <a:pt x="48260" y="62230"/>
                    <a:pt x="48260" y="62230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9841230" y="5698808"/>
            <a:ext cx="381000" cy="259080"/>
            <a:chOff x="0" y="0"/>
            <a:chExt cx="508000" cy="3454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50800" y="48260"/>
              <a:ext cx="410210" cy="250190"/>
            </a:xfrm>
            <a:custGeom>
              <a:avLst/>
              <a:gdLst/>
              <a:ahLst/>
              <a:cxnLst/>
              <a:rect r="r" b="b" t="t" l="l"/>
              <a:pathLst>
                <a:path h="250190" w="410210">
                  <a:moveTo>
                    <a:pt x="11430" y="203200"/>
                  </a:moveTo>
                  <a:cubicBezTo>
                    <a:pt x="185420" y="7620"/>
                    <a:pt x="191770" y="0"/>
                    <a:pt x="208280" y="2540"/>
                  </a:cubicBezTo>
                  <a:cubicBezTo>
                    <a:pt x="250190" y="10160"/>
                    <a:pt x="392430" y="148590"/>
                    <a:pt x="405130" y="187960"/>
                  </a:cubicBezTo>
                  <a:cubicBezTo>
                    <a:pt x="410210" y="201930"/>
                    <a:pt x="406400" y="215900"/>
                    <a:pt x="400050" y="220980"/>
                  </a:cubicBezTo>
                  <a:cubicBezTo>
                    <a:pt x="392430" y="227330"/>
                    <a:pt x="365760" y="226060"/>
                    <a:pt x="359410" y="219710"/>
                  </a:cubicBezTo>
                  <a:cubicBezTo>
                    <a:pt x="353060" y="212090"/>
                    <a:pt x="356870" y="184150"/>
                    <a:pt x="363220" y="179070"/>
                  </a:cubicBezTo>
                  <a:cubicBezTo>
                    <a:pt x="370840" y="172720"/>
                    <a:pt x="398780" y="177800"/>
                    <a:pt x="403860" y="185420"/>
                  </a:cubicBezTo>
                  <a:cubicBezTo>
                    <a:pt x="408940" y="193040"/>
                    <a:pt x="402590" y="218440"/>
                    <a:pt x="394970" y="224790"/>
                  </a:cubicBezTo>
                  <a:cubicBezTo>
                    <a:pt x="389890" y="229870"/>
                    <a:pt x="379730" y="229870"/>
                    <a:pt x="369570" y="226060"/>
                  </a:cubicBezTo>
                  <a:cubicBezTo>
                    <a:pt x="347980" y="219710"/>
                    <a:pt x="307340" y="175260"/>
                    <a:pt x="281940" y="153670"/>
                  </a:cubicBezTo>
                  <a:cubicBezTo>
                    <a:pt x="264160" y="137160"/>
                    <a:pt x="247650" y="124460"/>
                    <a:pt x="234950" y="106680"/>
                  </a:cubicBezTo>
                  <a:cubicBezTo>
                    <a:pt x="222250" y="88900"/>
                    <a:pt x="220980" y="48260"/>
                    <a:pt x="207010" y="46990"/>
                  </a:cubicBezTo>
                  <a:cubicBezTo>
                    <a:pt x="177800" y="44450"/>
                    <a:pt x="100330" y="207010"/>
                    <a:pt x="59690" y="232410"/>
                  </a:cubicBezTo>
                  <a:cubicBezTo>
                    <a:pt x="41910" y="245110"/>
                    <a:pt x="20320" y="250190"/>
                    <a:pt x="10160" y="246380"/>
                  </a:cubicBezTo>
                  <a:cubicBezTo>
                    <a:pt x="3810" y="242570"/>
                    <a:pt x="0" y="231140"/>
                    <a:pt x="0" y="224790"/>
                  </a:cubicBezTo>
                  <a:cubicBezTo>
                    <a:pt x="0" y="217170"/>
                    <a:pt x="11430" y="203200"/>
                    <a:pt x="11430" y="203200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12507278" y="4942522"/>
            <a:ext cx="219075" cy="408622"/>
            <a:chOff x="0" y="0"/>
            <a:chExt cx="292100" cy="54483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48260" y="46990"/>
              <a:ext cx="195580" cy="445770"/>
            </a:xfrm>
            <a:custGeom>
              <a:avLst/>
              <a:gdLst/>
              <a:ahLst/>
              <a:cxnLst/>
              <a:rect r="r" b="b" t="t" l="l"/>
              <a:pathLst>
                <a:path h="445770" w="195580">
                  <a:moveTo>
                    <a:pt x="45720" y="12700"/>
                  </a:moveTo>
                  <a:cubicBezTo>
                    <a:pt x="173990" y="142240"/>
                    <a:pt x="187960" y="162560"/>
                    <a:pt x="191770" y="180340"/>
                  </a:cubicBezTo>
                  <a:cubicBezTo>
                    <a:pt x="195580" y="193040"/>
                    <a:pt x="194310" y="201930"/>
                    <a:pt x="189230" y="217170"/>
                  </a:cubicBezTo>
                  <a:cubicBezTo>
                    <a:pt x="177800" y="251460"/>
                    <a:pt x="124460" y="340360"/>
                    <a:pt x="101600" y="365760"/>
                  </a:cubicBezTo>
                  <a:cubicBezTo>
                    <a:pt x="90170" y="377190"/>
                    <a:pt x="80010" y="377190"/>
                    <a:pt x="73660" y="386080"/>
                  </a:cubicBezTo>
                  <a:cubicBezTo>
                    <a:pt x="64770" y="398780"/>
                    <a:pt x="67310" y="424180"/>
                    <a:pt x="59690" y="434340"/>
                  </a:cubicBezTo>
                  <a:cubicBezTo>
                    <a:pt x="53340" y="441960"/>
                    <a:pt x="43180" y="445770"/>
                    <a:pt x="35560" y="445770"/>
                  </a:cubicBezTo>
                  <a:cubicBezTo>
                    <a:pt x="27940" y="445770"/>
                    <a:pt x="16510" y="440690"/>
                    <a:pt x="12700" y="433070"/>
                  </a:cubicBezTo>
                  <a:cubicBezTo>
                    <a:pt x="8890" y="425450"/>
                    <a:pt x="10160" y="406400"/>
                    <a:pt x="15240" y="398780"/>
                  </a:cubicBezTo>
                  <a:cubicBezTo>
                    <a:pt x="20320" y="392430"/>
                    <a:pt x="31750" y="388620"/>
                    <a:pt x="40640" y="389890"/>
                  </a:cubicBezTo>
                  <a:cubicBezTo>
                    <a:pt x="48260" y="391160"/>
                    <a:pt x="58420" y="397510"/>
                    <a:pt x="62230" y="405130"/>
                  </a:cubicBezTo>
                  <a:cubicBezTo>
                    <a:pt x="64770" y="411480"/>
                    <a:pt x="66040" y="425450"/>
                    <a:pt x="60960" y="431800"/>
                  </a:cubicBezTo>
                  <a:cubicBezTo>
                    <a:pt x="54610" y="439420"/>
                    <a:pt x="30480" y="445770"/>
                    <a:pt x="21590" y="441960"/>
                  </a:cubicBezTo>
                  <a:cubicBezTo>
                    <a:pt x="13970" y="438150"/>
                    <a:pt x="7620" y="424180"/>
                    <a:pt x="8890" y="410210"/>
                  </a:cubicBezTo>
                  <a:cubicBezTo>
                    <a:pt x="13970" y="369570"/>
                    <a:pt x="142240" y="247650"/>
                    <a:pt x="143510" y="199390"/>
                  </a:cubicBezTo>
                  <a:cubicBezTo>
                    <a:pt x="144780" y="173990"/>
                    <a:pt x="125730" y="157480"/>
                    <a:pt x="110490" y="139700"/>
                  </a:cubicBezTo>
                  <a:cubicBezTo>
                    <a:pt x="93980" y="121920"/>
                    <a:pt x="62230" y="111760"/>
                    <a:pt x="43180" y="93980"/>
                  </a:cubicBezTo>
                  <a:cubicBezTo>
                    <a:pt x="26670" y="78740"/>
                    <a:pt x="6350" y="58420"/>
                    <a:pt x="2540" y="41910"/>
                  </a:cubicBezTo>
                  <a:cubicBezTo>
                    <a:pt x="0" y="29210"/>
                    <a:pt x="5080" y="8890"/>
                    <a:pt x="12700" y="3810"/>
                  </a:cubicBezTo>
                  <a:cubicBezTo>
                    <a:pt x="20320" y="0"/>
                    <a:pt x="45720" y="12700"/>
                    <a:pt x="45720" y="12700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43" id="43"/>
          <p:cNvSpPr/>
          <p:nvPr/>
        </p:nvSpPr>
        <p:spPr>
          <a:xfrm flipH="false" flipV="false" rot="0">
            <a:off x="522526" y="737340"/>
            <a:ext cx="1012349" cy="942750"/>
          </a:xfrm>
          <a:custGeom>
            <a:avLst/>
            <a:gdLst/>
            <a:ahLst/>
            <a:cxnLst/>
            <a:rect r="r" b="b" t="t" l="l"/>
            <a:pathLst>
              <a:path h="942750" w="1012349">
                <a:moveTo>
                  <a:pt x="0" y="0"/>
                </a:moveTo>
                <a:lnTo>
                  <a:pt x="1012348" y="0"/>
                </a:lnTo>
                <a:lnTo>
                  <a:pt x="1012348" y="942750"/>
                </a:lnTo>
                <a:lnTo>
                  <a:pt x="0" y="9427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89231" y="870690"/>
            <a:ext cx="16230600" cy="195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3"/>
              </a:lnSpc>
            </a:pPr>
            <a:r>
              <a:rPr lang="en-US" sz="7820" spc="-195">
                <a:solidFill>
                  <a:srgbClr val="0E4714"/>
                </a:solidFill>
                <a:latin typeface="Times New Roman Condensed"/>
                <a:ea typeface="Times New Roman Condensed"/>
                <a:cs typeface="Times New Roman Condensed"/>
                <a:sym typeface="Times New Roman Condensed"/>
              </a:rPr>
              <a:t>BUDGET OPTIMIZATION</a:t>
            </a:r>
          </a:p>
          <a:p>
            <a:pPr algn="l">
              <a:lnSpc>
                <a:spcPts val="6803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700824" y="3073169"/>
            <a:ext cx="13698297" cy="6337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27874" indent="-213937" lvl="1">
              <a:lnSpc>
                <a:spcPts val="2774"/>
              </a:lnSpc>
              <a:buFont typeface="Arial"/>
              <a:buChar char="•"/>
            </a:pPr>
            <a:r>
              <a:rPr lang="en-US" sz="1981" spc="-29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After </a:t>
            </a:r>
            <a:r>
              <a:rPr lang="en-US" b="true" sz="1981" spc="-29">
                <a:solidFill>
                  <a:srgbClr val="0E4714"/>
                </a:solidFill>
                <a:latin typeface="Gotham Bold"/>
                <a:ea typeface="Gotham Bold"/>
                <a:cs typeface="Gotham Bold"/>
                <a:sym typeface="Gotham Bold"/>
              </a:rPr>
              <a:t>categorization</a:t>
            </a:r>
            <a:r>
              <a:rPr lang="en-US" sz="1981" spc="-29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, the system evaluates spending against the </a:t>
            </a:r>
            <a:r>
              <a:rPr lang="en-US" b="true" sz="1981" spc="-29">
                <a:solidFill>
                  <a:srgbClr val="0E4714"/>
                </a:solidFill>
                <a:latin typeface="Gotham Bold"/>
                <a:ea typeface="Gotham Bold"/>
                <a:cs typeface="Gotham Bold"/>
                <a:sym typeface="Gotham Bold"/>
              </a:rPr>
              <a:t>50/30/20 budget rule*</a:t>
            </a:r>
            <a:r>
              <a:rPr lang="en-US" sz="1981" spc="-29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:</a:t>
            </a:r>
          </a:p>
          <a:p>
            <a:pPr algn="l" marL="855748" indent="-285249" lvl="2">
              <a:lnSpc>
                <a:spcPts val="2774"/>
              </a:lnSpc>
              <a:buFont typeface="Arial"/>
              <a:buChar char="⚬"/>
            </a:pPr>
            <a:r>
              <a:rPr lang="en-US" b="true" sz="1981" i="true" spc="-29">
                <a:solidFill>
                  <a:srgbClr val="0E4714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Needs</a:t>
            </a:r>
            <a:r>
              <a:rPr lang="en-US" sz="1981" i="true" spc="-29">
                <a:solidFill>
                  <a:srgbClr val="0E4714"/>
                </a:solidFill>
                <a:latin typeface="Gotham Italics"/>
                <a:ea typeface="Gotham Italics"/>
                <a:cs typeface="Gotham Italics"/>
                <a:sym typeface="Gotham Italics"/>
              </a:rPr>
              <a:t>:</a:t>
            </a:r>
            <a:r>
              <a:rPr lang="en-US" sz="1981" spc="-29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 50% of income (essentials like rent, groceries, utilities).</a:t>
            </a:r>
          </a:p>
          <a:p>
            <a:pPr algn="l" marL="855748" indent="-285249" lvl="2">
              <a:lnSpc>
                <a:spcPts val="2774"/>
              </a:lnSpc>
              <a:buFont typeface="Arial"/>
              <a:buChar char="⚬"/>
            </a:pPr>
            <a:r>
              <a:rPr lang="en-US" b="true" sz="1981" i="true" spc="-29">
                <a:solidFill>
                  <a:srgbClr val="0E4714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Wants</a:t>
            </a:r>
            <a:r>
              <a:rPr lang="en-US" sz="1981" i="true" spc="-29">
                <a:solidFill>
                  <a:srgbClr val="0E4714"/>
                </a:solidFill>
                <a:latin typeface="Gotham Italics"/>
                <a:ea typeface="Gotham Italics"/>
                <a:cs typeface="Gotham Italics"/>
                <a:sym typeface="Gotham Italics"/>
              </a:rPr>
              <a:t>:</a:t>
            </a:r>
            <a:r>
              <a:rPr lang="en-US" sz="1981" spc="-29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 30% (discretionary: entertainment, dining, travel, etc.).</a:t>
            </a:r>
          </a:p>
          <a:p>
            <a:pPr algn="l" marL="855748" indent="-285249" lvl="2">
              <a:lnSpc>
                <a:spcPts val="2774"/>
              </a:lnSpc>
              <a:buFont typeface="Arial"/>
              <a:buChar char="⚬"/>
            </a:pPr>
            <a:r>
              <a:rPr lang="en-US" b="true" sz="1981" i="true" spc="-29">
                <a:solidFill>
                  <a:srgbClr val="0E4714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Savings</a:t>
            </a:r>
            <a:r>
              <a:rPr lang="en-US" sz="1981" i="true" spc="-29">
                <a:solidFill>
                  <a:srgbClr val="0E4714"/>
                </a:solidFill>
                <a:latin typeface="Gotham Italics"/>
                <a:ea typeface="Gotham Italics"/>
                <a:cs typeface="Gotham Italics"/>
                <a:sym typeface="Gotham Italics"/>
              </a:rPr>
              <a:t>:</a:t>
            </a:r>
            <a:r>
              <a:rPr lang="en-US" sz="1981" spc="-29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 20% (savings or debt payments).</a:t>
            </a:r>
          </a:p>
          <a:p>
            <a:pPr algn="l">
              <a:lnSpc>
                <a:spcPts val="2774"/>
              </a:lnSpc>
            </a:pPr>
          </a:p>
          <a:p>
            <a:pPr algn="l" marL="427874" indent="-213937" lvl="1">
              <a:lnSpc>
                <a:spcPts val="2774"/>
              </a:lnSpc>
              <a:buFont typeface="Arial"/>
              <a:buChar char="•"/>
            </a:pPr>
            <a:r>
              <a:rPr lang="en-US" sz="1981" spc="-29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Each spending category is mapped to these buckets (e.g. </a:t>
            </a:r>
            <a:r>
              <a:rPr lang="en-US" sz="1981" i="true" spc="-29">
                <a:solidFill>
                  <a:srgbClr val="0E4714"/>
                </a:solidFill>
                <a:latin typeface="Gotham Italics"/>
                <a:ea typeface="Gotham Italics"/>
                <a:cs typeface="Gotham Italics"/>
                <a:sym typeface="Gotham Italics"/>
              </a:rPr>
              <a:t>Rent → Needs</a:t>
            </a:r>
            <a:r>
              <a:rPr lang="en-US" sz="1981" spc="-29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, </a:t>
            </a:r>
            <a:r>
              <a:rPr lang="en-US" sz="1981" i="true" spc="-29">
                <a:solidFill>
                  <a:srgbClr val="0E4714"/>
                </a:solidFill>
                <a:latin typeface="Gotham Italics"/>
                <a:ea typeface="Gotham Italics"/>
                <a:cs typeface="Gotham Italics"/>
                <a:sym typeface="Gotham Italics"/>
              </a:rPr>
              <a:t>Travel → Wants</a:t>
            </a:r>
            <a:r>
              <a:rPr lang="en-US" sz="1981" spc="-29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, etc.).</a:t>
            </a:r>
          </a:p>
          <a:p>
            <a:pPr algn="l" marL="427874" indent="-213937" lvl="1">
              <a:lnSpc>
                <a:spcPts val="2774"/>
              </a:lnSpc>
              <a:buFont typeface="Arial"/>
              <a:buChar char="•"/>
            </a:pPr>
            <a:r>
              <a:rPr lang="en-US" sz="1981" spc="-29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The agent flags areas exceeding recommended limits (e.g. if </a:t>
            </a:r>
            <a:r>
              <a:rPr lang="en-US" b="true" sz="1981" spc="-29">
                <a:solidFill>
                  <a:srgbClr val="0E4714"/>
                </a:solidFill>
                <a:latin typeface="Gotham Bold"/>
                <a:ea typeface="Gotham Bold"/>
                <a:cs typeface="Gotham Bold"/>
                <a:sym typeface="Gotham Bold"/>
              </a:rPr>
              <a:t>“Wants” &gt; 30%</a:t>
            </a:r>
            <a:r>
              <a:rPr lang="en-US" sz="1981" spc="-29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 of income, or </a:t>
            </a:r>
            <a:r>
              <a:rPr lang="en-US" b="true" sz="1981" spc="-29">
                <a:solidFill>
                  <a:srgbClr val="0E4714"/>
                </a:solidFill>
                <a:latin typeface="Gotham Bold"/>
                <a:ea typeface="Gotham Bold"/>
                <a:cs typeface="Gotham Bold"/>
                <a:sym typeface="Gotham Bold"/>
              </a:rPr>
              <a:t>“Needs” &gt; 50%</a:t>
            </a:r>
            <a:r>
              <a:rPr lang="en-US" sz="1981" spc="-29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).</a:t>
            </a:r>
          </a:p>
          <a:p>
            <a:pPr algn="l" marL="427874" indent="-213937" lvl="1">
              <a:lnSpc>
                <a:spcPts val="2774"/>
              </a:lnSpc>
              <a:buFont typeface="Arial"/>
              <a:buChar char="•"/>
            </a:pPr>
            <a:r>
              <a:rPr lang="en-US" sz="1981" spc="-29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Uses an </a:t>
            </a:r>
            <a:r>
              <a:rPr lang="en-US" b="true" sz="1981" spc="-29">
                <a:solidFill>
                  <a:srgbClr val="0E4714"/>
                </a:solidFill>
                <a:latin typeface="Gotham Bold"/>
                <a:ea typeface="Gotham Bold"/>
                <a:cs typeface="Gotham Bold"/>
                <a:sym typeface="Gotham Bold"/>
              </a:rPr>
              <a:t>LLM-powered output </a:t>
            </a:r>
            <a:r>
              <a:rPr lang="en-US" sz="1981" spc="-29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to suggest adjustments. It generates a friendly message with tips to reduce spending in the over-budget categories.</a:t>
            </a:r>
          </a:p>
          <a:p>
            <a:pPr algn="l" marL="427874" indent="-213937" lvl="1">
              <a:lnSpc>
                <a:spcPts val="2774"/>
              </a:lnSpc>
              <a:buFont typeface="Arial"/>
              <a:buChar char="•"/>
            </a:pPr>
            <a:r>
              <a:rPr lang="en-US" b="true" sz="1981" spc="-29">
                <a:solidFill>
                  <a:srgbClr val="0E4714"/>
                </a:solidFill>
                <a:latin typeface="Gotham Bold"/>
                <a:ea typeface="Gotham Bold"/>
                <a:cs typeface="Gotham Bold"/>
                <a:sym typeface="Gotham Bold"/>
              </a:rPr>
              <a:t>Example Suggestions:</a:t>
            </a:r>
            <a:r>
              <a:rPr lang="en-US" sz="1981" spc="-29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 Switch to cheaper alternatives for groceries, cut unused subscriptions – typically identifying ~</a:t>
            </a:r>
            <a:r>
              <a:rPr lang="en-US" b="true" sz="1981" spc="-29">
                <a:solidFill>
                  <a:srgbClr val="0E4714"/>
                </a:solidFill>
                <a:latin typeface="Gotham Bold"/>
                <a:ea typeface="Gotham Bold"/>
                <a:cs typeface="Gotham Bold"/>
                <a:sym typeface="Gotham Bold"/>
              </a:rPr>
              <a:t>3–5%</a:t>
            </a:r>
            <a:r>
              <a:rPr lang="en-US" sz="1981" spc="-29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 of income that could be saved through optimizations.</a:t>
            </a:r>
          </a:p>
          <a:p>
            <a:pPr algn="l">
              <a:lnSpc>
                <a:spcPts val="2774"/>
              </a:lnSpc>
            </a:pPr>
          </a:p>
          <a:p>
            <a:pPr algn="l">
              <a:lnSpc>
                <a:spcPts val="2774"/>
              </a:lnSpc>
            </a:pPr>
          </a:p>
          <a:p>
            <a:pPr algn="l">
              <a:lnSpc>
                <a:spcPts val="2774"/>
              </a:lnSpc>
            </a:pPr>
          </a:p>
          <a:p>
            <a:pPr algn="l">
              <a:lnSpc>
                <a:spcPts val="2774"/>
              </a:lnSpc>
            </a:pPr>
          </a:p>
          <a:p>
            <a:pPr algn="l">
              <a:lnSpc>
                <a:spcPts val="2774"/>
              </a:lnSpc>
            </a:pPr>
          </a:p>
          <a:p>
            <a:pPr algn="l">
              <a:lnSpc>
                <a:spcPts val="2774"/>
              </a:lnSpc>
            </a:pPr>
          </a:p>
          <a:p>
            <a:pPr algn="l">
              <a:lnSpc>
                <a:spcPts val="2074"/>
              </a:lnSpc>
            </a:pPr>
            <a:r>
              <a:rPr lang="en-US" sz="1481" spc="-22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*Based on: E. Warren and A. Tyagi, </a:t>
            </a:r>
            <a:r>
              <a:rPr lang="en-US" sz="1481" i="true" spc="-22">
                <a:solidFill>
                  <a:srgbClr val="0E4714"/>
                </a:solidFill>
                <a:latin typeface="Gotham Italics"/>
                <a:ea typeface="Gotham Italics"/>
                <a:cs typeface="Gotham Italics"/>
                <a:sym typeface="Gotham Italics"/>
              </a:rPr>
              <a:t>All Your Worth: The Ultimate Lifetime Money Plan</a:t>
            </a:r>
            <a:r>
              <a:rPr lang="en-US" sz="1481" spc="-22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, Free Press, 2005.</a:t>
            </a:r>
          </a:p>
          <a:p>
            <a:pPr algn="l">
              <a:lnSpc>
                <a:spcPts val="2074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2227104" y="-970806"/>
            <a:ext cx="8434028" cy="6114306"/>
          </a:xfrm>
          <a:custGeom>
            <a:avLst/>
            <a:gdLst/>
            <a:ahLst/>
            <a:cxnLst/>
            <a:rect r="r" b="b" t="t" l="l"/>
            <a:pathLst>
              <a:path h="6114306" w="8434028">
                <a:moveTo>
                  <a:pt x="0" y="0"/>
                </a:moveTo>
                <a:lnTo>
                  <a:pt x="8434028" y="0"/>
                </a:lnTo>
                <a:lnTo>
                  <a:pt x="8434028" y="6114306"/>
                </a:lnTo>
                <a:lnTo>
                  <a:pt x="0" y="61143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93483" r="-128662" b="-5254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76882" y="775440"/>
            <a:ext cx="1012349" cy="942750"/>
          </a:xfrm>
          <a:custGeom>
            <a:avLst/>
            <a:gdLst/>
            <a:ahLst/>
            <a:cxnLst/>
            <a:rect r="r" b="b" t="t" l="l"/>
            <a:pathLst>
              <a:path h="942750" w="1012349">
                <a:moveTo>
                  <a:pt x="0" y="0"/>
                </a:moveTo>
                <a:lnTo>
                  <a:pt x="1012349" y="0"/>
                </a:lnTo>
                <a:lnTo>
                  <a:pt x="1012349" y="942750"/>
                </a:lnTo>
                <a:lnTo>
                  <a:pt x="0" y="9427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89383" y="843474"/>
            <a:ext cx="16230600" cy="195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3"/>
              </a:lnSpc>
            </a:pPr>
            <a:r>
              <a:rPr lang="en-US" sz="7820" spc="-195">
                <a:solidFill>
                  <a:srgbClr val="0E4714"/>
                </a:solidFill>
                <a:latin typeface="Times New Roman Condensed"/>
                <a:ea typeface="Times New Roman Condensed"/>
                <a:cs typeface="Times New Roman Condensed"/>
                <a:sym typeface="Times New Roman Condensed"/>
              </a:rPr>
              <a:t>BUDGET OPTIMIZATION</a:t>
            </a:r>
          </a:p>
          <a:p>
            <a:pPr algn="l">
              <a:lnSpc>
                <a:spcPts val="6803"/>
              </a:lnSpc>
            </a:pP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2227104" y="-970806"/>
            <a:ext cx="8434028" cy="6114306"/>
          </a:xfrm>
          <a:custGeom>
            <a:avLst/>
            <a:gdLst/>
            <a:ahLst/>
            <a:cxnLst/>
            <a:rect r="r" b="b" t="t" l="l"/>
            <a:pathLst>
              <a:path h="6114306" w="8434028">
                <a:moveTo>
                  <a:pt x="0" y="0"/>
                </a:moveTo>
                <a:lnTo>
                  <a:pt x="8434028" y="0"/>
                </a:lnTo>
                <a:lnTo>
                  <a:pt x="8434028" y="6114306"/>
                </a:lnTo>
                <a:lnTo>
                  <a:pt x="0" y="61143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93483" r="-128662" b="-52540"/>
            </a:stretch>
          </a:blipFill>
        </p:spPr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1489383" y="2294242"/>
          <a:ext cx="4566468" cy="3124200"/>
        </p:xfrm>
        <a:graphic>
          <a:graphicData uri="http://schemas.openxmlformats.org/drawingml/2006/table">
            <a:tbl>
              <a:tblPr/>
              <a:tblGrid>
                <a:gridCol w="899719"/>
                <a:gridCol w="1136039"/>
                <a:gridCol w="1101964"/>
              </a:tblGrid>
              <a:tr h="7810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E4714"/>
                          </a:solidFill>
                          <a:latin typeface="Gotham Bold"/>
                          <a:ea typeface="Gotham Bold"/>
                          <a:cs typeface="Gotham Bold"/>
                          <a:sym typeface="Gotham Bold"/>
                        </a:rPr>
                        <a:t>Bucket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E47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E47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E4714"/>
                          </a:solidFill>
                          <a:latin typeface="Gotham Bold"/>
                          <a:ea typeface="Gotham Bold"/>
                          <a:cs typeface="Gotham Bold"/>
                          <a:sym typeface="Gotham Bold"/>
                        </a:rPr>
                        <a:t>Target (%)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E47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E47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E4714"/>
                          </a:solidFill>
                          <a:latin typeface="Gotham Bold"/>
                          <a:ea typeface="Gotham Bold"/>
                          <a:cs typeface="Gotham Bold"/>
                          <a:sym typeface="Gotham Bold"/>
                        </a:rPr>
                        <a:t>Target ($)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E47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E47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10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E4714"/>
                          </a:solidFill>
                          <a:latin typeface="Gotham"/>
                          <a:ea typeface="Gotham"/>
                          <a:cs typeface="Gotham"/>
                          <a:sym typeface="Gotham"/>
                        </a:rPr>
                        <a:t>Needs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E47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E47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E4714"/>
                          </a:solidFill>
                          <a:latin typeface="Gotham"/>
                          <a:ea typeface="Gotham"/>
                          <a:cs typeface="Gotham"/>
                          <a:sym typeface="Gotham"/>
                        </a:rPr>
                        <a:t>50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E47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E47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E4714"/>
                          </a:solidFill>
                          <a:latin typeface="Gotham"/>
                          <a:ea typeface="Gotham"/>
                          <a:cs typeface="Gotham"/>
                          <a:sym typeface="Gotham"/>
                        </a:rPr>
                        <a:t>700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E47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E47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10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E4714"/>
                          </a:solidFill>
                          <a:latin typeface="Gotham"/>
                          <a:ea typeface="Gotham"/>
                          <a:cs typeface="Gotham"/>
                          <a:sym typeface="Gotham"/>
                        </a:rPr>
                        <a:t>Wants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E47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E47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E4714"/>
                          </a:solidFill>
                          <a:latin typeface="Gotham"/>
                          <a:ea typeface="Gotham"/>
                          <a:cs typeface="Gotham"/>
                          <a:sym typeface="Gotham"/>
                        </a:rPr>
                        <a:t>30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E47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E47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E4714"/>
                          </a:solidFill>
                          <a:latin typeface="Gotham"/>
                          <a:ea typeface="Gotham"/>
                          <a:cs typeface="Gotham"/>
                          <a:sym typeface="Gotham"/>
                        </a:rPr>
                        <a:t>420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E47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E47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10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E4714"/>
                          </a:solidFill>
                          <a:latin typeface="Gotham"/>
                          <a:ea typeface="Gotham"/>
                          <a:cs typeface="Gotham"/>
                          <a:sym typeface="Gotham"/>
                        </a:rPr>
                        <a:t>Savings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E47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E47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E4714"/>
                          </a:solidFill>
                          <a:latin typeface="Gotham"/>
                          <a:ea typeface="Gotham"/>
                          <a:cs typeface="Gotham"/>
                          <a:sym typeface="Gotham"/>
                        </a:rPr>
                        <a:t>20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E47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E47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E4714"/>
                          </a:solidFill>
                          <a:latin typeface="Gotham"/>
                          <a:ea typeface="Gotham"/>
                          <a:cs typeface="Gotham"/>
                          <a:sym typeface="Gotham"/>
                        </a:rPr>
                        <a:t>280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E47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E47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5" id="5"/>
          <p:cNvSpPr/>
          <p:nvPr/>
        </p:nvSpPr>
        <p:spPr>
          <a:xfrm flipH="false" flipV="false" rot="0">
            <a:off x="8839673" y="2086347"/>
            <a:ext cx="4056963" cy="671497"/>
          </a:xfrm>
          <a:custGeom>
            <a:avLst/>
            <a:gdLst/>
            <a:ahLst/>
            <a:cxnLst/>
            <a:rect r="r" b="b" t="t" l="l"/>
            <a:pathLst>
              <a:path h="671497" w="4056963">
                <a:moveTo>
                  <a:pt x="0" y="0"/>
                </a:moveTo>
                <a:lnTo>
                  <a:pt x="4056963" y="0"/>
                </a:lnTo>
                <a:lnTo>
                  <a:pt x="4056963" y="671498"/>
                </a:lnTo>
                <a:lnTo>
                  <a:pt x="0" y="6714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839673" y="2924324"/>
            <a:ext cx="4056963" cy="971685"/>
          </a:xfrm>
          <a:custGeom>
            <a:avLst/>
            <a:gdLst/>
            <a:ahLst/>
            <a:cxnLst/>
            <a:rect r="r" b="b" t="t" l="l"/>
            <a:pathLst>
              <a:path h="971685" w="4056963">
                <a:moveTo>
                  <a:pt x="0" y="0"/>
                </a:moveTo>
                <a:lnTo>
                  <a:pt x="4056963" y="0"/>
                </a:lnTo>
                <a:lnTo>
                  <a:pt x="4056963" y="971685"/>
                </a:lnTo>
                <a:lnTo>
                  <a:pt x="0" y="97168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959" r="0" b="-390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839673" y="5165077"/>
            <a:ext cx="4056963" cy="595778"/>
          </a:xfrm>
          <a:custGeom>
            <a:avLst/>
            <a:gdLst/>
            <a:ahLst/>
            <a:cxnLst/>
            <a:rect r="r" b="b" t="t" l="l"/>
            <a:pathLst>
              <a:path h="595778" w="4056963">
                <a:moveTo>
                  <a:pt x="0" y="0"/>
                </a:moveTo>
                <a:lnTo>
                  <a:pt x="4056963" y="0"/>
                </a:lnTo>
                <a:lnTo>
                  <a:pt x="4056963" y="595778"/>
                </a:lnTo>
                <a:lnTo>
                  <a:pt x="0" y="59577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839673" y="4232654"/>
            <a:ext cx="4056963" cy="595778"/>
          </a:xfrm>
          <a:custGeom>
            <a:avLst/>
            <a:gdLst/>
            <a:ahLst/>
            <a:cxnLst/>
            <a:rect r="r" b="b" t="t" l="l"/>
            <a:pathLst>
              <a:path h="595778" w="4056963">
                <a:moveTo>
                  <a:pt x="0" y="0"/>
                </a:moveTo>
                <a:lnTo>
                  <a:pt x="4056963" y="0"/>
                </a:lnTo>
                <a:lnTo>
                  <a:pt x="4056963" y="595778"/>
                </a:lnTo>
                <a:lnTo>
                  <a:pt x="0" y="59577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aphicFrame>
        <p:nvGraphicFramePr>
          <p:cNvPr name="Table 9" id="9"/>
          <p:cNvGraphicFramePr>
            <a:graphicFrameLocks noGrp="true"/>
          </p:cNvGraphicFramePr>
          <p:nvPr/>
        </p:nvGraphicFramePr>
        <p:xfrm>
          <a:off x="1489383" y="6539365"/>
          <a:ext cx="14635421" cy="2790825"/>
        </p:xfrm>
        <a:graphic>
          <a:graphicData uri="http://schemas.openxmlformats.org/drawingml/2006/table">
            <a:tbl>
              <a:tblPr/>
              <a:tblGrid>
                <a:gridCol w="1819949"/>
                <a:gridCol w="2684515"/>
                <a:gridCol w="6882745"/>
                <a:gridCol w="3248211"/>
              </a:tblGrid>
              <a:tr h="74357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 b="true">
                          <a:solidFill>
                            <a:srgbClr val="000000"/>
                          </a:solidFill>
                          <a:latin typeface="Gotham Bold"/>
                          <a:ea typeface="Gotham Bold"/>
                          <a:cs typeface="Gotham Bold"/>
                          <a:sym typeface="Gotham Bold"/>
                        </a:rPr>
                        <a:t>Category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 b="true">
                          <a:solidFill>
                            <a:srgbClr val="000000"/>
                          </a:solidFill>
                          <a:latin typeface="Gotham Bold"/>
                          <a:ea typeface="Gotham Bold"/>
                          <a:cs typeface="Gotham Bold"/>
                          <a:sym typeface="Gotham Bold"/>
                        </a:rPr>
                        <a:t>Issue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 b="true">
                          <a:solidFill>
                            <a:srgbClr val="000000"/>
                          </a:solidFill>
                          <a:latin typeface="Gotham Bold"/>
                          <a:ea typeface="Gotham Bold"/>
                          <a:cs typeface="Gotham Bold"/>
                          <a:sym typeface="Gotham Bold"/>
                        </a:rPr>
                        <a:t>Recommendation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 b="true">
                          <a:solidFill>
                            <a:srgbClr val="000000"/>
                          </a:solidFill>
                          <a:latin typeface="Gotham Bold"/>
                          <a:ea typeface="Gotham Bold"/>
                          <a:cs typeface="Gotham Bold"/>
                          <a:sym typeface="Gotham Bold"/>
                        </a:rPr>
                        <a:t>Estimated Monthly Savings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362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Gotham"/>
                          <a:ea typeface="Gotham"/>
                          <a:cs typeface="Gotham"/>
                          <a:sym typeface="Gotham"/>
                        </a:rPr>
                        <a:t>Grocery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Gotham"/>
                          <a:ea typeface="Gotham"/>
                          <a:cs typeface="Gotham"/>
                          <a:sym typeface="Gotham"/>
                        </a:rPr>
                        <a:t>Spending above essential budget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Gotham"/>
                          <a:ea typeface="Gotham"/>
                          <a:cs typeface="Gotham"/>
                          <a:sym typeface="Gotham"/>
                        </a:rPr>
                        <a:t>Shop at discount supermarkets; plan meals and buy in bulks to reduce costs.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Gotham"/>
                          <a:ea typeface="Gotham"/>
                          <a:cs typeface="Gotham"/>
                          <a:sym typeface="Gotham"/>
                        </a:rPr>
                        <a:t>$45 (approx)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362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Gotham"/>
                          <a:ea typeface="Gotham"/>
                          <a:cs typeface="Gotham"/>
                          <a:sym typeface="Gotham"/>
                        </a:rPr>
                        <a:t>Services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Gotham"/>
                          <a:ea typeface="Gotham"/>
                          <a:cs typeface="Gotham"/>
                          <a:sym typeface="Gotham"/>
                        </a:rPr>
                        <a:t>Multiple subscriptions (high total)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Gotham"/>
                          <a:ea typeface="Gotham"/>
                          <a:cs typeface="Gotham"/>
                          <a:sym typeface="Gotham"/>
                        </a:rPr>
                        <a:t>Cancel or downgrade unnecessary subscriptions; negotiate lower rates for utilities/internet.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Gotham"/>
                          <a:ea typeface="Gotham"/>
                          <a:cs typeface="Gotham"/>
                          <a:sym typeface="Gotham"/>
                        </a:rPr>
                        <a:t>$25(approx)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10" id="10"/>
          <p:cNvSpPr txBox="true"/>
          <p:nvPr/>
        </p:nvSpPr>
        <p:spPr>
          <a:xfrm rot="0">
            <a:off x="2100905" y="5632760"/>
            <a:ext cx="3343424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Sample: Monthly Income ($1400)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589646" y="5932305"/>
            <a:ext cx="255701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Flag Overspending Areas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939807" y="9415915"/>
            <a:ext cx="3799731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Recommendations: Example Scenario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342753" y="748224"/>
            <a:ext cx="1012349" cy="942750"/>
          </a:xfrm>
          <a:custGeom>
            <a:avLst/>
            <a:gdLst/>
            <a:ahLst/>
            <a:cxnLst/>
            <a:rect r="r" b="b" t="t" l="l"/>
            <a:pathLst>
              <a:path h="942750" w="1012349">
                <a:moveTo>
                  <a:pt x="0" y="0"/>
                </a:moveTo>
                <a:lnTo>
                  <a:pt x="1012349" y="0"/>
                </a:lnTo>
                <a:lnTo>
                  <a:pt x="1012349" y="942750"/>
                </a:lnTo>
                <a:lnTo>
                  <a:pt x="0" y="94275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06910" y="722884"/>
            <a:ext cx="12198130" cy="668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4"/>
              </a:lnSpc>
            </a:pPr>
            <a:r>
              <a:rPr lang="en-US" sz="4821" spc="-120">
                <a:solidFill>
                  <a:srgbClr val="0E4714"/>
                </a:solidFill>
                <a:latin typeface="Times New Roman Condensed"/>
                <a:ea typeface="Times New Roman Condensed"/>
                <a:cs typeface="Times New Roman Condensed"/>
                <a:sym typeface="Times New Roman Condensed"/>
              </a:rPr>
              <a:t>INVESTMENT ADVISOR: TECHNICAL INDICATORS</a:t>
            </a:r>
          </a:p>
        </p:txBody>
      </p:sp>
      <p:sp>
        <p:nvSpPr>
          <p:cNvPr name="Freeform 3" id="3"/>
          <p:cNvSpPr/>
          <p:nvPr/>
        </p:nvSpPr>
        <p:spPr>
          <a:xfrm flipH="true" flipV="false" rot="0">
            <a:off x="9550459" y="-214080"/>
            <a:ext cx="28550447" cy="11313545"/>
          </a:xfrm>
          <a:custGeom>
            <a:avLst/>
            <a:gdLst/>
            <a:ahLst/>
            <a:cxnLst/>
            <a:rect r="r" b="b" t="t" l="l"/>
            <a:pathLst>
              <a:path h="11313545" w="28550447">
                <a:moveTo>
                  <a:pt x="28550447" y="0"/>
                </a:moveTo>
                <a:lnTo>
                  <a:pt x="0" y="0"/>
                </a:lnTo>
                <a:lnTo>
                  <a:pt x="0" y="11313545"/>
                </a:lnTo>
                <a:lnTo>
                  <a:pt x="28550447" y="11313545"/>
                </a:lnTo>
                <a:lnTo>
                  <a:pt x="2855044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9969" r="0" b="-59256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08172" y="2135518"/>
            <a:ext cx="11220866" cy="7657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Technical Analysis Module: Evaluates market momentum for stocks using standard indicators:</a:t>
            </a:r>
          </a:p>
          <a:p>
            <a:pPr algn="l">
              <a:lnSpc>
                <a:spcPts val="2659"/>
              </a:lnSpc>
            </a:pP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b="true" sz="1899">
                <a:solidFill>
                  <a:srgbClr val="0E4714"/>
                </a:solidFill>
                <a:latin typeface="Gotham Bold"/>
                <a:ea typeface="Gotham Bold"/>
                <a:cs typeface="Gotham Bold"/>
                <a:sym typeface="Gotham Bold"/>
              </a:rPr>
              <a:t>RSI (Relative Strength Index)</a:t>
            </a:r>
            <a:r>
              <a:rPr lang="en-US" sz="1899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: signals if a stock is overbought (&gt;70) or oversold (&lt;30).</a:t>
            </a:r>
          </a:p>
          <a:p>
            <a:pPr algn="l">
              <a:lnSpc>
                <a:spcPts val="2659"/>
              </a:lnSpc>
            </a:pP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b="true" sz="1899">
                <a:solidFill>
                  <a:srgbClr val="0E4714"/>
                </a:solidFill>
                <a:latin typeface="Gotham Bold"/>
                <a:ea typeface="Gotham Bold"/>
                <a:cs typeface="Gotham Bold"/>
                <a:sym typeface="Gotham Bold"/>
              </a:rPr>
              <a:t>MACD (Moving Average Convergence Divergence)</a:t>
            </a:r>
            <a:r>
              <a:rPr lang="en-US" sz="1899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: two moving averages’ crossover indicates trend shifts.</a:t>
            </a:r>
          </a:p>
          <a:p>
            <a:pPr algn="l">
              <a:lnSpc>
                <a:spcPts val="2659"/>
              </a:lnSpc>
            </a:pP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b="true" sz="1899">
                <a:solidFill>
                  <a:srgbClr val="0E4714"/>
                </a:solidFill>
                <a:latin typeface="Gotham Bold"/>
                <a:ea typeface="Gotham Bold"/>
                <a:cs typeface="Gotham Bold"/>
                <a:sym typeface="Gotham Bold"/>
              </a:rPr>
              <a:t>Moving Averages (50-day &amp; 200-day)</a:t>
            </a:r>
            <a:r>
              <a:rPr lang="en-US" sz="1899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: crossovers (e.g. golden cross) show trend direction and momentum.</a:t>
            </a:r>
          </a:p>
          <a:p>
            <a:pPr algn="l">
              <a:lnSpc>
                <a:spcPts val="2659"/>
              </a:lnSpc>
            </a:pP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b="true" sz="1899">
                <a:solidFill>
                  <a:srgbClr val="0E4714"/>
                </a:solidFill>
                <a:latin typeface="Gotham Bold"/>
                <a:ea typeface="Gotham Bold"/>
                <a:cs typeface="Gotham Bold"/>
                <a:sym typeface="Gotham Bold"/>
              </a:rPr>
              <a:t>OBV (On-Balance Volume)</a:t>
            </a:r>
            <a:r>
              <a:rPr lang="en-US" sz="1899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: measures buying/selling pressure via volume trends; ATR (Average True Range): gauges volatility.</a:t>
            </a:r>
          </a:p>
          <a:p>
            <a:pPr algn="l">
              <a:lnSpc>
                <a:spcPts val="2659"/>
              </a:lnSpc>
            </a:pP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The advisor computes these from price data and combines them into a technical score (e.g. +1 for each bullish signal, –1 for bearish conditions).</a:t>
            </a:r>
          </a:p>
          <a:p>
            <a:pPr algn="l">
              <a:lnSpc>
                <a:spcPts val="2659"/>
              </a:lnSpc>
            </a:pP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Influence: Technical signals adjust timing – e.g. if fundamentals are good but technicals are very bearish, the system might hold off on a Buy (wait for a better entry). If technicals confirm positive news, it strengthens the recommendation.</a:t>
            </a:r>
          </a:p>
          <a:p>
            <a:pPr algn="l">
              <a:lnSpc>
                <a:spcPts val="2659"/>
              </a:lnSpc>
            </a:pPr>
          </a:p>
          <a:p>
            <a:pPr algn="l">
              <a:lnSpc>
                <a:spcPts val="2659"/>
              </a:lnSpc>
            </a:pPr>
          </a:p>
          <a:p>
            <a:pPr algn="l">
              <a:lnSpc>
                <a:spcPts val="2659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342753" y="448916"/>
            <a:ext cx="1012349" cy="942750"/>
          </a:xfrm>
          <a:custGeom>
            <a:avLst/>
            <a:gdLst/>
            <a:ahLst/>
            <a:cxnLst/>
            <a:rect r="r" b="b" t="t" l="l"/>
            <a:pathLst>
              <a:path h="942750" w="1012349">
                <a:moveTo>
                  <a:pt x="0" y="0"/>
                </a:moveTo>
                <a:lnTo>
                  <a:pt x="1012349" y="0"/>
                </a:lnTo>
                <a:lnTo>
                  <a:pt x="1012349" y="942750"/>
                </a:lnTo>
                <a:lnTo>
                  <a:pt x="0" y="9427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80822" y="2370515"/>
            <a:ext cx="11220866" cy="6412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9820" indent="-244910" lvl="1">
              <a:lnSpc>
                <a:spcPts val="3403"/>
              </a:lnSpc>
              <a:buFont typeface="Arial"/>
              <a:buChar char="•"/>
            </a:pPr>
            <a:r>
              <a:rPr lang="en-US" b="true" sz="2268" spc="-34">
                <a:solidFill>
                  <a:srgbClr val="0E4714"/>
                </a:solidFill>
                <a:latin typeface="Gotham Bold"/>
                <a:ea typeface="Gotham Bold"/>
                <a:cs typeface="Gotham Bold"/>
                <a:sym typeface="Gotham Bold"/>
              </a:rPr>
              <a:t>Fundamental Analysis Module:</a:t>
            </a:r>
            <a:r>
              <a:rPr lang="en-US" sz="2268" spc="-34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 Assesses a company’s financial health and valuation:</a:t>
            </a:r>
          </a:p>
          <a:p>
            <a:pPr algn="l" marL="979640" indent="-326547" lvl="2">
              <a:lnSpc>
                <a:spcPts val="3403"/>
              </a:lnSpc>
              <a:buFont typeface="Arial"/>
              <a:buChar char="⚬"/>
            </a:pPr>
            <a:r>
              <a:rPr lang="en-US" sz="2268" spc="-34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Looks at metrics like revenue growth (↑ good), P/E ratio (is it reasonable vs peers?), debt levels (manageable or high?).</a:t>
            </a:r>
          </a:p>
          <a:p>
            <a:pPr algn="l" marL="979640" indent="-326547" lvl="2">
              <a:lnSpc>
                <a:spcPts val="3403"/>
              </a:lnSpc>
              <a:buFont typeface="Arial"/>
              <a:buChar char="⚬"/>
            </a:pPr>
            <a:r>
              <a:rPr lang="en-US" sz="2268" spc="-34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Determines if a company has </a:t>
            </a:r>
            <a:r>
              <a:rPr lang="en-US" b="true" sz="2268" spc="-34">
                <a:solidFill>
                  <a:srgbClr val="0E4714"/>
                </a:solidFill>
                <a:latin typeface="Gotham Bold"/>
                <a:ea typeface="Gotham Bold"/>
                <a:cs typeface="Gotham Bold"/>
                <a:sym typeface="Gotham Bold"/>
              </a:rPr>
              <a:t>strong fundamentals</a:t>
            </a:r>
            <a:r>
              <a:rPr lang="en-US" sz="2268" spc="-34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 (e.g. consistent growth, undervalued stock, low debt) or </a:t>
            </a:r>
            <a:r>
              <a:rPr lang="en-US" b="true" sz="2268" spc="-34">
                <a:solidFill>
                  <a:srgbClr val="0E4714"/>
                </a:solidFill>
                <a:latin typeface="Gotham Bold"/>
                <a:ea typeface="Gotham Bold"/>
                <a:cs typeface="Gotham Bold"/>
                <a:sym typeface="Gotham Bold"/>
              </a:rPr>
              <a:t>weak fundamentals</a:t>
            </a:r>
            <a:r>
              <a:rPr lang="en-US" sz="2268" spc="-34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 (declining sales, overvalued, high debt).</a:t>
            </a:r>
          </a:p>
          <a:p>
            <a:pPr algn="l">
              <a:lnSpc>
                <a:spcPts val="3403"/>
              </a:lnSpc>
            </a:pPr>
          </a:p>
          <a:p>
            <a:pPr algn="l" marL="489820" indent="-244910" lvl="1">
              <a:lnSpc>
                <a:spcPts val="3403"/>
              </a:lnSpc>
              <a:buFont typeface="Arial"/>
              <a:buChar char="•"/>
            </a:pPr>
            <a:r>
              <a:rPr lang="en-US" sz="2268" spc="-34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Optionally parses qualitative reports (earnings calls, management discussion) via LLM for additional insight, but primarily focuses on </a:t>
            </a:r>
            <a:r>
              <a:rPr lang="en-US" b="true" sz="2268" spc="-34">
                <a:solidFill>
                  <a:srgbClr val="0E4714"/>
                </a:solidFill>
                <a:latin typeface="Gotham Bold"/>
                <a:ea typeface="Gotham Bold"/>
                <a:cs typeface="Gotham Bold"/>
                <a:sym typeface="Gotham Bold"/>
              </a:rPr>
              <a:t>quantitative factors</a:t>
            </a:r>
            <a:r>
              <a:rPr lang="en-US" sz="2268" spc="-34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. </a:t>
            </a:r>
          </a:p>
          <a:p>
            <a:pPr algn="l">
              <a:lnSpc>
                <a:spcPts val="3403"/>
              </a:lnSpc>
            </a:pPr>
          </a:p>
          <a:p>
            <a:pPr algn="l">
              <a:lnSpc>
                <a:spcPts val="3241"/>
              </a:lnSpc>
            </a:pPr>
            <a:r>
              <a:rPr lang="en-US" sz="2160" spc="-32" b="true">
                <a:solidFill>
                  <a:srgbClr val="0E4714"/>
                </a:solidFill>
                <a:latin typeface="Gotham Bold"/>
                <a:ea typeface="Gotham Bold"/>
                <a:cs typeface="Gotham Bold"/>
                <a:sym typeface="Gotham Bold"/>
              </a:rPr>
              <a:t>Outcome:</a:t>
            </a:r>
            <a:r>
              <a:rPr lang="en-US" sz="2160" spc="-32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 Produces a fundamental score or summary. </a:t>
            </a:r>
            <a:r>
              <a:rPr lang="en-US" sz="2160" spc="-32" b="true">
                <a:solidFill>
                  <a:srgbClr val="0E4714"/>
                </a:solidFill>
                <a:latin typeface="Gotham Bold"/>
                <a:ea typeface="Gotham Bold"/>
                <a:cs typeface="Gotham Bold"/>
                <a:sym typeface="Gotham Bold"/>
              </a:rPr>
              <a:t>Strong fundamentals</a:t>
            </a:r>
            <a:r>
              <a:rPr lang="en-US" sz="2160" spc="-32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 bias the agent toward a </a:t>
            </a:r>
            <a:r>
              <a:rPr lang="en-US" sz="2160" spc="-32" b="true">
                <a:solidFill>
                  <a:srgbClr val="0E4714"/>
                </a:solidFill>
                <a:latin typeface="Gotham Bold"/>
                <a:ea typeface="Gotham Bold"/>
                <a:cs typeface="Gotham Bold"/>
                <a:sym typeface="Gotham Bold"/>
              </a:rPr>
              <a:t>“Buy”</a:t>
            </a:r>
            <a:r>
              <a:rPr lang="en-US" sz="2160" spc="-32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 recommendation (assuming other factors aren’t negative), whereas poor fundamentals might trigger caution or a </a:t>
            </a:r>
            <a:r>
              <a:rPr lang="en-US" sz="2160" spc="-32" b="true">
                <a:solidFill>
                  <a:srgbClr val="0E4714"/>
                </a:solidFill>
                <a:latin typeface="Gotham Bold"/>
                <a:ea typeface="Gotham Bold"/>
                <a:cs typeface="Gotham Bold"/>
                <a:sym typeface="Gotham Bold"/>
              </a:rPr>
              <a:t>“Sell”</a:t>
            </a:r>
            <a:r>
              <a:rPr lang="en-US" sz="2160" spc="-32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 if issues are significant.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39737" y="653426"/>
            <a:ext cx="10220627" cy="1192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4"/>
              </a:lnSpc>
            </a:pPr>
            <a:r>
              <a:rPr lang="en-US" sz="4821" spc="-120">
                <a:solidFill>
                  <a:srgbClr val="0E4714"/>
                </a:solidFill>
                <a:latin typeface="Times New Roman Condensed"/>
                <a:ea typeface="Times New Roman Condensed"/>
                <a:cs typeface="Times New Roman Condensed"/>
                <a:sym typeface="Times New Roman Condensed"/>
              </a:rPr>
              <a:t>INVESTMENT ADVISOR: FUNDAMENTAL ANALYSIS</a:t>
            </a:r>
          </a:p>
        </p:txBody>
      </p:sp>
      <p:sp>
        <p:nvSpPr>
          <p:cNvPr name="Freeform 4" id="4"/>
          <p:cNvSpPr/>
          <p:nvPr/>
        </p:nvSpPr>
        <p:spPr>
          <a:xfrm flipH="true" flipV="false" rot="0">
            <a:off x="9550459" y="-214080"/>
            <a:ext cx="28550447" cy="11313545"/>
          </a:xfrm>
          <a:custGeom>
            <a:avLst/>
            <a:gdLst/>
            <a:ahLst/>
            <a:cxnLst/>
            <a:rect r="r" b="b" t="t" l="l"/>
            <a:pathLst>
              <a:path h="11313545" w="28550447">
                <a:moveTo>
                  <a:pt x="28550447" y="0"/>
                </a:moveTo>
                <a:lnTo>
                  <a:pt x="0" y="0"/>
                </a:lnTo>
                <a:lnTo>
                  <a:pt x="0" y="11313545"/>
                </a:lnTo>
                <a:lnTo>
                  <a:pt x="28550447" y="11313545"/>
                </a:lnTo>
                <a:lnTo>
                  <a:pt x="2855044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9969" r="0" b="-59256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27388" y="557325"/>
            <a:ext cx="1012349" cy="942750"/>
          </a:xfrm>
          <a:custGeom>
            <a:avLst/>
            <a:gdLst/>
            <a:ahLst/>
            <a:cxnLst/>
            <a:rect r="r" b="b" t="t" l="l"/>
            <a:pathLst>
              <a:path h="942750" w="1012349">
                <a:moveTo>
                  <a:pt x="0" y="0"/>
                </a:moveTo>
                <a:lnTo>
                  <a:pt x="1012349" y="0"/>
                </a:lnTo>
                <a:lnTo>
                  <a:pt x="1012349" y="942750"/>
                </a:lnTo>
                <a:lnTo>
                  <a:pt x="0" y="9427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80822" y="1936505"/>
            <a:ext cx="16878478" cy="6347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61129" indent="-230564" lvl="1">
              <a:lnSpc>
                <a:spcPts val="3203"/>
              </a:lnSpc>
              <a:buFont typeface="Arial"/>
              <a:buChar char="•"/>
            </a:pPr>
            <a:r>
              <a:rPr lang="en-US" b="true" sz="2135" spc="-32">
                <a:solidFill>
                  <a:srgbClr val="0E4714"/>
                </a:solidFill>
                <a:latin typeface="Gotham Bold"/>
                <a:ea typeface="Gotham Bold"/>
                <a:cs typeface="Gotham Bold"/>
                <a:sym typeface="Gotham Bold"/>
              </a:rPr>
              <a:t>Multi-Signal Fusion:</a:t>
            </a:r>
            <a:r>
              <a:rPr lang="en-US" sz="2135" spc="-32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 A central decision engine combines </a:t>
            </a:r>
            <a:r>
              <a:rPr lang="en-US" b="true" sz="2135" spc="-32">
                <a:solidFill>
                  <a:srgbClr val="0E4714"/>
                </a:solidFill>
                <a:latin typeface="Gotham Bold"/>
                <a:ea typeface="Gotham Bold"/>
                <a:cs typeface="Gotham Bold"/>
                <a:sym typeface="Gotham Bold"/>
              </a:rPr>
              <a:t>sentiment</a:t>
            </a:r>
            <a:r>
              <a:rPr lang="en-US" sz="2135" spc="-32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, </a:t>
            </a:r>
            <a:r>
              <a:rPr lang="en-US" b="true" sz="2135" spc="-32">
                <a:solidFill>
                  <a:srgbClr val="0E4714"/>
                </a:solidFill>
                <a:latin typeface="Gotham Bold"/>
                <a:ea typeface="Gotham Bold"/>
                <a:cs typeface="Gotham Bold"/>
                <a:sym typeface="Gotham Bold"/>
              </a:rPr>
              <a:t>fundamental</a:t>
            </a:r>
            <a:r>
              <a:rPr lang="en-US" sz="2135" spc="-32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, and </a:t>
            </a:r>
            <a:r>
              <a:rPr lang="en-US" b="true" sz="2135" spc="-32">
                <a:solidFill>
                  <a:srgbClr val="0E4714"/>
                </a:solidFill>
                <a:latin typeface="Gotham Bold"/>
                <a:ea typeface="Gotham Bold"/>
                <a:cs typeface="Gotham Bold"/>
                <a:sym typeface="Gotham Bold"/>
              </a:rPr>
              <a:t>technical</a:t>
            </a:r>
            <a:r>
              <a:rPr lang="en-US" sz="2135" spc="-32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 signals for each stock.</a:t>
            </a:r>
          </a:p>
          <a:p>
            <a:pPr algn="l">
              <a:lnSpc>
                <a:spcPts val="3203"/>
              </a:lnSpc>
            </a:pPr>
          </a:p>
          <a:p>
            <a:pPr algn="l" marL="461129" indent="-230564" lvl="1">
              <a:lnSpc>
                <a:spcPts val="3203"/>
              </a:lnSpc>
              <a:buFont typeface="Arial"/>
              <a:buChar char="•"/>
            </a:pPr>
            <a:r>
              <a:rPr lang="en-US" b="true" sz="2135" spc="-32">
                <a:solidFill>
                  <a:srgbClr val="0E4714"/>
                </a:solidFill>
                <a:latin typeface="Gotham Bold"/>
                <a:ea typeface="Gotham Bold"/>
                <a:cs typeface="Gotham Bold"/>
                <a:sym typeface="Gotham Bold"/>
              </a:rPr>
              <a:t>Risk Tolerance Aware:</a:t>
            </a:r>
            <a:r>
              <a:rPr lang="en-US" sz="2135" spc="-32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 Adjusts advice based on user’s risk profile – e.g. a conservative investor gets safer recommendations than an aggressive investor, even on the same data.</a:t>
            </a:r>
          </a:p>
          <a:p>
            <a:pPr algn="l">
              <a:lnSpc>
                <a:spcPts val="3203"/>
              </a:lnSpc>
            </a:pPr>
          </a:p>
          <a:p>
            <a:pPr algn="l" marL="461129" indent="-230564" lvl="1">
              <a:lnSpc>
                <a:spcPts val="3203"/>
              </a:lnSpc>
              <a:buFont typeface="Arial"/>
              <a:buChar char="•"/>
            </a:pPr>
            <a:r>
              <a:rPr lang="en-US" b="true" sz="2135" spc="-32">
                <a:solidFill>
                  <a:srgbClr val="0E4714"/>
                </a:solidFill>
                <a:latin typeface="Gotham Bold"/>
                <a:ea typeface="Gotham Bold"/>
                <a:cs typeface="Gotham Bold"/>
                <a:sym typeface="Gotham Bold"/>
              </a:rPr>
              <a:t>Decision Logic:</a:t>
            </a:r>
            <a:r>
              <a:rPr lang="en-US" sz="2135" spc="-32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 Uses simple rules from our findings:</a:t>
            </a:r>
          </a:p>
          <a:p>
            <a:pPr algn="l">
              <a:lnSpc>
                <a:spcPts val="3203"/>
              </a:lnSpc>
            </a:pPr>
          </a:p>
          <a:p>
            <a:pPr algn="l" marL="461129" indent="-230564" lvl="1">
              <a:lnSpc>
                <a:spcPts val="3203"/>
              </a:lnSpc>
              <a:buFont typeface="Arial"/>
              <a:buChar char="•"/>
            </a:pPr>
            <a:r>
              <a:rPr lang="en-US" sz="2135" spc="-32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If most signals are strongly positive (and model predicts high chance of stock rise) ⇒ output </a:t>
            </a:r>
            <a:r>
              <a:rPr lang="en-US" b="true" sz="2135" spc="-32">
                <a:solidFill>
                  <a:srgbClr val="0E4714"/>
                </a:solidFill>
                <a:latin typeface="Gotham Bold"/>
                <a:ea typeface="Gotham Bold"/>
                <a:cs typeface="Gotham Bold"/>
                <a:sym typeface="Gotham Bold"/>
              </a:rPr>
              <a:t>“Buy (High Confidence)”</a:t>
            </a:r>
            <a:r>
              <a:rPr lang="en-US" sz="2135" spc="-32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.</a:t>
            </a:r>
          </a:p>
          <a:p>
            <a:pPr algn="l" marL="461129" indent="-230564" lvl="1">
              <a:lnSpc>
                <a:spcPts val="3203"/>
              </a:lnSpc>
              <a:buFont typeface="Arial"/>
              <a:buChar char="•"/>
            </a:pPr>
            <a:r>
              <a:rPr lang="en-US" sz="2135" spc="-32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If signals are mixed or moderate ⇒ output </a:t>
            </a:r>
            <a:r>
              <a:rPr lang="en-US" b="true" sz="2135" spc="-32">
                <a:solidFill>
                  <a:srgbClr val="0E4714"/>
                </a:solidFill>
                <a:latin typeface="Gotham Bold"/>
                <a:ea typeface="Gotham Bold"/>
                <a:cs typeface="Gotham Bold"/>
                <a:sym typeface="Gotham Bold"/>
              </a:rPr>
              <a:t>“Hold/Neutral”</a:t>
            </a:r>
            <a:r>
              <a:rPr lang="en-US" sz="2135" spc="-32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.</a:t>
            </a:r>
          </a:p>
          <a:p>
            <a:pPr algn="l" marL="461129" indent="-230564" lvl="1">
              <a:lnSpc>
                <a:spcPts val="3203"/>
              </a:lnSpc>
              <a:buFont typeface="Arial"/>
              <a:buChar char="•"/>
            </a:pPr>
            <a:r>
              <a:rPr lang="en-US" sz="2135" spc="-32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If multiple signals are negative or low upward probability ⇒ output </a:t>
            </a:r>
            <a:r>
              <a:rPr lang="en-US" b="true" sz="2135" spc="-32">
                <a:solidFill>
                  <a:srgbClr val="0E4714"/>
                </a:solidFill>
                <a:latin typeface="Gotham Bold"/>
                <a:ea typeface="Gotham Bold"/>
                <a:cs typeface="Gotham Bold"/>
                <a:sym typeface="Gotham Bold"/>
              </a:rPr>
              <a:t>“Sell”</a:t>
            </a:r>
            <a:r>
              <a:rPr lang="en-US" sz="2135" spc="-32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 or avoid recommending.</a:t>
            </a:r>
          </a:p>
          <a:p>
            <a:pPr algn="l">
              <a:lnSpc>
                <a:spcPts val="3203"/>
              </a:lnSpc>
            </a:pPr>
          </a:p>
          <a:p>
            <a:pPr algn="l" marL="461129" indent="-230564" lvl="1">
              <a:lnSpc>
                <a:spcPts val="3203"/>
              </a:lnSpc>
              <a:buFont typeface="Arial"/>
              <a:buChar char="•"/>
            </a:pPr>
            <a:r>
              <a:rPr lang="en-US" sz="2135" spc="-32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For </a:t>
            </a:r>
            <a:r>
              <a:rPr lang="en-US" b="true" sz="2135" spc="-32">
                <a:solidFill>
                  <a:srgbClr val="0E4714"/>
                </a:solidFill>
                <a:latin typeface="Gotham Bold"/>
                <a:ea typeface="Gotham Bold"/>
                <a:cs typeface="Gotham Bold"/>
                <a:sym typeface="Gotham Bold"/>
              </a:rPr>
              <a:t>portfolio requests</a:t>
            </a:r>
            <a:r>
              <a:rPr lang="en-US" sz="2135" spc="-32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, the engine selects a mix of stocks aligned with the risk level (more stable assets for low risk, more growth for high risk) and assigns weights to each.</a:t>
            </a:r>
          </a:p>
          <a:p>
            <a:pPr algn="l">
              <a:lnSpc>
                <a:spcPts val="3203"/>
              </a:lnSpc>
            </a:pPr>
          </a:p>
          <a:p>
            <a:pPr algn="l" marL="411776" indent="-205888" lvl="1">
              <a:lnSpc>
                <a:spcPts val="2860"/>
              </a:lnSpc>
              <a:buFont typeface="Arial"/>
              <a:buChar char="•"/>
            </a:pPr>
            <a:r>
              <a:rPr lang="en-US" sz="1907" spc="-28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Finally, a </a:t>
            </a:r>
            <a:r>
              <a:rPr lang="en-US" b="true" sz="1907" spc="-28">
                <a:solidFill>
                  <a:srgbClr val="0E4714"/>
                </a:solidFill>
                <a:latin typeface="Gotham Bold"/>
                <a:ea typeface="Gotham Bold"/>
                <a:cs typeface="Gotham Bold"/>
                <a:sym typeface="Gotham Bold"/>
              </a:rPr>
              <a:t>GPT-based Explanation module</a:t>
            </a:r>
            <a:r>
              <a:rPr lang="en-US" sz="1907" spc="-28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 generates a user-friendly explanation of the recommendation, outlining the reasoning (e.g. “Stock X is recommended because… based on strong earnings and positive market sentiment”).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516865" y="580795"/>
            <a:ext cx="14254314" cy="668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4"/>
              </a:lnSpc>
            </a:pPr>
            <a:r>
              <a:rPr lang="en-US" sz="4821" spc="-120">
                <a:solidFill>
                  <a:srgbClr val="0E4714"/>
                </a:solidFill>
                <a:latin typeface="Times New Roman Condensed"/>
                <a:ea typeface="Times New Roman Condensed"/>
                <a:cs typeface="Times New Roman Condensed"/>
                <a:sym typeface="Times New Roman Condensed"/>
              </a:rPr>
              <a:t>INVESTMENT ADVISOR: DECISION ENGINE &amp; INTEGRATION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380822" y="415236"/>
            <a:ext cx="1012349" cy="942750"/>
          </a:xfrm>
          <a:custGeom>
            <a:avLst/>
            <a:gdLst/>
            <a:ahLst/>
            <a:cxnLst/>
            <a:rect r="r" b="b" t="t" l="l"/>
            <a:pathLst>
              <a:path h="942750" w="1012349">
                <a:moveTo>
                  <a:pt x="0" y="0"/>
                </a:moveTo>
                <a:lnTo>
                  <a:pt x="1012349" y="0"/>
                </a:lnTo>
                <a:lnTo>
                  <a:pt x="1012349" y="942750"/>
                </a:lnTo>
                <a:lnTo>
                  <a:pt x="0" y="9427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89278" y="619648"/>
            <a:ext cx="12005824" cy="1996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59"/>
              </a:lnSpc>
            </a:pPr>
            <a:r>
              <a:rPr lang="en-US" sz="5585" spc="-139">
                <a:solidFill>
                  <a:srgbClr val="0E4714"/>
                </a:solidFill>
                <a:latin typeface="Times New Roman Condensed"/>
                <a:ea typeface="Times New Roman Condensed"/>
                <a:cs typeface="Times New Roman Condensed"/>
                <a:sym typeface="Times New Roman Condensed"/>
              </a:rPr>
              <a:t>SENTIMENT ANALYSIS ENSEMBLE</a:t>
            </a:r>
          </a:p>
          <a:p>
            <a:pPr algn="l">
              <a:lnSpc>
                <a:spcPts val="4859"/>
              </a:lnSpc>
            </a:pPr>
          </a:p>
          <a:p>
            <a:pPr algn="l" marL="0" indent="0" lvl="0">
              <a:lnSpc>
                <a:spcPts val="4859"/>
              </a:lnSpc>
              <a:spcBef>
                <a:spcPct val="0"/>
              </a:spcBef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300236" y="1753190"/>
            <a:ext cx="8082339" cy="8090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09" indent="-205105" lvl="1">
              <a:lnSpc>
                <a:spcPts val="2849"/>
              </a:lnSpc>
              <a:buFont typeface="Arial"/>
              <a:buChar char="•"/>
            </a:pPr>
            <a:r>
              <a:rPr lang="en-US" b="true" sz="1899" spc="-28">
                <a:solidFill>
                  <a:srgbClr val="0E4714"/>
                </a:solidFill>
                <a:latin typeface="Gotham Bold"/>
                <a:ea typeface="Gotham Bold"/>
                <a:cs typeface="Gotham Bold"/>
                <a:sym typeface="Gotham Bold"/>
              </a:rPr>
              <a:t>News Sentiment Module:</a:t>
            </a:r>
            <a:r>
              <a:rPr lang="en-US" sz="1899" spc="-28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 Uses an ensemble of llm/nlp models to gauge market sentiment from financial news:</a:t>
            </a:r>
          </a:p>
          <a:p>
            <a:pPr algn="l" marL="410209" indent="-205105" lvl="1">
              <a:lnSpc>
                <a:spcPts val="2849"/>
              </a:lnSpc>
              <a:buFont typeface="Arial"/>
              <a:buChar char="•"/>
            </a:pPr>
            <a:r>
              <a:rPr lang="en-US" b="true" sz="1899" spc="-28">
                <a:solidFill>
                  <a:srgbClr val="0E4714"/>
                </a:solidFill>
                <a:latin typeface="Gotham Bold"/>
                <a:ea typeface="Gotham Bold"/>
                <a:cs typeface="Gotham Bold"/>
                <a:sym typeface="Gotham Bold"/>
              </a:rPr>
              <a:t>FinBERT:</a:t>
            </a:r>
            <a:r>
              <a:rPr lang="en-US" sz="1899" spc="-28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 Finance-specific BERT model giving Positive/Neutral/Negative sentiment tailored to financial text.</a:t>
            </a:r>
          </a:p>
          <a:p>
            <a:pPr algn="l" marL="410209" indent="-205105" lvl="1">
              <a:lnSpc>
                <a:spcPts val="2849"/>
              </a:lnSpc>
              <a:buFont typeface="Arial"/>
              <a:buChar char="•"/>
            </a:pPr>
            <a:r>
              <a:rPr lang="en-US" b="true" sz="1899" spc="-28">
                <a:solidFill>
                  <a:srgbClr val="0E4714"/>
                </a:solidFill>
                <a:latin typeface="Gotham Bold"/>
                <a:ea typeface="Gotham Bold"/>
                <a:cs typeface="Gotham Bold"/>
                <a:sym typeface="Gotham Bold"/>
              </a:rPr>
              <a:t>RoBERTa:</a:t>
            </a:r>
            <a:r>
              <a:rPr lang="en-US" sz="1899" spc="-28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 A transformer model fine-tuned on finance news, captures nuanced language and context.</a:t>
            </a:r>
          </a:p>
          <a:p>
            <a:pPr algn="l" marL="410209" indent="-205105" lvl="1">
              <a:lnSpc>
                <a:spcPts val="2849"/>
              </a:lnSpc>
              <a:buFont typeface="Arial"/>
              <a:buChar char="•"/>
            </a:pPr>
            <a:r>
              <a:rPr lang="en-US" b="true" sz="1899" spc="-28">
                <a:solidFill>
                  <a:srgbClr val="0E4714"/>
                </a:solidFill>
                <a:latin typeface="Gotham Bold"/>
                <a:ea typeface="Gotham Bold"/>
                <a:cs typeface="Gotham Bold"/>
                <a:sym typeface="Gotham Bold"/>
              </a:rPr>
              <a:t>VADER:</a:t>
            </a:r>
            <a:r>
              <a:rPr lang="en-US" sz="1899" spc="-28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 A lexicon + rule-based sentiment tool (outputs a polarity score, which we map to Positive/Neutral/Negative).</a:t>
            </a:r>
          </a:p>
          <a:p>
            <a:pPr algn="l">
              <a:lnSpc>
                <a:spcPts val="2849"/>
              </a:lnSpc>
            </a:pPr>
          </a:p>
          <a:p>
            <a:pPr algn="l" marL="410209" indent="-205105" lvl="1">
              <a:lnSpc>
                <a:spcPts val="2849"/>
              </a:lnSpc>
              <a:buFont typeface="Arial"/>
              <a:buChar char="•"/>
            </a:pPr>
            <a:r>
              <a:rPr lang="en-US" sz="1899" spc="-28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Each relevant news headline is fed through </a:t>
            </a:r>
            <a:r>
              <a:rPr lang="en-US" b="true" sz="1899" spc="-28">
                <a:solidFill>
                  <a:srgbClr val="0E4714"/>
                </a:solidFill>
                <a:latin typeface="Gotham Bold"/>
                <a:ea typeface="Gotham Bold"/>
                <a:cs typeface="Gotham Bold"/>
                <a:sym typeface="Gotham Bold"/>
              </a:rPr>
              <a:t>all three models</a:t>
            </a:r>
            <a:r>
              <a:rPr lang="en-US" sz="1899" spc="-28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. The results are then combined:</a:t>
            </a:r>
          </a:p>
          <a:p>
            <a:pPr algn="l">
              <a:lnSpc>
                <a:spcPts val="2849"/>
              </a:lnSpc>
            </a:pPr>
          </a:p>
          <a:p>
            <a:pPr algn="l" marL="410209" indent="-205105" lvl="1">
              <a:lnSpc>
                <a:spcPts val="2849"/>
              </a:lnSpc>
              <a:buFont typeface="Arial"/>
              <a:buChar char="•"/>
            </a:pPr>
            <a:r>
              <a:rPr lang="en-US" sz="1899" spc="-28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FinBERT’s output gets higher weight (expert on finance context).</a:t>
            </a:r>
          </a:p>
          <a:p>
            <a:pPr algn="l" marL="410209" indent="-205105" lvl="1">
              <a:lnSpc>
                <a:spcPts val="2849"/>
              </a:lnSpc>
              <a:buFont typeface="Arial"/>
              <a:buChar char="•"/>
            </a:pPr>
            <a:r>
              <a:rPr lang="en-US" sz="1899" spc="-28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RoBERTa helps catch subtler cues or sarcasm that FinBERT might miss.</a:t>
            </a:r>
          </a:p>
          <a:p>
            <a:pPr algn="l" marL="410209" indent="-205105" lvl="1">
              <a:lnSpc>
                <a:spcPts val="2849"/>
              </a:lnSpc>
              <a:buFont typeface="Arial"/>
              <a:buChar char="•"/>
            </a:pPr>
            <a:r>
              <a:rPr lang="en-US" sz="1899" spc="-28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VADER provides a simple sentiment check and breaks ties if the others disagree.</a:t>
            </a:r>
          </a:p>
          <a:p>
            <a:pPr algn="l">
              <a:lnSpc>
                <a:spcPts val="2849"/>
              </a:lnSpc>
            </a:pPr>
          </a:p>
          <a:p>
            <a:pPr algn="l">
              <a:lnSpc>
                <a:spcPts val="2849"/>
              </a:lnSpc>
            </a:pPr>
          </a:p>
          <a:p>
            <a:pPr algn="l">
              <a:lnSpc>
                <a:spcPts val="2849"/>
              </a:lnSpc>
            </a:pPr>
          </a:p>
          <a:p>
            <a:pPr algn="l">
              <a:lnSpc>
                <a:spcPts val="2849"/>
              </a:lnSpc>
            </a:pPr>
          </a:p>
          <a:p>
            <a:pPr algn="l">
              <a:lnSpc>
                <a:spcPts val="2849"/>
              </a:lnSpc>
            </a:pPr>
          </a:p>
          <a:p>
            <a:pPr algn="l">
              <a:lnSpc>
                <a:spcPts val="2849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300236" y="7998656"/>
            <a:ext cx="17987764" cy="1323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09" indent="-205105" lvl="1">
              <a:lnSpc>
                <a:spcPts val="2659"/>
              </a:lnSpc>
              <a:spcBef>
                <a:spcPct val="0"/>
              </a:spcBef>
              <a:buFont typeface="Arial"/>
              <a:buChar char="•"/>
            </a:pPr>
            <a:r>
              <a:rPr lang="en-US" sz="1899" spc="-47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The ensemble yields an overall sentiment label (e.g. “Overall sentiment: Positive”) along with a confidence score.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</a:p>
          <a:p>
            <a:pPr algn="l" marL="410209" indent="-205105" lvl="1">
              <a:lnSpc>
                <a:spcPts val="2659"/>
              </a:lnSpc>
              <a:spcBef>
                <a:spcPct val="0"/>
              </a:spcBef>
              <a:buFont typeface="Arial"/>
              <a:buChar char="•"/>
            </a:pPr>
            <a:r>
              <a:rPr lang="en-US" sz="1899" spc="-47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Benefit: This multi-model approach is more reliable than any single model, reducing errors. For example, if one model is off, the other two can override it – leading to a more robust sentiment signal for the advisor.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2144394" y="472986"/>
            <a:ext cx="2701417" cy="1111428"/>
            <a:chOff x="0" y="0"/>
            <a:chExt cx="711484" cy="29272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11484" cy="292722"/>
            </a:xfrm>
            <a:custGeom>
              <a:avLst/>
              <a:gdLst/>
              <a:ahLst/>
              <a:cxnLst/>
              <a:rect r="r" b="b" t="t" l="l"/>
              <a:pathLst>
                <a:path h="292722" w="711484">
                  <a:moveTo>
                    <a:pt x="48720" y="0"/>
                  </a:moveTo>
                  <a:lnTo>
                    <a:pt x="662765" y="0"/>
                  </a:lnTo>
                  <a:cubicBezTo>
                    <a:pt x="675686" y="0"/>
                    <a:pt x="688078" y="5133"/>
                    <a:pt x="697215" y="14270"/>
                  </a:cubicBezTo>
                  <a:cubicBezTo>
                    <a:pt x="706351" y="23406"/>
                    <a:pt x="711484" y="35799"/>
                    <a:pt x="711484" y="48720"/>
                  </a:cubicBezTo>
                  <a:lnTo>
                    <a:pt x="711484" y="244002"/>
                  </a:lnTo>
                  <a:cubicBezTo>
                    <a:pt x="711484" y="270909"/>
                    <a:pt x="689672" y="292722"/>
                    <a:pt x="662765" y="292722"/>
                  </a:cubicBezTo>
                  <a:lnTo>
                    <a:pt x="48720" y="292722"/>
                  </a:lnTo>
                  <a:cubicBezTo>
                    <a:pt x="35799" y="292722"/>
                    <a:pt x="23406" y="287589"/>
                    <a:pt x="14270" y="278452"/>
                  </a:cubicBezTo>
                  <a:cubicBezTo>
                    <a:pt x="5133" y="269315"/>
                    <a:pt x="0" y="256923"/>
                    <a:pt x="0" y="244002"/>
                  </a:cubicBezTo>
                  <a:lnTo>
                    <a:pt x="0" y="48720"/>
                  </a:lnTo>
                  <a:cubicBezTo>
                    <a:pt x="0" y="35799"/>
                    <a:pt x="5133" y="23406"/>
                    <a:pt x="14270" y="14270"/>
                  </a:cubicBezTo>
                  <a:cubicBezTo>
                    <a:pt x="23406" y="5133"/>
                    <a:pt x="35799" y="0"/>
                    <a:pt x="48720" y="0"/>
                  </a:cubicBezTo>
                  <a:close/>
                </a:path>
              </a:pathLst>
            </a:custGeom>
            <a:solidFill>
              <a:srgbClr val="0E471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711484" cy="3403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8"/>
                </a:lnSpc>
              </a:pPr>
              <a:r>
                <a:rPr lang="en-US" sz="1863">
                  <a:solidFill>
                    <a:srgbClr val="FFFFFF"/>
                  </a:solidFill>
                  <a:latin typeface="Gotham"/>
                  <a:ea typeface="Gotham"/>
                  <a:cs typeface="Gotham"/>
                  <a:sym typeface="Gotham"/>
                </a:rPr>
                <a:t>Input:</a:t>
              </a:r>
            </a:p>
            <a:p>
              <a:pPr algn="ctr">
                <a:lnSpc>
                  <a:spcPts val="2608"/>
                </a:lnSpc>
              </a:pPr>
              <a:r>
                <a:rPr lang="en-US" sz="1863">
                  <a:solidFill>
                    <a:srgbClr val="FFFFFF"/>
                  </a:solidFill>
                  <a:latin typeface="Gotham"/>
                  <a:ea typeface="Gotham"/>
                  <a:cs typeface="Gotham"/>
                  <a:sym typeface="Gotham"/>
                </a:rPr>
                <a:t> Financial News Headline or Snippet 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305133" y="2147597"/>
            <a:ext cx="2701417" cy="2380306"/>
            <a:chOff x="0" y="0"/>
            <a:chExt cx="711484" cy="62691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11484" cy="626912"/>
            </a:xfrm>
            <a:custGeom>
              <a:avLst/>
              <a:gdLst/>
              <a:ahLst/>
              <a:cxnLst/>
              <a:rect r="r" b="b" t="t" l="l"/>
              <a:pathLst>
                <a:path h="626912" w="711484">
                  <a:moveTo>
                    <a:pt x="48720" y="0"/>
                  </a:moveTo>
                  <a:lnTo>
                    <a:pt x="662765" y="0"/>
                  </a:lnTo>
                  <a:cubicBezTo>
                    <a:pt x="675686" y="0"/>
                    <a:pt x="688078" y="5133"/>
                    <a:pt x="697215" y="14270"/>
                  </a:cubicBezTo>
                  <a:cubicBezTo>
                    <a:pt x="706351" y="23406"/>
                    <a:pt x="711484" y="35799"/>
                    <a:pt x="711484" y="48720"/>
                  </a:cubicBezTo>
                  <a:lnTo>
                    <a:pt x="711484" y="578192"/>
                  </a:lnTo>
                  <a:cubicBezTo>
                    <a:pt x="711484" y="605099"/>
                    <a:pt x="689672" y="626912"/>
                    <a:pt x="662765" y="626912"/>
                  </a:cubicBezTo>
                  <a:lnTo>
                    <a:pt x="48720" y="626912"/>
                  </a:lnTo>
                  <a:cubicBezTo>
                    <a:pt x="35799" y="626912"/>
                    <a:pt x="23406" y="621779"/>
                    <a:pt x="14270" y="612642"/>
                  </a:cubicBezTo>
                  <a:cubicBezTo>
                    <a:pt x="5133" y="603505"/>
                    <a:pt x="0" y="591113"/>
                    <a:pt x="0" y="578192"/>
                  </a:cubicBezTo>
                  <a:lnTo>
                    <a:pt x="0" y="48720"/>
                  </a:lnTo>
                  <a:cubicBezTo>
                    <a:pt x="0" y="35799"/>
                    <a:pt x="5133" y="23406"/>
                    <a:pt x="14270" y="14270"/>
                  </a:cubicBezTo>
                  <a:cubicBezTo>
                    <a:pt x="23406" y="5133"/>
                    <a:pt x="35799" y="0"/>
                    <a:pt x="48720" y="0"/>
                  </a:cubicBezTo>
                  <a:close/>
                </a:path>
              </a:pathLst>
            </a:custGeom>
            <a:solidFill>
              <a:srgbClr val="0E471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711484" cy="6745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8"/>
                </a:lnSpc>
              </a:pPr>
              <a:r>
                <a:rPr lang="en-US" sz="1863">
                  <a:solidFill>
                    <a:srgbClr val="FFFFFF"/>
                  </a:solidFill>
                  <a:latin typeface="Gotham"/>
                  <a:ea typeface="Gotham"/>
                  <a:cs typeface="Gotham"/>
                  <a:sym typeface="Gotham"/>
                </a:rPr>
                <a:t>FinBERT (Financial BERT) </a:t>
              </a:r>
            </a:p>
            <a:p>
              <a:pPr algn="ctr">
                <a:lnSpc>
                  <a:spcPts val="2608"/>
                </a:lnSpc>
              </a:pPr>
              <a:r>
                <a:rPr lang="en-US" sz="1863">
                  <a:solidFill>
                    <a:srgbClr val="FFFFFF"/>
                  </a:solidFill>
                  <a:latin typeface="Gotham"/>
                  <a:ea typeface="Gotham"/>
                  <a:cs typeface="Gotham"/>
                  <a:sym typeface="Gotham"/>
                </a:rPr>
                <a:t>- Domain-specific</a:t>
              </a:r>
            </a:p>
            <a:p>
              <a:pPr algn="ctr">
                <a:lnSpc>
                  <a:spcPts val="2608"/>
                </a:lnSpc>
              </a:pPr>
              <a:r>
                <a:rPr lang="en-US" sz="1863">
                  <a:solidFill>
                    <a:srgbClr val="FFFFFF"/>
                  </a:solidFill>
                  <a:latin typeface="Gotham"/>
                  <a:ea typeface="Gotham"/>
                  <a:cs typeface="Gotham"/>
                  <a:sym typeface="Gotham"/>
                </a:rPr>
                <a:t> - Outputs: Positive/Neutral/Negative + Confidence Score 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144394" y="2170854"/>
            <a:ext cx="2701417" cy="2056456"/>
            <a:chOff x="0" y="0"/>
            <a:chExt cx="711484" cy="54161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11484" cy="541618"/>
            </a:xfrm>
            <a:custGeom>
              <a:avLst/>
              <a:gdLst/>
              <a:ahLst/>
              <a:cxnLst/>
              <a:rect r="r" b="b" t="t" l="l"/>
              <a:pathLst>
                <a:path h="541618" w="711484">
                  <a:moveTo>
                    <a:pt x="48720" y="0"/>
                  </a:moveTo>
                  <a:lnTo>
                    <a:pt x="662765" y="0"/>
                  </a:lnTo>
                  <a:cubicBezTo>
                    <a:pt x="675686" y="0"/>
                    <a:pt x="688078" y="5133"/>
                    <a:pt x="697215" y="14270"/>
                  </a:cubicBezTo>
                  <a:cubicBezTo>
                    <a:pt x="706351" y="23406"/>
                    <a:pt x="711484" y="35799"/>
                    <a:pt x="711484" y="48720"/>
                  </a:cubicBezTo>
                  <a:lnTo>
                    <a:pt x="711484" y="492898"/>
                  </a:lnTo>
                  <a:cubicBezTo>
                    <a:pt x="711484" y="505820"/>
                    <a:pt x="706351" y="518212"/>
                    <a:pt x="697215" y="527348"/>
                  </a:cubicBezTo>
                  <a:cubicBezTo>
                    <a:pt x="688078" y="536485"/>
                    <a:pt x="675686" y="541618"/>
                    <a:pt x="662765" y="541618"/>
                  </a:cubicBezTo>
                  <a:lnTo>
                    <a:pt x="48720" y="541618"/>
                  </a:lnTo>
                  <a:cubicBezTo>
                    <a:pt x="21813" y="541618"/>
                    <a:pt x="0" y="519805"/>
                    <a:pt x="0" y="492898"/>
                  </a:cubicBezTo>
                  <a:lnTo>
                    <a:pt x="0" y="48720"/>
                  </a:lnTo>
                  <a:cubicBezTo>
                    <a:pt x="0" y="35799"/>
                    <a:pt x="5133" y="23406"/>
                    <a:pt x="14270" y="14270"/>
                  </a:cubicBezTo>
                  <a:cubicBezTo>
                    <a:pt x="23406" y="5133"/>
                    <a:pt x="35799" y="0"/>
                    <a:pt x="48720" y="0"/>
                  </a:cubicBezTo>
                  <a:close/>
                </a:path>
              </a:pathLst>
            </a:custGeom>
            <a:solidFill>
              <a:srgbClr val="0E4714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711484" cy="5892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8"/>
                </a:lnSpc>
              </a:pPr>
              <a:r>
                <a:rPr lang="en-US" sz="1863">
                  <a:solidFill>
                    <a:srgbClr val="FFFFFF"/>
                  </a:solidFill>
                  <a:latin typeface="Gotham"/>
                  <a:ea typeface="Gotham"/>
                  <a:cs typeface="Gotham"/>
                  <a:sym typeface="Gotham"/>
                </a:rPr>
                <a:t>RoBERTa (fine-tuned) </a:t>
              </a:r>
            </a:p>
            <a:p>
              <a:pPr algn="ctr">
                <a:lnSpc>
                  <a:spcPts val="2608"/>
                </a:lnSpc>
              </a:pPr>
              <a:r>
                <a:rPr lang="en-US" sz="1863">
                  <a:solidFill>
                    <a:srgbClr val="FFFFFF"/>
                  </a:solidFill>
                  <a:latin typeface="Gotham"/>
                  <a:ea typeface="Gotham"/>
                  <a:cs typeface="Gotham"/>
                  <a:sym typeface="Gotham"/>
                </a:rPr>
                <a:t>- Finance Sentiment</a:t>
              </a:r>
            </a:p>
            <a:p>
              <a:pPr algn="ctr">
                <a:lnSpc>
                  <a:spcPts val="2608"/>
                </a:lnSpc>
              </a:pPr>
              <a:r>
                <a:rPr lang="en-US" sz="1863">
                  <a:solidFill>
                    <a:srgbClr val="FFFFFF"/>
                  </a:solidFill>
                  <a:latin typeface="Gotham"/>
                  <a:ea typeface="Gotham"/>
                  <a:cs typeface="Gotham"/>
                  <a:sym typeface="Gotham"/>
                </a:rPr>
                <a:t> - Outputs: Positive/Neutral/Negative + Confidence Score 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912776" y="2170854"/>
            <a:ext cx="2701417" cy="2056456"/>
            <a:chOff x="0" y="0"/>
            <a:chExt cx="711484" cy="54161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11484" cy="541618"/>
            </a:xfrm>
            <a:custGeom>
              <a:avLst/>
              <a:gdLst/>
              <a:ahLst/>
              <a:cxnLst/>
              <a:rect r="r" b="b" t="t" l="l"/>
              <a:pathLst>
                <a:path h="541618" w="711484">
                  <a:moveTo>
                    <a:pt x="48720" y="0"/>
                  </a:moveTo>
                  <a:lnTo>
                    <a:pt x="662765" y="0"/>
                  </a:lnTo>
                  <a:cubicBezTo>
                    <a:pt x="675686" y="0"/>
                    <a:pt x="688078" y="5133"/>
                    <a:pt x="697215" y="14270"/>
                  </a:cubicBezTo>
                  <a:cubicBezTo>
                    <a:pt x="706351" y="23406"/>
                    <a:pt x="711484" y="35799"/>
                    <a:pt x="711484" y="48720"/>
                  </a:cubicBezTo>
                  <a:lnTo>
                    <a:pt x="711484" y="492898"/>
                  </a:lnTo>
                  <a:cubicBezTo>
                    <a:pt x="711484" y="505820"/>
                    <a:pt x="706351" y="518212"/>
                    <a:pt x="697215" y="527348"/>
                  </a:cubicBezTo>
                  <a:cubicBezTo>
                    <a:pt x="688078" y="536485"/>
                    <a:pt x="675686" y="541618"/>
                    <a:pt x="662765" y="541618"/>
                  </a:cubicBezTo>
                  <a:lnTo>
                    <a:pt x="48720" y="541618"/>
                  </a:lnTo>
                  <a:cubicBezTo>
                    <a:pt x="21813" y="541618"/>
                    <a:pt x="0" y="519805"/>
                    <a:pt x="0" y="492898"/>
                  </a:cubicBezTo>
                  <a:lnTo>
                    <a:pt x="0" y="48720"/>
                  </a:lnTo>
                  <a:cubicBezTo>
                    <a:pt x="0" y="35799"/>
                    <a:pt x="5133" y="23406"/>
                    <a:pt x="14270" y="14270"/>
                  </a:cubicBezTo>
                  <a:cubicBezTo>
                    <a:pt x="23406" y="5133"/>
                    <a:pt x="35799" y="0"/>
                    <a:pt x="48720" y="0"/>
                  </a:cubicBezTo>
                  <a:close/>
                </a:path>
              </a:pathLst>
            </a:custGeom>
            <a:solidFill>
              <a:srgbClr val="0E4714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711484" cy="5892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8"/>
                </a:lnSpc>
              </a:pPr>
              <a:r>
                <a:rPr lang="en-US" sz="1863">
                  <a:solidFill>
                    <a:srgbClr val="FFFFFF"/>
                  </a:solidFill>
                  <a:latin typeface="Gotham"/>
                  <a:ea typeface="Gotham"/>
                  <a:cs typeface="Gotham"/>
                  <a:sym typeface="Gotham"/>
                </a:rPr>
                <a:t>VADER (rule-based) </a:t>
              </a:r>
            </a:p>
            <a:p>
              <a:pPr algn="ctr">
                <a:lnSpc>
                  <a:spcPts val="2608"/>
                </a:lnSpc>
              </a:pPr>
              <a:r>
                <a:rPr lang="en-US" sz="1863">
                  <a:solidFill>
                    <a:srgbClr val="FFFFFF"/>
                  </a:solidFill>
                  <a:latin typeface="Gotham"/>
                  <a:ea typeface="Gotham"/>
                  <a:cs typeface="Gotham"/>
                  <a:sym typeface="Gotham"/>
                </a:rPr>
                <a:t>- Compound Score (-1 to 1)</a:t>
              </a:r>
            </a:p>
            <a:p>
              <a:pPr algn="ctr">
                <a:lnSpc>
                  <a:spcPts val="2608"/>
                </a:lnSpc>
              </a:pPr>
              <a:r>
                <a:rPr lang="en-US" sz="1863">
                  <a:solidFill>
                    <a:srgbClr val="FFFFFF"/>
                  </a:solidFill>
                  <a:latin typeface="Gotham"/>
                  <a:ea typeface="Gotham"/>
                  <a:cs typeface="Gotham"/>
                  <a:sym typeface="Gotham"/>
                </a:rPr>
                <a:t> - Threshold to Positive/Neutral/Negative 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375365" y="4869137"/>
            <a:ext cx="4239475" cy="1111428"/>
            <a:chOff x="0" y="0"/>
            <a:chExt cx="1116570" cy="29272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16570" cy="292722"/>
            </a:xfrm>
            <a:custGeom>
              <a:avLst/>
              <a:gdLst/>
              <a:ahLst/>
              <a:cxnLst/>
              <a:rect r="r" b="b" t="t" l="l"/>
              <a:pathLst>
                <a:path h="292722" w="1116570">
                  <a:moveTo>
                    <a:pt x="31045" y="0"/>
                  </a:moveTo>
                  <a:lnTo>
                    <a:pt x="1085525" y="0"/>
                  </a:lnTo>
                  <a:cubicBezTo>
                    <a:pt x="1093759" y="0"/>
                    <a:pt x="1101655" y="3271"/>
                    <a:pt x="1107477" y="9093"/>
                  </a:cubicBezTo>
                  <a:cubicBezTo>
                    <a:pt x="1113299" y="14915"/>
                    <a:pt x="1116570" y="22811"/>
                    <a:pt x="1116570" y="31045"/>
                  </a:cubicBezTo>
                  <a:lnTo>
                    <a:pt x="1116570" y="261677"/>
                  </a:lnTo>
                  <a:cubicBezTo>
                    <a:pt x="1116570" y="278823"/>
                    <a:pt x="1102670" y="292722"/>
                    <a:pt x="1085525" y="292722"/>
                  </a:cubicBezTo>
                  <a:lnTo>
                    <a:pt x="31045" y="292722"/>
                  </a:lnTo>
                  <a:cubicBezTo>
                    <a:pt x="22811" y="292722"/>
                    <a:pt x="14915" y="289451"/>
                    <a:pt x="9093" y="283629"/>
                  </a:cubicBezTo>
                  <a:cubicBezTo>
                    <a:pt x="3271" y="277807"/>
                    <a:pt x="0" y="269911"/>
                    <a:pt x="0" y="261677"/>
                  </a:cubicBezTo>
                  <a:lnTo>
                    <a:pt x="0" y="31045"/>
                  </a:lnTo>
                  <a:cubicBezTo>
                    <a:pt x="0" y="22811"/>
                    <a:pt x="3271" y="14915"/>
                    <a:pt x="9093" y="9093"/>
                  </a:cubicBezTo>
                  <a:cubicBezTo>
                    <a:pt x="14915" y="3271"/>
                    <a:pt x="22811" y="0"/>
                    <a:pt x="31045" y="0"/>
                  </a:cubicBezTo>
                  <a:close/>
                </a:path>
              </a:pathLst>
            </a:custGeom>
            <a:solidFill>
              <a:srgbClr val="0E4714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1116570" cy="3403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8"/>
                </a:lnSpc>
              </a:pPr>
              <a:r>
                <a:rPr lang="en-US" sz="1863">
                  <a:solidFill>
                    <a:srgbClr val="FFFFFF"/>
                  </a:solidFill>
                  <a:latin typeface="Gotham"/>
                  <a:ea typeface="Gotham"/>
                  <a:cs typeface="Gotham"/>
                  <a:sym typeface="Gotham"/>
                </a:rPr>
                <a:t>Aggregator</a:t>
              </a:r>
            </a:p>
            <a:p>
              <a:pPr algn="ctr">
                <a:lnSpc>
                  <a:spcPts val="2608"/>
                </a:lnSpc>
              </a:pPr>
              <a:r>
                <a:rPr lang="en-US" sz="1863">
                  <a:solidFill>
                    <a:srgbClr val="FFFFFF"/>
                  </a:solidFill>
                  <a:latin typeface="Gotham"/>
                  <a:ea typeface="Gotham"/>
                  <a:cs typeface="Gotham"/>
                  <a:sym typeface="Gotham"/>
                </a:rPr>
                <a:t> (Weighted Average or Majority Vote) RoBERTa Weighted Higher 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1535163" y="6580343"/>
            <a:ext cx="3919879" cy="1111428"/>
            <a:chOff x="0" y="0"/>
            <a:chExt cx="1032396" cy="29272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32396" cy="292722"/>
            </a:xfrm>
            <a:custGeom>
              <a:avLst/>
              <a:gdLst/>
              <a:ahLst/>
              <a:cxnLst/>
              <a:rect r="r" b="b" t="t" l="l"/>
              <a:pathLst>
                <a:path h="292722" w="1032396">
                  <a:moveTo>
                    <a:pt x="33576" y="0"/>
                  </a:moveTo>
                  <a:lnTo>
                    <a:pt x="998820" y="0"/>
                  </a:lnTo>
                  <a:cubicBezTo>
                    <a:pt x="1017364" y="0"/>
                    <a:pt x="1032396" y="15032"/>
                    <a:pt x="1032396" y="33576"/>
                  </a:cubicBezTo>
                  <a:lnTo>
                    <a:pt x="1032396" y="259146"/>
                  </a:lnTo>
                  <a:cubicBezTo>
                    <a:pt x="1032396" y="277689"/>
                    <a:pt x="1017364" y="292722"/>
                    <a:pt x="998820" y="292722"/>
                  </a:cubicBezTo>
                  <a:lnTo>
                    <a:pt x="33576" y="292722"/>
                  </a:lnTo>
                  <a:cubicBezTo>
                    <a:pt x="15032" y="292722"/>
                    <a:pt x="0" y="277689"/>
                    <a:pt x="0" y="259146"/>
                  </a:cubicBezTo>
                  <a:lnTo>
                    <a:pt x="0" y="33576"/>
                  </a:lnTo>
                  <a:cubicBezTo>
                    <a:pt x="0" y="15032"/>
                    <a:pt x="15032" y="0"/>
                    <a:pt x="33576" y="0"/>
                  </a:cubicBezTo>
                  <a:close/>
                </a:path>
              </a:pathLst>
            </a:custGeom>
            <a:solidFill>
              <a:srgbClr val="0E4714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1032396" cy="3403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8"/>
                </a:lnSpc>
              </a:pPr>
              <a:r>
                <a:rPr lang="en-US" sz="1863">
                  <a:solidFill>
                    <a:srgbClr val="FFFFFF"/>
                  </a:solidFill>
                  <a:latin typeface="Gotham"/>
                  <a:ea typeface="Gotham"/>
                  <a:cs typeface="Gotham"/>
                  <a:sym typeface="Gotham"/>
                </a:rPr>
                <a:t>Final Output:</a:t>
              </a:r>
            </a:p>
            <a:p>
              <a:pPr algn="ctr">
                <a:lnSpc>
                  <a:spcPts val="2608"/>
                </a:lnSpc>
              </a:pPr>
              <a:r>
                <a:rPr lang="en-US" sz="1863">
                  <a:solidFill>
                    <a:srgbClr val="FFFFFF"/>
                  </a:solidFill>
                  <a:latin typeface="Gotham"/>
                  <a:ea typeface="Gotham"/>
                  <a:cs typeface="Gotham"/>
                  <a:sym typeface="Gotham"/>
                </a:rPr>
                <a:t> Ov</a:t>
              </a:r>
              <a:r>
                <a:rPr lang="en-US" sz="1863">
                  <a:solidFill>
                    <a:srgbClr val="FFFFFF"/>
                  </a:solidFill>
                  <a:latin typeface="Gotham"/>
                  <a:ea typeface="Gotham"/>
                  <a:cs typeface="Gotham"/>
                  <a:sym typeface="Gotham"/>
                </a:rPr>
                <a:t>erall Sentiment (e.g. 'Positive') + Confidence Score </a:t>
              </a:r>
            </a:p>
          </p:txBody>
        </p:sp>
      </p:grpSp>
      <p:sp>
        <p:nvSpPr>
          <p:cNvPr name="AutoShape 23" id="23"/>
          <p:cNvSpPr/>
          <p:nvPr/>
        </p:nvSpPr>
        <p:spPr>
          <a:xfrm>
            <a:off x="13495103" y="1584414"/>
            <a:ext cx="0" cy="586440"/>
          </a:xfrm>
          <a:prstGeom prst="line">
            <a:avLst/>
          </a:prstGeom>
          <a:ln cap="flat" w="38100">
            <a:solidFill>
              <a:srgbClr val="0E4714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24" id="24"/>
          <p:cNvSpPr/>
          <p:nvPr/>
        </p:nvSpPr>
        <p:spPr>
          <a:xfrm flipH="true">
            <a:off x="10263484" y="1584414"/>
            <a:ext cx="3231618" cy="586440"/>
          </a:xfrm>
          <a:prstGeom prst="line">
            <a:avLst/>
          </a:prstGeom>
          <a:ln cap="flat" w="38100">
            <a:solidFill>
              <a:srgbClr val="0E4714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25" id="25"/>
          <p:cNvSpPr/>
          <p:nvPr/>
        </p:nvSpPr>
        <p:spPr>
          <a:xfrm>
            <a:off x="13495103" y="1584414"/>
            <a:ext cx="3160739" cy="563183"/>
          </a:xfrm>
          <a:prstGeom prst="line">
            <a:avLst/>
          </a:prstGeom>
          <a:ln cap="flat" w="38100">
            <a:solidFill>
              <a:srgbClr val="0E4714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26" id="26"/>
          <p:cNvSpPr/>
          <p:nvPr/>
        </p:nvSpPr>
        <p:spPr>
          <a:xfrm flipH="true">
            <a:off x="13495103" y="4227310"/>
            <a:ext cx="0" cy="641827"/>
          </a:xfrm>
          <a:prstGeom prst="line">
            <a:avLst/>
          </a:prstGeom>
          <a:ln cap="flat" w="38100">
            <a:solidFill>
              <a:srgbClr val="0E4714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27" id="27"/>
          <p:cNvSpPr/>
          <p:nvPr/>
        </p:nvSpPr>
        <p:spPr>
          <a:xfrm>
            <a:off x="13495103" y="5980565"/>
            <a:ext cx="0" cy="599778"/>
          </a:xfrm>
          <a:prstGeom prst="line">
            <a:avLst/>
          </a:prstGeom>
          <a:ln cap="flat" w="38100">
            <a:solidFill>
              <a:srgbClr val="0E4714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28" id="28"/>
          <p:cNvSpPr/>
          <p:nvPr/>
        </p:nvSpPr>
        <p:spPr>
          <a:xfrm flipH="false" flipV="false" rot="0">
            <a:off x="300236" y="472986"/>
            <a:ext cx="1012349" cy="942750"/>
          </a:xfrm>
          <a:custGeom>
            <a:avLst/>
            <a:gdLst/>
            <a:ahLst/>
            <a:cxnLst/>
            <a:rect r="r" b="b" t="t" l="l"/>
            <a:pathLst>
              <a:path h="942750" w="1012349">
                <a:moveTo>
                  <a:pt x="0" y="0"/>
                </a:moveTo>
                <a:lnTo>
                  <a:pt x="1012349" y="0"/>
                </a:lnTo>
                <a:lnTo>
                  <a:pt x="1012349" y="942750"/>
                </a:lnTo>
                <a:lnTo>
                  <a:pt x="0" y="9427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82661" y="1497060"/>
            <a:ext cx="17522679" cy="8949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6"/>
              </a:lnSpc>
            </a:pPr>
          </a:p>
          <a:p>
            <a:pPr algn="l" marL="543496" indent="-271748" lvl="1">
              <a:lnSpc>
                <a:spcPts val="3776"/>
              </a:lnSpc>
              <a:buFont typeface="Arial"/>
              <a:buChar char="•"/>
            </a:pPr>
            <a:r>
              <a:rPr lang="en-US" b="true" sz="2517" spc="-37">
                <a:solidFill>
                  <a:srgbClr val="0E4714"/>
                </a:solidFill>
                <a:latin typeface="Gotham Bold"/>
                <a:ea typeface="Gotham Bold"/>
                <a:cs typeface="Gotham Bold"/>
                <a:sym typeface="Gotham Bold"/>
              </a:rPr>
              <a:t>Single-Stock Recommendation:</a:t>
            </a:r>
            <a:r>
              <a:rPr lang="en-US" sz="2517" spc="-37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 e.g. “Buy” or “Hold” a specific stock, with a confidence level. The system weighs all signals and responds (e.g. “Buy Apple – strong fundamentals and positive momentum” or “Hold – mixed signals”).</a:t>
            </a:r>
          </a:p>
          <a:p>
            <a:pPr algn="l" marL="543496" indent="-271748" lvl="1">
              <a:lnSpc>
                <a:spcPts val="3776"/>
              </a:lnSpc>
              <a:buFont typeface="Arial"/>
              <a:buChar char="•"/>
            </a:pPr>
            <a:r>
              <a:rPr lang="en-US" b="true" sz="2517" spc="-37">
                <a:solidFill>
                  <a:srgbClr val="0E4714"/>
                </a:solidFill>
                <a:latin typeface="Gotham Bold"/>
                <a:ea typeface="Gotham Bold"/>
                <a:cs typeface="Gotham Bold"/>
                <a:sym typeface="Gotham Bold"/>
              </a:rPr>
              <a:t>Portfolio Recommendation:</a:t>
            </a:r>
            <a:r>
              <a:rPr lang="en-US" sz="2517" spc="-37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 Construct a sample portfolio based on a target risk level (Conservative, Moderate, Aggressive).</a:t>
            </a:r>
          </a:p>
          <a:p>
            <a:pPr algn="l" marL="543496" indent="-271748" lvl="1">
              <a:lnSpc>
                <a:spcPts val="3776"/>
              </a:lnSpc>
              <a:buFont typeface="Arial"/>
              <a:buChar char="•"/>
            </a:pPr>
            <a:r>
              <a:rPr lang="en-US" b="true" sz="2517" spc="-37">
                <a:solidFill>
                  <a:srgbClr val="0E4714"/>
                </a:solidFill>
                <a:latin typeface="Gotham Bold"/>
                <a:ea typeface="Gotham Bold"/>
                <a:cs typeface="Gotham Bold"/>
                <a:sym typeface="Gotham Bold"/>
              </a:rPr>
              <a:t>Risk-Tailored Portfolio Examples:</a:t>
            </a:r>
          </a:p>
          <a:p>
            <a:pPr algn="l" marL="543496" indent="-271748" lvl="1">
              <a:lnSpc>
                <a:spcPts val="3776"/>
              </a:lnSpc>
              <a:buFont typeface="Arial"/>
              <a:buChar char="•"/>
            </a:pPr>
            <a:r>
              <a:rPr lang="en-US" sz="2517" i="true" spc="-37">
                <a:solidFill>
                  <a:srgbClr val="0E4714"/>
                </a:solidFill>
                <a:latin typeface="Gotham Italics"/>
                <a:ea typeface="Gotham Italics"/>
                <a:cs typeface="Gotham Italics"/>
                <a:sym typeface="Gotham Italics"/>
              </a:rPr>
              <a:t>Low-Risk:</a:t>
            </a:r>
            <a:r>
              <a:rPr lang="en-US" sz="2517" spc="-37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 Emphasize stable stocks. </a:t>
            </a:r>
            <a:r>
              <a:rPr lang="en-US" sz="2517" i="true" spc="-37">
                <a:solidFill>
                  <a:srgbClr val="0E4714"/>
                </a:solidFill>
                <a:latin typeface="Gotham Italics"/>
                <a:ea typeface="Gotham Italics"/>
                <a:cs typeface="Gotham Italics"/>
                <a:sym typeface="Gotham Italics"/>
              </a:rPr>
              <a:t>E.g.,</a:t>
            </a:r>
            <a:r>
              <a:rPr lang="en-US" sz="2517" spc="-37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 40% in JNJ (Johnson &amp; Johnson), 30% in KO (Coca-Cola), 20% in WMT (Walmart), 10% in MSFT (Microsoft) – these are blue-chip, dividend-paying companies for steady growth.</a:t>
            </a:r>
          </a:p>
          <a:p>
            <a:pPr algn="l" marL="543496" indent="-271748" lvl="1">
              <a:lnSpc>
                <a:spcPts val="3776"/>
              </a:lnSpc>
              <a:buFont typeface="Arial"/>
              <a:buChar char="•"/>
            </a:pPr>
            <a:r>
              <a:rPr lang="en-US" sz="2517" i="true" spc="-37">
                <a:solidFill>
                  <a:srgbClr val="0E4714"/>
                </a:solidFill>
                <a:latin typeface="Gotham Italics"/>
                <a:ea typeface="Gotham Italics"/>
                <a:cs typeface="Gotham Italics"/>
                <a:sym typeface="Gotham Italics"/>
              </a:rPr>
              <a:t>High-Risk:</a:t>
            </a:r>
            <a:r>
              <a:rPr lang="en-US" sz="2517" spc="-37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 Emphasize growth and momentum. </a:t>
            </a:r>
            <a:r>
              <a:rPr lang="en-US" sz="2517" i="true" spc="-37">
                <a:solidFill>
                  <a:srgbClr val="0E4714"/>
                </a:solidFill>
                <a:latin typeface="Gotham Italics"/>
                <a:ea typeface="Gotham Italics"/>
                <a:cs typeface="Gotham Italics"/>
                <a:sym typeface="Gotham Italics"/>
              </a:rPr>
              <a:t>E.g.,</a:t>
            </a:r>
            <a:r>
              <a:rPr lang="en-US" sz="2517" spc="-37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 25% TSLA, 20% NVDA, 20% COIN, 20% GME, 15% AMD – higher volatility picks with potential for big gains (and bigger risk).</a:t>
            </a:r>
          </a:p>
          <a:p>
            <a:pPr algn="l" marL="565087" indent="-282544" lvl="1">
              <a:lnSpc>
                <a:spcPts val="3926"/>
              </a:lnSpc>
              <a:buFont typeface="Arial"/>
              <a:buChar char="•"/>
            </a:pPr>
            <a:r>
              <a:rPr lang="en-US" sz="2617" spc="-39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The agent allocates weights (summing to 100%). Higher-confidence picks get larger weights, ensuring a balanced but optimized portfolio suggestion.</a:t>
            </a:r>
          </a:p>
          <a:p>
            <a:pPr algn="l" marL="543496" indent="-271748" lvl="1">
              <a:lnSpc>
                <a:spcPts val="3776"/>
              </a:lnSpc>
              <a:buFont typeface="Arial"/>
              <a:buChar char="•"/>
            </a:pPr>
            <a:r>
              <a:rPr lang="en-US" b="true" sz="2517" spc="-37">
                <a:solidFill>
                  <a:srgbClr val="0E4714"/>
                </a:solidFill>
                <a:latin typeface="Gotham Bold"/>
                <a:ea typeface="Gotham Bold"/>
                <a:cs typeface="Gotham Bold"/>
                <a:sym typeface="Gotham Bold"/>
              </a:rPr>
              <a:t>Explanation Provided:</a:t>
            </a:r>
            <a:r>
              <a:rPr lang="en-US" sz="2517" spc="-37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 For any recommendation, the </a:t>
            </a:r>
            <a:r>
              <a:rPr lang="en-US" b="true" sz="2517" spc="-37">
                <a:solidFill>
                  <a:srgbClr val="0E4714"/>
                </a:solidFill>
                <a:latin typeface="Gotham Bold"/>
                <a:ea typeface="Gotham Bold"/>
                <a:cs typeface="Gotham Bold"/>
                <a:sym typeface="Gotham Bold"/>
              </a:rPr>
              <a:t>LLM explanation</a:t>
            </a:r>
            <a:r>
              <a:rPr lang="en-US" sz="2517" spc="-37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 module will justify the choices (e.g., “Chosen for its strong earnings and positive news sentiment” for each stock in the portfolio). This helps users trust and understand the advice.</a:t>
            </a:r>
          </a:p>
          <a:p>
            <a:pPr algn="l">
              <a:lnSpc>
                <a:spcPts val="3326"/>
              </a:lnSpc>
            </a:pPr>
          </a:p>
          <a:p>
            <a:pPr algn="l">
              <a:lnSpc>
                <a:spcPts val="3326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1436966" y="730183"/>
            <a:ext cx="15414069" cy="1716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4"/>
              </a:lnSpc>
            </a:pPr>
            <a:r>
              <a:rPr lang="en-US" sz="4821" spc="-120">
                <a:solidFill>
                  <a:srgbClr val="0E4714"/>
                </a:solidFill>
                <a:latin typeface="Times New Roman Condensed"/>
                <a:ea typeface="Times New Roman Condensed"/>
                <a:cs typeface="Times New Roman Condensed"/>
                <a:sym typeface="Times New Roman Condensed"/>
              </a:rPr>
              <a:t>INVESTMENT RECOMMENDATIONS &amp; PORTFOLIO OUTPUT</a:t>
            </a:r>
          </a:p>
          <a:p>
            <a:pPr algn="l">
              <a:lnSpc>
                <a:spcPts val="4194"/>
              </a:lnSpc>
            </a:pPr>
          </a:p>
          <a:p>
            <a:pPr algn="l">
              <a:lnSpc>
                <a:spcPts val="4194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262812" y="427121"/>
            <a:ext cx="1012349" cy="942750"/>
          </a:xfrm>
          <a:custGeom>
            <a:avLst/>
            <a:gdLst/>
            <a:ahLst/>
            <a:cxnLst/>
            <a:rect r="r" b="b" t="t" l="l"/>
            <a:pathLst>
              <a:path h="942750" w="1012349">
                <a:moveTo>
                  <a:pt x="0" y="0"/>
                </a:moveTo>
                <a:lnTo>
                  <a:pt x="1012349" y="0"/>
                </a:lnTo>
                <a:lnTo>
                  <a:pt x="1012349" y="942750"/>
                </a:lnTo>
                <a:lnTo>
                  <a:pt x="0" y="9427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73757" y="760052"/>
            <a:ext cx="16230600" cy="1094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3"/>
              </a:lnSpc>
            </a:pPr>
            <a:r>
              <a:rPr lang="en-US" sz="7820" spc="-195">
                <a:solidFill>
                  <a:srgbClr val="0E4714"/>
                </a:solidFill>
                <a:latin typeface="Times New Roman Condensed"/>
                <a:ea typeface="Times New Roman Condensed"/>
                <a:cs typeface="Times New Roman Condensed"/>
                <a:sym typeface="Times New Roman Condensed"/>
              </a:rPr>
              <a:t>LLM-ADVISOR ARCHITECTURE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2227104" y="-970806"/>
            <a:ext cx="8434028" cy="6114306"/>
          </a:xfrm>
          <a:custGeom>
            <a:avLst/>
            <a:gdLst/>
            <a:ahLst/>
            <a:cxnLst/>
            <a:rect r="r" b="b" t="t" l="l"/>
            <a:pathLst>
              <a:path h="6114306" w="8434028">
                <a:moveTo>
                  <a:pt x="0" y="0"/>
                </a:moveTo>
                <a:lnTo>
                  <a:pt x="8434028" y="0"/>
                </a:lnTo>
                <a:lnTo>
                  <a:pt x="8434028" y="6114306"/>
                </a:lnTo>
                <a:lnTo>
                  <a:pt x="0" y="61143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93483" r="-128662" b="-5254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519074" y="4624189"/>
            <a:ext cx="2701417" cy="1111428"/>
            <a:chOff x="0" y="0"/>
            <a:chExt cx="711484" cy="29272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11484" cy="292722"/>
            </a:xfrm>
            <a:custGeom>
              <a:avLst/>
              <a:gdLst/>
              <a:ahLst/>
              <a:cxnLst/>
              <a:rect r="r" b="b" t="t" l="l"/>
              <a:pathLst>
                <a:path h="292722" w="711484">
                  <a:moveTo>
                    <a:pt x="48720" y="0"/>
                  </a:moveTo>
                  <a:lnTo>
                    <a:pt x="662765" y="0"/>
                  </a:lnTo>
                  <a:cubicBezTo>
                    <a:pt x="675686" y="0"/>
                    <a:pt x="688078" y="5133"/>
                    <a:pt x="697215" y="14270"/>
                  </a:cubicBezTo>
                  <a:cubicBezTo>
                    <a:pt x="706351" y="23406"/>
                    <a:pt x="711484" y="35799"/>
                    <a:pt x="711484" y="48720"/>
                  </a:cubicBezTo>
                  <a:lnTo>
                    <a:pt x="711484" y="244002"/>
                  </a:lnTo>
                  <a:cubicBezTo>
                    <a:pt x="711484" y="270909"/>
                    <a:pt x="689672" y="292722"/>
                    <a:pt x="662765" y="292722"/>
                  </a:cubicBezTo>
                  <a:lnTo>
                    <a:pt x="48720" y="292722"/>
                  </a:lnTo>
                  <a:cubicBezTo>
                    <a:pt x="35799" y="292722"/>
                    <a:pt x="23406" y="287589"/>
                    <a:pt x="14270" y="278452"/>
                  </a:cubicBezTo>
                  <a:cubicBezTo>
                    <a:pt x="5133" y="269315"/>
                    <a:pt x="0" y="256923"/>
                    <a:pt x="0" y="244002"/>
                  </a:cubicBezTo>
                  <a:lnTo>
                    <a:pt x="0" y="48720"/>
                  </a:lnTo>
                  <a:cubicBezTo>
                    <a:pt x="0" y="35799"/>
                    <a:pt x="5133" y="23406"/>
                    <a:pt x="14270" y="14270"/>
                  </a:cubicBezTo>
                  <a:cubicBezTo>
                    <a:pt x="23406" y="5133"/>
                    <a:pt x="35799" y="0"/>
                    <a:pt x="48720" y="0"/>
                  </a:cubicBezTo>
                  <a:close/>
                </a:path>
              </a:pathLst>
            </a:custGeom>
            <a:solidFill>
              <a:srgbClr val="0E4714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711484" cy="3403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8"/>
                </a:lnSpc>
              </a:pPr>
              <a:r>
                <a:rPr lang="en-US" sz="1863">
                  <a:solidFill>
                    <a:srgbClr val="FFFFFF"/>
                  </a:solidFill>
                  <a:latin typeface="Gotham"/>
                  <a:ea typeface="Gotham"/>
                  <a:cs typeface="Gotham"/>
                  <a:sym typeface="Gotham"/>
                </a:rPr>
                <a:t>Real-time Market and News Data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4722020" y="2626335"/>
            <a:ext cx="2906934" cy="1189926"/>
            <a:chOff x="0" y="0"/>
            <a:chExt cx="765612" cy="31339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65612" cy="313396"/>
            </a:xfrm>
            <a:custGeom>
              <a:avLst/>
              <a:gdLst/>
              <a:ahLst/>
              <a:cxnLst/>
              <a:rect r="r" b="b" t="t" l="l"/>
              <a:pathLst>
                <a:path h="313396" w="765612">
                  <a:moveTo>
                    <a:pt x="45275" y="0"/>
                  </a:moveTo>
                  <a:lnTo>
                    <a:pt x="720337" y="0"/>
                  </a:lnTo>
                  <a:cubicBezTo>
                    <a:pt x="745342" y="0"/>
                    <a:pt x="765612" y="20270"/>
                    <a:pt x="765612" y="45275"/>
                  </a:cubicBezTo>
                  <a:lnTo>
                    <a:pt x="765612" y="268121"/>
                  </a:lnTo>
                  <a:cubicBezTo>
                    <a:pt x="765612" y="293126"/>
                    <a:pt x="745342" y="313396"/>
                    <a:pt x="720337" y="313396"/>
                  </a:cubicBezTo>
                  <a:lnTo>
                    <a:pt x="45275" y="313396"/>
                  </a:lnTo>
                  <a:cubicBezTo>
                    <a:pt x="20270" y="313396"/>
                    <a:pt x="0" y="293126"/>
                    <a:pt x="0" y="268121"/>
                  </a:cubicBezTo>
                  <a:lnTo>
                    <a:pt x="0" y="45275"/>
                  </a:lnTo>
                  <a:cubicBezTo>
                    <a:pt x="0" y="20270"/>
                    <a:pt x="20270" y="0"/>
                    <a:pt x="45275" y="0"/>
                  </a:cubicBezTo>
                  <a:close/>
                </a:path>
              </a:pathLst>
            </a:custGeom>
            <a:solidFill>
              <a:srgbClr val="0E4714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765612" cy="3610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8"/>
                </a:lnSpc>
              </a:pPr>
              <a:r>
                <a:rPr lang="en-US" sz="1863">
                  <a:solidFill>
                    <a:srgbClr val="FFFFFF"/>
                  </a:solidFill>
                  <a:latin typeface="Gotham"/>
                  <a:ea typeface="Gotham"/>
                  <a:cs typeface="Gotham"/>
                  <a:sym typeface="Gotham"/>
                </a:rPr>
                <a:t>Ensemble Sentiment Analysis 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722020" y="4584939"/>
            <a:ext cx="2906934" cy="1189926"/>
            <a:chOff x="0" y="0"/>
            <a:chExt cx="765612" cy="31339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65612" cy="313396"/>
            </a:xfrm>
            <a:custGeom>
              <a:avLst/>
              <a:gdLst/>
              <a:ahLst/>
              <a:cxnLst/>
              <a:rect r="r" b="b" t="t" l="l"/>
              <a:pathLst>
                <a:path h="313396" w="765612">
                  <a:moveTo>
                    <a:pt x="45275" y="0"/>
                  </a:moveTo>
                  <a:lnTo>
                    <a:pt x="720337" y="0"/>
                  </a:lnTo>
                  <a:cubicBezTo>
                    <a:pt x="745342" y="0"/>
                    <a:pt x="765612" y="20270"/>
                    <a:pt x="765612" y="45275"/>
                  </a:cubicBezTo>
                  <a:lnTo>
                    <a:pt x="765612" y="268121"/>
                  </a:lnTo>
                  <a:cubicBezTo>
                    <a:pt x="765612" y="293126"/>
                    <a:pt x="745342" y="313396"/>
                    <a:pt x="720337" y="313396"/>
                  </a:cubicBezTo>
                  <a:lnTo>
                    <a:pt x="45275" y="313396"/>
                  </a:lnTo>
                  <a:cubicBezTo>
                    <a:pt x="20270" y="313396"/>
                    <a:pt x="0" y="293126"/>
                    <a:pt x="0" y="268121"/>
                  </a:cubicBezTo>
                  <a:lnTo>
                    <a:pt x="0" y="45275"/>
                  </a:lnTo>
                  <a:cubicBezTo>
                    <a:pt x="0" y="20270"/>
                    <a:pt x="20270" y="0"/>
                    <a:pt x="45275" y="0"/>
                  </a:cubicBezTo>
                  <a:close/>
                </a:path>
              </a:pathLst>
            </a:custGeom>
            <a:solidFill>
              <a:srgbClr val="0E4714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765612" cy="3610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8"/>
                </a:lnSpc>
              </a:pPr>
              <a:r>
                <a:rPr lang="en-US" sz="1863">
                  <a:solidFill>
                    <a:srgbClr val="FFFFFF"/>
                  </a:solidFill>
                  <a:latin typeface="Gotham"/>
                  <a:ea typeface="Gotham"/>
                  <a:cs typeface="Gotham"/>
                  <a:sym typeface="Gotham"/>
                </a:rPr>
                <a:t>Fundamental Analysis 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722020" y="6349212"/>
            <a:ext cx="2906934" cy="1189926"/>
            <a:chOff x="0" y="0"/>
            <a:chExt cx="765612" cy="31339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65612" cy="313396"/>
            </a:xfrm>
            <a:custGeom>
              <a:avLst/>
              <a:gdLst/>
              <a:ahLst/>
              <a:cxnLst/>
              <a:rect r="r" b="b" t="t" l="l"/>
              <a:pathLst>
                <a:path h="313396" w="765612">
                  <a:moveTo>
                    <a:pt x="45275" y="0"/>
                  </a:moveTo>
                  <a:lnTo>
                    <a:pt x="720337" y="0"/>
                  </a:lnTo>
                  <a:cubicBezTo>
                    <a:pt x="745342" y="0"/>
                    <a:pt x="765612" y="20270"/>
                    <a:pt x="765612" y="45275"/>
                  </a:cubicBezTo>
                  <a:lnTo>
                    <a:pt x="765612" y="268121"/>
                  </a:lnTo>
                  <a:cubicBezTo>
                    <a:pt x="765612" y="293126"/>
                    <a:pt x="745342" y="313396"/>
                    <a:pt x="720337" y="313396"/>
                  </a:cubicBezTo>
                  <a:lnTo>
                    <a:pt x="45275" y="313396"/>
                  </a:lnTo>
                  <a:cubicBezTo>
                    <a:pt x="20270" y="313396"/>
                    <a:pt x="0" y="293126"/>
                    <a:pt x="0" y="268121"/>
                  </a:cubicBezTo>
                  <a:lnTo>
                    <a:pt x="0" y="45275"/>
                  </a:lnTo>
                  <a:cubicBezTo>
                    <a:pt x="0" y="20270"/>
                    <a:pt x="20270" y="0"/>
                    <a:pt x="45275" y="0"/>
                  </a:cubicBezTo>
                  <a:close/>
                </a:path>
              </a:pathLst>
            </a:custGeom>
            <a:solidFill>
              <a:srgbClr val="0E4714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765612" cy="3610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8"/>
                </a:lnSpc>
              </a:pPr>
              <a:r>
                <a:rPr lang="en-US" sz="1863">
                  <a:solidFill>
                    <a:srgbClr val="FFFFFF"/>
                  </a:solidFill>
                  <a:latin typeface="Gotham"/>
                  <a:ea typeface="Gotham"/>
                  <a:cs typeface="Gotham"/>
                  <a:sym typeface="Gotham"/>
                </a:rPr>
                <a:t>Technical Analysis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335590" y="4584939"/>
            <a:ext cx="2906934" cy="1189926"/>
            <a:chOff x="0" y="0"/>
            <a:chExt cx="765612" cy="31339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65612" cy="313396"/>
            </a:xfrm>
            <a:custGeom>
              <a:avLst/>
              <a:gdLst/>
              <a:ahLst/>
              <a:cxnLst/>
              <a:rect r="r" b="b" t="t" l="l"/>
              <a:pathLst>
                <a:path h="313396" w="765612">
                  <a:moveTo>
                    <a:pt x="45275" y="0"/>
                  </a:moveTo>
                  <a:lnTo>
                    <a:pt x="720337" y="0"/>
                  </a:lnTo>
                  <a:cubicBezTo>
                    <a:pt x="745342" y="0"/>
                    <a:pt x="765612" y="20270"/>
                    <a:pt x="765612" y="45275"/>
                  </a:cubicBezTo>
                  <a:lnTo>
                    <a:pt x="765612" y="268121"/>
                  </a:lnTo>
                  <a:cubicBezTo>
                    <a:pt x="765612" y="293126"/>
                    <a:pt x="745342" y="313396"/>
                    <a:pt x="720337" y="313396"/>
                  </a:cubicBezTo>
                  <a:lnTo>
                    <a:pt x="45275" y="313396"/>
                  </a:lnTo>
                  <a:cubicBezTo>
                    <a:pt x="20270" y="313396"/>
                    <a:pt x="0" y="293126"/>
                    <a:pt x="0" y="268121"/>
                  </a:cubicBezTo>
                  <a:lnTo>
                    <a:pt x="0" y="45275"/>
                  </a:lnTo>
                  <a:cubicBezTo>
                    <a:pt x="0" y="20270"/>
                    <a:pt x="20270" y="0"/>
                    <a:pt x="45275" y="0"/>
                  </a:cubicBezTo>
                  <a:close/>
                </a:path>
              </a:pathLst>
            </a:custGeom>
            <a:solidFill>
              <a:srgbClr val="0E4714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765612" cy="3610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8"/>
                </a:lnSpc>
              </a:pPr>
              <a:r>
                <a:rPr lang="en-US" sz="1863">
                  <a:solidFill>
                    <a:srgbClr val="FFFFFF"/>
                  </a:solidFill>
                  <a:latin typeface="Gotham"/>
                  <a:ea typeface="Gotham"/>
                  <a:cs typeface="Gotham"/>
                  <a:sym typeface="Gotham"/>
                </a:rPr>
                <a:t>Decision &amp; Recommendation Engine 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1704850" y="4584939"/>
            <a:ext cx="2906934" cy="1189926"/>
            <a:chOff x="0" y="0"/>
            <a:chExt cx="765612" cy="31339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65612" cy="313396"/>
            </a:xfrm>
            <a:custGeom>
              <a:avLst/>
              <a:gdLst/>
              <a:ahLst/>
              <a:cxnLst/>
              <a:rect r="r" b="b" t="t" l="l"/>
              <a:pathLst>
                <a:path h="313396" w="765612">
                  <a:moveTo>
                    <a:pt x="45275" y="0"/>
                  </a:moveTo>
                  <a:lnTo>
                    <a:pt x="720337" y="0"/>
                  </a:lnTo>
                  <a:cubicBezTo>
                    <a:pt x="745342" y="0"/>
                    <a:pt x="765612" y="20270"/>
                    <a:pt x="765612" y="45275"/>
                  </a:cubicBezTo>
                  <a:lnTo>
                    <a:pt x="765612" y="268121"/>
                  </a:lnTo>
                  <a:cubicBezTo>
                    <a:pt x="765612" y="293126"/>
                    <a:pt x="745342" y="313396"/>
                    <a:pt x="720337" y="313396"/>
                  </a:cubicBezTo>
                  <a:lnTo>
                    <a:pt x="45275" y="313396"/>
                  </a:lnTo>
                  <a:cubicBezTo>
                    <a:pt x="20270" y="313396"/>
                    <a:pt x="0" y="293126"/>
                    <a:pt x="0" y="268121"/>
                  </a:cubicBezTo>
                  <a:lnTo>
                    <a:pt x="0" y="45275"/>
                  </a:lnTo>
                  <a:cubicBezTo>
                    <a:pt x="0" y="20270"/>
                    <a:pt x="20270" y="0"/>
                    <a:pt x="45275" y="0"/>
                  </a:cubicBezTo>
                  <a:close/>
                </a:path>
              </a:pathLst>
            </a:custGeom>
            <a:solidFill>
              <a:srgbClr val="0E4714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765612" cy="3610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8"/>
                </a:lnSpc>
              </a:pPr>
              <a:r>
                <a:rPr lang="en-US" sz="1863">
                  <a:solidFill>
                    <a:srgbClr val="FFFFFF"/>
                  </a:solidFill>
                  <a:latin typeface="Gotham"/>
                  <a:ea typeface="Gotham"/>
                  <a:cs typeface="Gotham"/>
                  <a:sym typeface="Gotham"/>
                </a:rPr>
                <a:t>GPT-based Explanation Module </a:t>
              </a:r>
            </a:p>
          </p:txBody>
        </p:sp>
      </p:grpSp>
      <p:sp>
        <p:nvSpPr>
          <p:cNvPr name="AutoShape 22" id="22"/>
          <p:cNvSpPr/>
          <p:nvPr/>
        </p:nvSpPr>
        <p:spPr>
          <a:xfrm flipV="true">
            <a:off x="3220491" y="3221298"/>
            <a:ext cx="1501528" cy="1958605"/>
          </a:xfrm>
          <a:prstGeom prst="line">
            <a:avLst/>
          </a:prstGeom>
          <a:ln cap="flat" w="38100">
            <a:solidFill>
              <a:srgbClr val="0E4714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23" id="23"/>
          <p:cNvSpPr/>
          <p:nvPr/>
        </p:nvSpPr>
        <p:spPr>
          <a:xfrm flipV="true">
            <a:off x="7628954" y="5774866"/>
            <a:ext cx="2160103" cy="1169310"/>
          </a:xfrm>
          <a:prstGeom prst="line">
            <a:avLst/>
          </a:prstGeom>
          <a:ln cap="flat" w="38100">
            <a:solidFill>
              <a:srgbClr val="0E4714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24" id="24"/>
          <p:cNvSpPr/>
          <p:nvPr/>
        </p:nvSpPr>
        <p:spPr>
          <a:xfrm>
            <a:off x="7628954" y="3221298"/>
            <a:ext cx="2160103" cy="1363641"/>
          </a:xfrm>
          <a:prstGeom prst="line">
            <a:avLst/>
          </a:prstGeom>
          <a:ln cap="flat" w="38100">
            <a:solidFill>
              <a:srgbClr val="0E4714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25" id="25"/>
          <p:cNvSpPr/>
          <p:nvPr/>
        </p:nvSpPr>
        <p:spPr>
          <a:xfrm>
            <a:off x="7628954" y="5179903"/>
            <a:ext cx="706636" cy="0"/>
          </a:xfrm>
          <a:prstGeom prst="line">
            <a:avLst/>
          </a:prstGeom>
          <a:ln cap="flat" w="38100">
            <a:solidFill>
              <a:srgbClr val="0E4714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26" id="26"/>
          <p:cNvSpPr/>
          <p:nvPr/>
        </p:nvSpPr>
        <p:spPr>
          <a:xfrm>
            <a:off x="3220491" y="5179903"/>
            <a:ext cx="1501528" cy="1764273"/>
          </a:xfrm>
          <a:prstGeom prst="line">
            <a:avLst/>
          </a:prstGeom>
          <a:ln cap="flat" w="38100">
            <a:solidFill>
              <a:srgbClr val="0E4714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27" id="27"/>
          <p:cNvSpPr/>
          <p:nvPr/>
        </p:nvSpPr>
        <p:spPr>
          <a:xfrm flipV="true">
            <a:off x="3220491" y="5179903"/>
            <a:ext cx="1501528" cy="0"/>
          </a:xfrm>
          <a:prstGeom prst="line">
            <a:avLst/>
          </a:prstGeom>
          <a:ln cap="flat" w="38100">
            <a:solidFill>
              <a:srgbClr val="0E4714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28" id="28"/>
          <p:cNvSpPr/>
          <p:nvPr/>
        </p:nvSpPr>
        <p:spPr>
          <a:xfrm>
            <a:off x="11242524" y="5179903"/>
            <a:ext cx="462326" cy="0"/>
          </a:xfrm>
          <a:prstGeom prst="line">
            <a:avLst/>
          </a:prstGeom>
          <a:ln cap="flat" w="38100">
            <a:solidFill>
              <a:srgbClr val="0E4714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9" id="29"/>
          <p:cNvGrpSpPr/>
          <p:nvPr/>
        </p:nvGrpSpPr>
        <p:grpSpPr>
          <a:xfrm rot="0">
            <a:off x="15078509" y="4584939"/>
            <a:ext cx="2906934" cy="1189926"/>
            <a:chOff x="0" y="0"/>
            <a:chExt cx="765612" cy="31339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65612" cy="313396"/>
            </a:xfrm>
            <a:custGeom>
              <a:avLst/>
              <a:gdLst/>
              <a:ahLst/>
              <a:cxnLst/>
              <a:rect r="r" b="b" t="t" l="l"/>
              <a:pathLst>
                <a:path h="313396" w="765612">
                  <a:moveTo>
                    <a:pt x="45275" y="0"/>
                  </a:moveTo>
                  <a:lnTo>
                    <a:pt x="720337" y="0"/>
                  </a:lnTo>
                  <a:cubicBezTo>
                    <a:pt x="745342" y="0"/>
                    <a:pt x="765612" y="20270"/>
                    <a:pt x="765612" y="45275"/>
                  </a:cubicBezTo>
                  <a:lnTo>
                    <a:pt x="765612" y="268121"/>
                  </a:lnTo>
                  <a:cubicBezTo>
                    <a:pt x="765612" y="293126"/>
                    <a:pt x="745342" y="313396"/>
                    <a:pt x="720337" y="313396"/>
                  </a:cubicBezTo>
                  <a:lnTo>
                    <a:pt x="45275" y="313396"/>
                  </a:lnTo>
                  <a:cubicBezTo>
                    <a:pt x="20270" y="313396"/>
                    <a:pt x="0" y="293126"/>
                    <a:pt x="0" y="268121"/>
                  </a:cubicBezTo>
                  <a:lnTo>
                    <a:pt x="0" y="45275"/>
                  </a:lnTo>
                  <a:cubicBezTo>
                    <a:pt x="0" y="20270"/>
                    <a:pt x="20270" y="0"/>
                    <a:pt x="45275" y="0"/>
                  </a:cubicBezTo>
                  <a:close/>
                </a:path>
              </a:pathLst>
            </a:custGeom>
            <a:solidFill>
              <a:srgbClr val="0E4714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765612" cy="3610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8"/>
                </a:lnSpc>
              </a:pPr>
              <a:r>
                <a:rPr lang="en-US" sz="1863">
                  <a:solidFill>
                    <a:srgbClr val="FFFFFF"/>
                  </a:solidFill>
                  <a:latin typeface="Gotham"/>
                  <a:ea typeface="Gotham"/>
                  <a:cs typeface="Gotham"/>
                  <a:sym typeface="Gotham"/>
                </a:rPr>
                <a:t>Personalized Investment Advice 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4722020" y="8272563"/>
            <a:ext cx="2906934" cy="1189926"/>
            <a:chOff x="0" y="0"/>
            <a:chExt cx="765612" cy="31339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65612" cy="313396"/>
            </a:xfrm>
            <a:custGeom>
              <a:avLst/>
              <a:gdLst/>
              <a:ahLst/>
              <a:cxnLst/>
              <a:rect r="r" b="b" t="t" l="l"/>
              <a:pathLst>
                <a:path h="313396" w="765612">
                  <a:moveTo>
                    <a:pt x="45275" y="0"/>
                  </a:moveTo>
                  <a:lnTo>
                    <a:pt x="720337" y="0"/>
                  </a:lnTo>
                  <a:cubicBezTo>
                    <a:pt x="745342" y="0"/>
                    <a:pt x="765612" y="20270"/>
                    <a:pt x="765612" y="45275"/>
                  </a:cubicBezTo>
                  <a:lnTo>
                    <a:pt x="765612" y="268121"/>
                  </a:lnTo>
                  <a:cubicBezTo>
                    <a:pt x="765612" y="293126"/>
                    <a:pt x="745342" y="313396"/>
                    <a:pt x="720337" y="313396"/>
                  </a:cubicBezTo>
                  <a:lnTo>
                    <a:pt x="45275" y="313396"/>
                  </a:lnTo>
                  <a:cubicBezTo>
                    <a:pt x="20270" y="313396"/>
                    <a:pt x="0" y="293126"/>
                    <a:pt x="0" y="268121"/>
                  </a:cubicBezTo>
                  <a:lnTo>
                    <a:pt x="0" y="45275"/>
                  </a:lnTo>
                  <a:cubicBezTo>
                    <a:pt x="0" y="20270"/>
                    <a:pt x="20270" y="0"/>
                    <a:pt x="45275" y="0"/>
                  </a:cubicBezTo>
                  <a:close/>
                </a:path>
              </a:pathLst>
            </a:custGeom>
            <a:solidFill>
              <a:srgbClr val="0E4714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765612" cy="3610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8"/>
                </a:lnSpc>
              </a:pPr>
              <a:r>
                <a:rPr lang="en-US" sz="1863">
                  <a:solidFill>
                    <a:srgbClr val="FFFFFF"/>
                  </a:solidFill>
                  <a:latin typeface="Gotham"/>
                  <a:ea typeface="Gotham"/>
                  <a:cs typeface="Gotham"/>
                  <a:sym typeface="Gotham"/>
                </a:rPr>
                <a:t>User Profile &amp; Risk Tolerance </a:t>
              </a:r>
            </a:p>
          </p:txBody>
        </p:sp>
      </p:grpSp>
      <p:sp>
        <p:nvSpPr>
          <p:cNvPr name="AutoShape 35" id="35"/>
          <p:cNvSpPr/>
          <p:nvPr/>
        </p:nvSpPr>
        <p:spPr>
          <a:xfrm flipV="true">
            <a:off x="7628954" y="5774866"/>
            <a:ext cx="2891772" cy="3092661"/>
          </a:xfrm>
          <a:prstGeom prst="line">
            <a:avLst/>
          </a:prstGeom>
          <a:ln cap="flat" w="38100">
            <a:solidFill>
              <a:srgbClr val="0E4714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36" id="36"/>
          <p:cNvSpPr/>
          <p:nvPr/>
        </p:nvSpPr>
        <p:spPr>
          <a:xfrm>
            <a:off x="14590001" y="5198953"/>
            <a:ext cx="542225" cy="19975"/>
          </a:xfrm>
          <a:prstGeom prst="line">
            <a:avLst/>
          </a:prstGeom>
          <a:ln cap="flat" w="38100">
            <a:solidFill>
              <a:srgbClr val="0E4714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37" id="37"/>
          <p:cNvSpPr/>
          <p:nvPr/>
        </p:nvSpPr>
        <p:spPr>
          <a:xfrm flipH="false" flipV="false" rot="0">
            <a:off x="522526" y="557325"/>
            <a:ext cx="1012349" cy="942750"/>
          </a:xfrm>
          <a:custGeom>
            <a:avLst/>
            <a:gdLst/>
            <a:ahLst/>
            <a:cxnLst/>
            <a:rect r="r" b="b" t="t" l="l"/>
            <a:pathLst>
              <a:path h="942750" w="1012349">
                <a:moveTo>
                  <a:pt x="0" y="0"/>
                </a:moveTo>
                <a:lnTo>
                  <a:pt x="1012348" y="0"/>
                </a:lnTo>
                <a:lnTo>
                  <a:pt x="1012348" y="942750"/>
                </a:lnTo>
                <a:lnTo>
                  <a:pt x="0" y="9427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08219" y="-513273"/>
            <a:ext cx="28550447" cy="11313545"/>
          </a:xfrm>
          <a:custGeom>
            <a:avLst/>
            <a:gdLst/>
            <a:ahLst/>
            <a:cxnLst/>
            <a:rect r="r" b="b" t="t" l="l"/>
            <a:pathLst>
              <a:path h="11313545" w="28550447">
                <a:moveTo>
                  <a:pt x="0" y="0"/>
                </a:moveTo>
                <a:lnTo>
                  <a:pt x="28550447" y="0"/>
                </a:lnTo>
                <a:lnTo>
                  <a:pt x="28550447" y="11313546"/>
                </a:lnTo>
                <a:lnTo>
                  <a:pt x="0" y="113135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9969" r="0" b="-5925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847666" y="1095375"/>
            <a:ext cx="11269282" cy="2914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16"/>
              </a:lnSpc>
            </a:pPr>
            <a:r>
              <a:rPr lang="en-US" sz="6685" spc="-167">
                <a:solidFill>
                  <a:srgbClr val="0E4714"/>
                </a:solidFill>
                <a:latin typeface="Times New Roman Condensed"/>
                <a:ea typeface="Times New Roman Condensed"/>
                <a:cs typeface="Times New Roman Condensed"/>
                <a:sym typeface="Times New Roman Condensed"/>
              </a:rPr>
              <a:t>CONCLUSION</a:t>
            </a:r>
          </a:p>
          <a:p>
            <a:pPr algn="l">
              <a:lnSpc>
                <a:spcPts val="7642"/>
              </a:lnSpc>
            </a:pPr>
          </a:p>
          <a:p>
            <a:pPr algn="l">
              <a:lnSpc>
                <a:spcPts val="7642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761229"/>
            <a:ext cx="9663630" cy="6980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41085" indent="-220543" lvl="1">
              <a:lnSpc>
                <a:spcPts val="3820"/>
              </a:lnSpc>
              <a:buFont typeface="Arial"/>
              <a:buChar char="•"/>
            </a:pPr>
            <a:r>
              <a:rPr lang="en-US" sz="2043" spc="-30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We developed an integrated multi-agent AI system addressing key personal finance challenges:</a:t>
            </a:r>
          </a:p>
          <a:p>
            <a:pPr algn="l" marL="441085" indent="-220543" lvl="1">
              <a:lnSpc>
                <a:spcPts val="3820"/>
              </a:lnSpc>
              <a:buFont typeface="Arial"/>
              <a:buChar char="•"/>
            </a:pPr>
            <a:r>
              <a:rPr lang="en-US" sz="2043" spc="-30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Created a synthetic data generator that produces lifelike financial data, enabling model training without privacy issues.</a:t>
            </a:r>
          </a:p>
          <a:p>
            <a:pPr algn="l" marL="441085" indent="-220543" lvl="1">
              <a:lnSpc>
                <a:spcPts val="3820"/>
              </a:lnSpc>
              <a:buFont typeface="Arial"/>
              <a:buChar char="•"/>
            </a:pPr>
            <a:r>
              <a:rPr lang="en-US" sz="2043" spc="-30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Built a budget classification &amp; optimization assistant that can automatically categorize spending and suggest ~</a:t>
            </a:r>
            <a:r>
              <a:rPr lang="en-US" b="true" sz="2043" spc="-30">
                <a:solidFill>
                  <a:srgbClr val="0E4714"/>
                </a:solidFill>
                <a:latin typeface="Gotham Bold"/>
                <a:ea typeface="Gotham Bold"/>
                <a:cs typeface="Gotham Bold"/>
                <a:sym typeface="Gotham Bold"/>
              </a:rPr>
              <a:t>3–5%</a:t>
            </a:r>
            <a:r>
              <a:rPr lang="en-US" sz="2043" spc="-30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 income in potential savings via personalized tips.</a:t>
            </a:r>
          </a:p>
          <a:p>
            <a:pPr algn="l" marL="441085" indent="-220543" lvl="1">
              <a:lnSpc>
                <a:spcPts val="3820"/>
              </a:lnSpc>
              <a:buFont typeface="Arial"/>
              <a:buChar char="•"/>
            </a:pPr>
            <a:r>
              <a:rPr lang="en-US" sz="2043" spc="-30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Implemented an LLM-driven investment advisor that synthesizes sentiment, fundamentals, and technical analysis into actionable stock recommendations and portfolio allocations (achieving notable accuracy, e.g. sentiment classification accuracy up to ~68% F1).</a:t>
            </a:r>
          </a:p>
          <a:p>
            <a:pPr algn="l" marL="441085" indent="-220543" lvl="1">
              <a:lnSpc>
                <a:spcPts val="3820"/>
              </a:lnSpc>
              <a:buFont typeface="Arial"/>
              <a:buChar char="•"/>
            </a:pPr>
            <a:r>
              <a:rPr lang="en-US" sz="2043" spc="-30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Overall, the system supports users in budgeting better and investing smarter with AI-driven insights and explanations.</a:t>
            </a:r>
          </a:p>
          <a:p>
            <a:pPr algn="l">
              <a:lnSpc>
                <a:spcPts val="3820"/>
              </a:lnSpc>
            </a:pPr>
          </a:p>
          <a:p>
            <a:pPr algn="l">
              <a:lnSpc>
                <a:spcPts val="2535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522526" y="906516"/>
            <a:ext cx="1012349" cy="942750"/>
          </a:xfrm>
          <a:custGeom>
            <a:avLst/>
            <a:gdLst/>
            <a:ahLst/>
            <a:cxnLst/>
            <a:rect r="r" b="b" t="t" l="l"/>
            <a:pathLst>
              <a:path h="942750" w="1012349">
                <a:moveTo>
                  <a:pt x="0" y="0"/>
                </a:moveTo>
                <a:lnTo>
                  <a:pt x="1012348" y="0"/>
                </a:lnTo>
                <a:lnTo>
                  <a:pt x="1012348" y="942750"/>
                </a:lnTo>
                <a:lnTo>
                  <a:pt x="0" y="9427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80822" y="1917455"/>
            <a:ext cx="17295206" cy="8062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32"/>
              </a:lnSpc>
            </a:pPr>
          </a:p>
          <a:p>
            <a:pPr algn="l">
              <a:lnSpc>
                <a:spcPts val="3732"/>
              </a:lnSpc>
            </a:pPr>
          </a:p>
          <a:p>
            <a:pPr algn="l" marL="537282" indent="-268641" lvl="1">
              <a:lnSpc>
                <a:spcPts val="3732"/>
              </a:lnSpc>
              <a:buFont typeface="Arial"/>
              <a:buChar char="•"/>
            </a:pPr>
            <a:r>
              <a:rPr lang="en-US" b="true" sz="2488" spc="-37">
                <a:solidFill>
                  <a:srgbClr val="0E4714"/>
                </a:solidFill>
                <a:latin typeface="Gotham Bold"/>
                <a:ea typeface="Gotham Bold"/>
                <a:cs typeface="Gotham Bold"/>
                <a:sym typeface="Gotham Bold"/>
              </a:rPr>
              <a:t>Enhance Accuracy:</a:t>
            </a:r>
            <a:r>
              <a:rPr lang="en-US" sz="2488" spc="-37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 Fine-tune classification and advisory models (e.g., train the LLM on finance-specific data) to improve performance and reliability. Reduce need for manual review of AI suggestions.</a:t>
            </a:r>
          </a:p>
          <a:p>
            <a:pPr algn="l" marL="537282" indent="-268641" lvl="1">
              <a:lnSpc>
                <a:spcPts val="3732"/>
              </a:lnSpc>
              <a:buFont typeface="Arial"/>
              <a:buChar char="•"/>
            </a:pPr>
            <a:r>
              <a:rPr lang="en-US" b="true" sz="2488" spc="-37">
                <a:solidFill>
                  <a:srgbClr val="0E4714"/>
                </a:solidFill>
                <a:latin typeface="Gotham Bold"/>
                <a:ea typeface="Gotham Bold"/>
                <a:cs typeface="Gotham Bold"/>
                <a:sym typeface="Gotham Bold"/>
              </a:rPr>
              <a:t>User Testing:</a:t>
            </a:r>
            <a:r>
              <a:rPr lang="en-US" sz="2488" spc="-37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 Deploy the system to real users or larger simulations to gather feedback. Use this to refine the advice style and usefulness.</a:t>
            </a:r>
          </a:p>
          <a:p>
            <a:pPr algn="l" marL="537282" indent="-268641" lvl="1">
              <a:lnSpc>
                <a:spcPts val="3732"/>
              </a:lnSpc>
              <a:buFont typeface="Arial"/>
              <a:buChar char="•"/>
            </a:pPr>
            <a:r>
              <a:rPr lang="en-US" b="true" sz="2488" spc="-37">
                <a:solidFill>
                  <a:srgbClr val="0E4714"/>
                </a:solidFill>
                <a:latin typeface="Gotham Bold"/>
                <a:ea typeface="Gotham Bold"/>
                <a:cs typeface="Gotham Bold"/>
                <a:sym typeface="Gotham Bold"/>
              </a:rPr>
              <a:t>Expand Capabilities:</a:t>
            </a:r>
            <a:r>
              <a:rPr lang="en-US" sz="2488" spc="-37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 Include more financial instruments (like bonds, ETFs), integrate real-time data feeds for live advice, and handle more complex scenarios (e.g. tax implications, dynamic goals).</a:t>
            </a:r>
          </a:p>
          <a:p>
            <a:pPr algn="l" marL="537282" indent="-268641" lvl="1">
              <a:lnSpc>
                <a:spcPts val="3732"/>
              </a:lnSpc>
              <a:buFont typeface="Arial"/>
              <a:buChar char="•"/>
            </a:pPr>
            <a:r>
              <a:rPr lang="en-US" b="true" sz="2488" spc="-37">
                <a:solidFill>
                  <a:srgbClr val="0E4714"/>
                </a:solidFill>
                <a:latin typeface="Gotham Bold"/>
                <a:ea typeface="Gotham Bold"/>
                <a:cs typeface="Gotham Bold"/>
                <a:sym typeface="Gotham Bold"/>
              </a:rPr>
              <a:t>Automation &amp; Safety:</a:t>
            </a:r>
            <a:r>
              <a:rPr lang="en-US" sz="2488" spc="-37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 Add automated checks on LLM outputs to prevent any incorrect or harmful financial advice. Ensure the recommendations remain sound and trustworthy.</a:t>
            </a:r>
          </a:p>
          <a:p>
            <a:pPr algn="l">
              <a:lnSpc>
                <a:spcPts val="3732"/>
              </a:lnSpc>
            </a:pPr>
          </a:p>
          <a:p>
            <a:pPr algn="l" marL="537282" indent="-268641" lvl="1">
              <a:lnSpc>
                <a:spcPts val="3732"/>
              </a:lnSpc>
              <a:buFont typeface="Arial"/>
              <a:buChar char="•"/>
            </a:pPr>
            <a:r>
              <a:rPr lang="en-US" b="true" sz="2488" spc="-37">
                <a:solidFill>
                  <a:srgbClr val="0E4714"/>
                </a:solidFill>
                <a:latin typeface="Gotham Bold"/>
                <a:ea typeface="Gotham Bold"/>
                <a:cs typeface="Gotham Bold"/>
                <a:sym typeface="Gotham Bold"/>
              </a:rPr>
              <a:t>Final Thought:</a:t>
            </a:r>
            <a:r>
              <a:rPr lang="en-US" sz="2488" spc="-37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 This project demonstrates the potential of combining multiple AI agents in personal finance. By uniting data generation, budgeting, and investment analysis, such systems can </a:t>
            </a:r>
            <a:r>
              <a:rPr lang="en-US" b="true" sz="2488" spc="-37">
                <a:solidFill>
                  <a:srgbClr val="0E4714"/>
                </a:solidFill>
                <a:latin typeface="Gotham Bold"/>
                <a:ea typeface="Gotham Bold"/>
                <a:cs typeface="Gotham Bold"/>
                <a:sym typeface="Gotham Bold"/>
              </a:rPr>
              <a:t>empower individuals</a:t>
            </a:r>
            <a:r>
              <a:rPr lang="en-US" sz="2488" spc="-37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 to make informed financial decisions with confidence.</a:t>
            </a:r>
          </a:p>
          <a:p>
            <a:pPr algn="l">
              <a:lnSpc>
                <a:spcPts val="3732"/>
              </a:lnSpc>
            </a:pPr>
          </a:p>
          <a:p>
            <a:pPr algn="l">
              <a:lnSpc>
                <a:spcPts val="3732"/>
              </a:lnSpc>
            </a:pPr>
          </a:p>
          <a:p>
            <a:pPr algn="l">
              <a:lnSpc>
                <a:spcPts val="4932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1716612" y="844991"/>
            <a:ext cx="10220627" cy="1601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67"/>
              </a:lnSpc>
            </a:pPr>
            <a:r>
              <a:rPr lang="en-US" sz="6399" spc="-159">
                <a:solidFill>
                  <a:srgbClr val="0E4714"/>
                </a:solidFill>
                <a:latin typeface="Times New Roman Condensed"/>
                <a:ea typeface="Times New Roman Condensed"/>
                <a:cs typeface="Times New Roman Condensed"/>
                <a:sym typeface="Times New Roman Condensed"/>
              </a:rPr>
              <a:t>FUTURE WORK</a:t>
            </a:r>
          </a:p>
          <a:p>
            <a:pPr algn="ctr">
              <a:lnSpc>
                <a:spcPts val="5567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522526" y="665003"/>
            <a:ext cx="1012349" cy="942750"/>
          </a:xfrm>
          <a:custGeom>
            <a:avLst/>
            <a:gdLst/>
            <a:ahLst/>
            <a:cxnLst/>
            <a:rect r="r" b="b" t="t" l="l"/>
            <a:pathLst>
              <a:path h="942750" w="1012349">
                <a:moveTo>
                  <a:pt x="0" y="0"/>
                </a:moveTo>
                <a:lnTo>
                  <a:pt x="1012348" y="0"/>
                </a:lnTo>
                <a:lnTo>
                  <a:pt x="1012348" y="942750"/>
                </a:lnTo>
                <a:lnTo>
                  <a:pt x="0" y="9427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801685" y="-437698"/>
            <a:ext cx="28550447" cy="11313545"/>
          </a:xfrm>
          <a:custGeom>
            <a:avLst/>
            <a:gdLst/>
            <a:ahLst/>
            <a:cxnLst/>
            <a:rect r="r" b="b" t="t" l="l"/>
            <a:pathLst>
              <a:path h="11313545" w="28550447">
                <a:moveTo>
                  <a:pt x="0" y="0"/>
                </a:moveTo>
                <a:lnTo>
                  <a:pt x="28550448" y="0"/>
                </a:lnTo>
                <a:lnTo>
                  <a:pt x="28550448" y="11313545"/>
                </a:lnTo>
                <a:lnTo>
                  <a:pt x="0" y="113135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9969" r="0" b="-5925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3685221"/>
            <a:ext cx="14690693" cy="2594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02"/>
              </a:lnSpc>
            </a:pPr>
            <a:r>
              <a:rPr lang="en-US" sz="16002" i="true" spc="-304">
                <a:solidFill>
                  <a:srgbClr val="0E4714"/>
                </a:solidFill>
                <a:latin typeface="Times New Roman Condensed Italics"/>
                <a:ea typeface="Times New Roman Condensed Italics"/>
                <a:cs typeface="Times New Roman Condensed Italics"/>
                <a:sym typeface="Times New Roman Condensed Italics"/>
              </a:rPr>
              <a:t>Thank you.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398299" y="2780899"/>
            <a:ext cx="3759405" cy="566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42"/>
              </a:lnSpc>
            </a:pPr>
            <a:r>
              <a:rPr lang="en-US" sz="3785" b="true">
                <a:solidFill>
                  <a:srgbClr val="0E4714"/>
                </a:solidFill>
                <a:latin typeface="Gotham Bold"/>
                <a:ea typeface="Gotham Bold"/>
                <a:cs typeface="Gotham Bold"/>
                <a:sym typeface="Gotham Bold"/>
              </a:rPr>
              <a:t>Credge AI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016407" y="2140619"/>
            <a:ext cx="1296035" cy="1206933"/>
          </a:xfrm>
          <a:custGeom>
            <a:avLst/>
            <a:gdLst/>
            <a:ahLst/>
            <a:cxnLst/>
            <a:rect r="r" b="b" t="t" l="l"/>
            <a:pathLst>
              <a:path h="1206933" w="1296035">
                <a:moveTo>
                  <a:pt x="0" y="0"/>
                </a:moveTo>
                <a:lnTo>
                  <a:pt x="1296035" y="0"/>
                </a:lnTo>
                <a:lnTo>
                  <a:pt x="1296035" y="1206932"/>
                </a:lnTo>
                <a:lnTo>
                  <a:pt x="0" y="12069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DAGl-yWEhGg</dc:identifier>
  <dcterms:modified xsi:type="dcterms:W3CDTF">2011-08-01T06:04:30Z</dcterms:modified>
  <cp:revision>1</cp:revision>
  <dc:title>Green Minimalist Professional Tech Start-Up Pitch Deck Presentation</dc:title>
</cp:coreProperties>
</file>